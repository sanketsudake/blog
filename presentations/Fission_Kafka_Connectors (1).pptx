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Montserrat SemiBold"/>
      <p:regular r:id="rId40"/>
      <p:bold r:id="rId41"/>
      <p:italic r:id="rId42"/>
      <p:boldItalic r:id="rId43"/>
    </p:embeddedFont>
    <p:embeddedFont>
      <p:font typeface="Roboto"/>
      <p:regular r:id="rId44"/>
      <p:bold r:id="rId45"/>
      <p:italic r:id="rId46"/>
      <p:boldItalic r:id="rId47"/>
    </p:embeddedFont>
    <p:embeddedFont>
      <p:font typeface="Montserrat"/>
      <p:regular r:id="rId48"/>
      <p:bold r:id="rId49"/>
      <p:italic r:id="rId50"/>
      <p:boldItalic r:id="rId51"/>
    </p:embeddedFont>
    <p:embeddedFont>
      <p:font typeface="Montserrat Medium"/>
      <p:regular r:id="rId52"/>
      <p:bold r:id="rId53"/>
      <p:italic r:id="rId54"/>
      <p:boldItalic r:id="rId55"/>
    </p:embeddedFont>
    <p:embeddedFont>
      <p:font typeface="Source Code Pro"/>
      <p:regular r:id="rId56"/>
      <p:bold r:id="rId57"/>
      <p:italic r:id="rId58"/>
      <p:boldItalic r:id="rId59"/>
    </p:embeddedFont>
    <p:embeddedFont>
      <p:font typeface="Lato Black"/>
      <p:bold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2" roundtripDataSignature="AMtx7mjUaZM6C2E66eQlMg+gG48Xi61J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78F3C7-45EE-43AC-994A-97199C10CD50}">
  <a:tblStyle styleId="{D278F3C7-45EE-43AC-994A-97199C10CD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regular.fntdata"/><Relationship Id="rId42" Type="http://schemas.openxmlformats.org/officeDocument/2006/relationships/font" Target="fonts/MontserratSemiBold-italic.fntdata"/><Relationship Id="rId41" Type="http://schemas.openxmlformats.org/officeDocument/2006/relationships/font" Target="fonts/MontserratSemiBold-bold.fntdata"/><Relationship Id="rId44" Type="http://schemas.openxmlformats.org/officeDocument/2006/relationships/font" Target="fonts/Roboto-regular.fntdata"/><Relationship Id="rId43" Type="http://schemas.openxmlformats.org/officeDocument/2006/relationships/font" Target="fonts/MontserratSemiBold-boldItalic.fntdata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customschemas.google.com/relationships/presentationmetadata" Target="metadata"/><Relationship Id="rId61" Type="http://schemas.openxmlformats.org/officeDocument/2006/relationships/font" Target="fonts/LatoBlack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atoBlack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boldItalic.fntdata"/><Relationship Id="rId50" Type="http://schemas.openxmlformats.org/officeDocument/2006/relationships/font" Target="fonts/Montserrat-italic.fntdata"/><Relationship Id="rId53" Type="http://schemas.openxmlformats.org/officeDocument/2006/relationships/font" Target="fonts/MontserratMedium-bold.fntdata"/><Relationship Id="rId52" Type="http://schemas.openxmlformats.org/officeDocument/2006/relationships/font" Target="fonts/MontserratMedium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Medium-boldItalic.fntdata"/><Relationship Id="rId10" Type="http://schemas.openxmlformats.org/officeDocument/2006/relationships/slide" Target="slides/slide4.xml"/><Relationship Id="rId54" Type="http://schemas.openxmlformats.org/officeDocument/2006/relationships/font" Target="fonts/MontserratMedium-italic.fntdata"/><Relationship Id="rId13" Type="http://schemas.openxmlformats.org/officeDocument/2006/relationships/slide" Target="slides/slide7.xml"/><Relationship Id="rId57" Type="http://schemas.openxmlformats.org/officeDocument/2006/relationships/font" Target="fonts/SourceCodePro-bold.fntdata"/><Relationship Id="rId12" Type="http://schemas.openxmlformats.org/officeDocument/2006/relationships/slide" Target="slides/slide6.xml"/><Relationship Id="rId56" Type="http://schemas.openxmlformats.org/officeDocument/2006/relationships/font" Target="fonts/SourceCodePro-regular.fntdata"/><Relationship Id="rId15" Type="http://schemas.openxmlformats.org/officeDocument/2006/relationships/slide" Target="slides/slide9.xml"/><Relationship Id="rId59" Type="http://schemas.openxmlformats.org/officeDocument/2006/relationships/font" Target="fonts/SourceCodePro-boldItalic.fntdata"/><Relationship Id="rId14" Type="http://schemas.openxmlformats.org/officeDocument/2006/relationships/slide" Target="slides/slide8.xml"/><Relationship Id="rId58" Type="http://schemas.openxmlformats.org/officeDocument/2006/relationships/font" Target="fonts/SourceCodePr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c5ecf8b8a_1_0:notes"/>
          <p:cNvSpPr/>
          <p:nvPr>
            <p:ph idx="2" type="sldImg"/>
          </p:nvPr>
        </p:nvSpPr>
        <p:spPr>
          <a:xfrm>
            <a:off x="457200" y="571500"/>
            <a:ext cx="3657600" cy="154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bc5ecf8b8a_1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56" name="Google Shape;56;g3bc5ecf8b8a_1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457200" y="571500"/>
            <a:ext cx="3657600" cy="154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Abstract: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Fission is an open-source, serverless platform built on top of Kubernetes. It allows developers to create and deploy functions quickly without worrying about the underlying infrastructure.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Fission has integration with </a:t>
            </a:r>
            <a:r>
              <a:rPr lang="en"/>
              <a:t>Messaging</a:t>
            </a:r>
            <a:r>
              <a:rPr lang="en"/>
              <a:t> queues like Kafka, which enables event-driven architectures and real-time data processing.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Fission user also use Kafka as an event source to trigger functions based on messages published to Kafka topics and build complex workflows.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talk will cover the following topics: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Fission Overview and Concepts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</a:t>
            </a:r>
            <a:r>
              <a:rPr lang="en"/>
              <a:t>Function</a:t>
            </a:r>
            <a:r>
              <a:rPr lang="en"/>
              <a:t> Execution Strategies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Deep dive into Kafka integration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 Quick demo of Fission with Kafka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- Real-world use cases and examples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- </a:t>
            </a:r>
            <a:r>
              <a:rPr lang="en" sz="1400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Q&amp;A and Wrap up</a:t>
            </a:r>
            <a:endParaRPr sz="1400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Fission has almost 8.8k Github stars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 have keda-connectors repo which contains integration with different messages queue providers like Kafka.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Environment, </a:t>
            </a:r>
            <a:r>
              <a:rPr lang="en"/>
              <a:t>fission</a:t>
            </a:r>
            <a:r>
              <a:rPr lang="en"/>
              <a:t> also provides environments for popular </a:t>
            </a:r>
            <a:r>
              <a:rPr lang="en"/>
              <a:t>languages</a:t>
            </a:r>
            <a:r>
              <a:rPr lang="en"/>
              <a:t> 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Environment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Base OS &amp; </a:t>
            </a:r>
            <a:r>
              <a:rPr lang="en"/>
              <a:t>Runtime</a:t>
            </a:r>
            <a:r>
              <a:rPr lang="en"/>
              <a:t> Enviroment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Dependencies</a:t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1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2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p1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2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c5ecf8b8a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bc5ecf8b8a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g3bc5ecf8b8a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c5ecf8b8a_0_7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bc5ecf8b8a_0_7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g3bc5ecf8b8a_0_7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bc53ef5382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bc53ef5382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g3bc53ef5382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c5ecf8b8a_0_9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g3bc5ecf8b8a_0_9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9" name="Google Shape;579;g3bc5ecf8b8a_0_9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2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2" name="Google Shape;602;p2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c5ecf8b8a_0_14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bc5ecf8b8a_0_14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7" name="Google Shape;627;g3bc5ecf8b8a_0_14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2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2" name="Google Shape;652;p2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2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p2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2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9" name="Google Shape;689;p2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2" name="Google Shape;712;p2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3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2" name="Google Shape;722;p3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1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4" name="Google Shape;744;p1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p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0" name="Google Shape;790;p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p1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3" name="Google Shape;843;p1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p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4" name="Google Shape;894;p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1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2" name="Google Shape;942;p1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1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3" name="Google Shape;993;p1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2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8" name="Google Shape;1018;p2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2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p2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p2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3"/>
          <p:cNvSpPr txBox="1"/>
          <p:nvPr>
            <p:ph idx="12" type="sldNum"/>
          </p:nvPr>
        </p:nvSpPr>
        <p:spPr>
          <a:xfrm>
            <a:off x="4366260" y="2417445"/>
            <a:ext cx="40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8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15" Type="http://schemas.openxmlformats.org/officeDocument/2006/relationships/hyperlink" Target="https://www.linkedin.com/in/sanketsudake" TargetMode="External"/><Relationship Id="rId14" Type="http://schemas.openxmlformats.org/officeDocument/2006/relationships/image" Target="../media/image11.png"/><Relationship Id="rId17" Type="http://schemas.openxmlformats.org/officeDocument/2006/relationships/image" Target="../media/image5.png"/><Relationship Id="rId16" Type="http://schemas.openxmlformats.org/officeDocument/2006/relationships/hyperlink" Target="http://ssudake.com" TargetMode="External"/><Relationship Id="rId5" Type="http://schemas.openxmlformats.org/officeDocument/2006/relationships/image" Target="../media/image1.png"/><Relationship Id="rId19" Type="http://schemas.openxmlformats.org/officeDocument/2006/relationships/image" Target="../media/image21.png"/><Relationship Id="rId6" Type="http://schemas.openxmlformats.org/officeDocument/2006/relationships/image" Target="../media/image2.png"/><Relationship Id="rId18" Type="http://schemas.openxmlformats.org/officeDocument/2006/relationships/image" Target="../media/image10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1.png"/><Relationship Id="rId13" Type="http://schemas.openxmlformats.org/officeDocument/2006/relationships/image" Target="../media/image12.png"/><Relationship Id="rId12" Type="http://schemas.openxmlformats.org/officeDocument/2006/relationships/hyperlink" Target="https://twitter.com/fissionio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hyperlink" Target="https://github.com/fission/fission" TargetMode="External"/><Relationship Id="rId9" Type="http://schemas.openxmlformats.org/officeDocument/2006/relationships/hyperlink" Target="https://twitter.com/fissionio" TargetMode="External"/><Relationship Id="rId15" Type="http://schemas.openxmlformats.org/officeDocument/2006/relationships/image" Target="../media/image8.png"/><Relationship Id="rId14" Type="http://schemas.openxmlformats.org/officeDocument/2006/relationships/hyperlink" Target="https://github.com/fission/fission" TargetMode="External"/><Relationship Id="rId17" Type="http://schemas.openxmlformats.org/officeDocument/2006/relationships/image" Target="../media/image33.png"/><Relationship Id="rId16" Type="http://schemas.openxmlformats.org/officeDocument/2006/relationships/hyperlink" Target="https://www.youtube.com/watch?v=v4U15Xt05hQ&amp;t=830s" TargetMode="External"/><Relationship Id="rId5" Type="http://schemas.openxmlformats.org/officeDocument/2006/relationships/image" Target="../media/image14.png"/><Relationship Id="rId6" Type="http://schemas.openxmlformats.org/officeDocument/2006/relationships/hyperlink" Target="https://docs.fission.io/docs/" TargetMode="External"/><Relationship Id="rId18" Type="http://schemas.openxmlformats.org/officeDocument/2006/relationships/image" Target="../media/image16.png"/><Relationship Id="rId7" Type="http://schemas.openxmlformats.org/officeDocument/2006/relationships/hyperlink" Target="https://fission.io/blog" TargetMode="External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fission/fission" TargetMode="External"/><Relationship Id="rId10" Type="http://schemas.openxmlformats.org/officeDocument/2006/relationships/image" Target="../media/image12.png"/><Relationship Id="rId13" Type="http://schemas.openxmlformats.org/officeDocument/2006/relationships/hyperlink" Target="https://www.youtube.com/watch?v=v4U15Xt05hQ&amp;t=830s" TargetMode="External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9.png"/><Relationship Id="rId9" Type="http://schemas.openxmlformats.org/officeDocument/2006/relationships/hyperlink" Target="https://twitter.com/fissionio" TargetMode="External"/><Relationship Id="rId14" Type="http://schemas.openxmlformats.org/officeDocument/2006/relationships/image" Target="../media/image33.png"/><Relationship Id="rId5" Type="http://schemas.openxmlformats.org/officeDocument/2006/relationships/image" Target="../media/image20.png"/><Relationship Id="rId6" Type="http://schemas.openxmlformats.org/officeDocument/2006/relationships/hyperlink" Target="https://twitter.com/fissionio" TargetMode="Externa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9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1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9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1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hyperlink" Target="https://github.com/fission/fission" TargetMode="External"/><Relationship Id="rId13" Type="http://schemas.openxmlformats.org/officeDocument/2006/relationships/image" Target="../media/image33.png"/><Relationship Id="rId12" Type="http://schemas.openxmlformats.org/officeDocument/2006/relationships/hyperlink" Target="https://www.youtube.com/watch?v=v4U15Xt05hQ&amp;t=830s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hyperlink" Target="https://raw.githubusercontent.com/fission/fission/master/examples/nodejs/hello.js" TargetMode="External"/><Relationship Id="rId9" Type="http://schemas.openxmlformats.org/officeDocument/2006/relationships/image" Target="../media/image12.png"/><Relationship Id="rId5" Type="http://schemas.openxmlformats.org/officeDocument/2006/relationships/hyperlink" Target="https://twitter.com/fissionio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hyperlink" Target="https://twitter.com/fissionio" TargetMode="Externa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9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1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22" Type="http://schemas.openxmlformats.org/officeDocument/2006/relationships/image" Target="../media/image48.png"/><Relationship Id="rId21" Type="http://schemas.openxmlformats.org/officeDocument/2006/relationships/image" Target="../media/image42.png"/><Relationship Id="rId24" Type="http://schemas.openxmlformats.org/officeDocument/2006/relationships/image" Target="../media/image37.png"/><Relationship Id="rId23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26" Type="http://schemas.openxmlformats.org/officeDocument/2006/relationships/image" Target="../media/image51.png"/><Relationship Id="rId25" Type="http://schemas.openxmlformats.org/officeDocument/2006/relationships/image" Target="../media/image49.png"/><Relationship Id="rId28" Type="http://schemas.openxmlformats.org/officeDocument/2006/relationships/hyperlink" Target="https://github.com/kedacore/keda" TargetMode="External"/><Relationship Id="rId27" Type="http://schemas.openxmlformats.org/officeDocument/2006/relationships/hyperlink" Target="https://github.com/fission/fission-kafka-sample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46.png"/><Relationship Id="rId12" Type="http://schemas.openxmlformats.org/officeDocument/2006/relationships/image" Target="../media/image33.png"/><Relationship Id="rId15" Type="http://schemas.openxmlformats.org/officeDocument/2006/relationships/image" Target="../media/image27.png"/><Relationship Id="rId14" Type="http://schemas.openxmlformats.org/officeDocument/2006/relationships/image" Target="../media/image25.png"/><Relationship Id="rId17" Type="http://schemas.openxmlformats.org/officeDocument/2006/relationships/image" Target="../media/image32.png"/><Relationship Id="rId16" Type="http://schemas.openxmlformats.org/officeDocument/2006/relationships/image" Target="../media/image45.png"/><Relationship Id="rId19" Type="http://schemas.openxmlformats.org/officeDocument/2006/relationships/image" Target="../media/image31.png"/><Relationship Id="rId18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35.png"/><Relationship Id="rId12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36.png"/><Relationship Id="rId12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hyperlink" Target="https://github.com/fission/fission-kafka-sample" TargetMode="External"/><Relationship Id="rId9" Type="http://schemas.openxmlformats.org/officeDocument/2006/relationships/image" Target="../media/image12.png"/><Relationship Id="rId5" Type="http://schemas.openxmlformats.org/officeDocument/2006/relationships/hyperlink" Target="https://twitter.com/fissionio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hyperlink" Target="https://twitter.com/fissionio" TargetMode="External"/><Relationship Id="rId11" Type="http://schemas.openxmlformats.org/officeDocument/2006/relationships/image" Target="../media/image8.png"/><Relationship Id="rId10" Type="http://schemas.openxmlformats.org/officeDocument/2006/relationships/hyperlink" Target="https://github.com/fission/fission" TargetMode="External"/><Relationship Id="rId13" Type="http://schemas.openxmlformats.org/officeDocument/2006/relationships/image" Target="../media/image33.png"/><Relationship Id="rId12" Type="http://schemas.openxmlformats.org/officeDocument/2006/relationships/hyperlink" Target="https://www.youtube.com/watch?v=v4U15Xt05hQ&amp;t=830s" TargetMode="External"/><Relationship Id="rId1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2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50.png"/><Relationship Id="rId9" Type="http://schemas.openxmlformats.org/officeDocument/2006/relationships/image" Target="../media/image2.png"/><Relationship Id="rId5" Type="http://schemas.openxmlformats.org/officeDocument/2006/relationships/hyperlink" Target="https://github.com/fission/fission-kafka-sample" TargetMode="External"/><Relationship Id="rId6" Type="http://schemas.openxmlformats.org/officeDocument/2006/relationships/hyperlink" Target="https://github.com/fission/fission-kafka-sample" TargetMode="External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.png"/><Relationship Id="rId11" Type="http://schemas.openxmlformats.org/officeDocument/2006/relationships/image" Target="../media/image12.png"/><Relationship Id="rId10" Type="http://schemas.openxmlformats.org/officeDocument/2006/relationships/hyperlink" Target="https://twitter.com/fissionio" TargetMode="External"/><Relationship Id="rId13" Type="http://schemas.openxmlformats.org/officeDocument/2006/relationships/image" Target="../media/image8.png"/><Relationship Id="rId12" Type="http://schemas.openxmlformats.org/officeDocument/2006/relationships/hyperlink" Target="https://github.com/fission/fission" TargetMode="External"/><Relationship Id="rId15" Type="http://schemas.openxmlformats.org/officeDocument/2006/relationships/image" Target="../media/image33.png"/><Relationship Id="rId14" Type="http://schemas.openxmlformats.org/officeDocument/2006/relationships/hyperlink" Target="https://www.youtube.com/watch?v=v4U15Xt05hQ&amp;t=830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image" Target="../media/image50.png"/><Relationship Id="rId9" Type="http://schemas.openxmlformats.org/officeDocument/2006/relationships/image" Target="../media/image2.png"/><Relationship Id="rId5" Type="http://schemas.openxmlformats.org/officeDocument/2006/relationships/hyperlink" Target="https://github.com/fission/fission-kafka-sample" TargetMode="External"/><Relationship Id="rId6" Type="http://schemas.openxmlformats.org/officeDocument/2006/relationships/hyperlink" Target="https://github.com/fission/fission-kafka-sample" TargetMode="External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.png"/><Relationship Id="rId11" Type="http://schemas.openxmlformats.org/officeDocument/2006/relationships/image" Target="../media/image12.png"/><Relationship Id="rId10" Type="http://schemas.openxmlformats.org/officeDocument/2006/relationships/hyperlink" Target="https://twitter.com/fissionio" TargetMode="External"/><Relationship Id="rId13" Type="http://schemas.openxmlformats.org/officeDocument/2006/relationships/image" Target="../media/image8.png"/><Relationship Id="rId12" Type="http://schemas.openxmlformats.org/officeDocument/2006/relationships/hyperlink" Target="https://github.com/fission/fission" TargetMode="External"/><Relationship Id="rId15" Type="http://schemas.openxmlformats.org/officeDocument/2006/relationships/image" Target="../media/image33.png"/><Relationship Id="rId14" Type="http://schemas.openxmlformats.org/officeDocument/2006/relationships/hyperlink" Target="https://www.youtube.com/watch?v=v4U15Xt05hQ&amp;t=830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Relationship Id="rId4" Type="http://schemas.openxmlformats.org/officeDocument/2006/relationships/hyperlink" Target="https://github.com/fission/fission-kafka-sample" TargetMode="External"/><Relationship Id="rId9" Type="http://schemas.openxmlformats.org/officeDocument/2006/relationships/hyperlink" Target="https://twitter.com/fissionio" TargetMode="External"/><Relationship Id="rId5" Type="http://schemas.openxmlformats.org/officeDocument/2006/relationships/hyperlink" Target="https://github.com/fission/action" TargetMode="External"/><Relationship Id="rId6" Type="http://schemas.openxmlformats.org/officeDocument/2006/relationships/hyperlink" Target="https://twitter.com/fissionio" TargetMode="Externa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11" Type="http://schemas.openxmlformats.org/officeDocument/2006/relationships/hyperlink" Target="https://github.com/fission/fission" TargetMode="External"/><Relationship Id="rId10" Type="http://schemas.openxmlformats.org/officeDocument/2006/relationships/image" Target="../media/image12.png"/><Relationship Id="rId13" Type="http://schemas.openxmlformats.org/officeDocument/2006/relationships/hyperlink" Target="https://www.youtube.com/watch?v=v4U15Xt05hQ&amp;t=830s" TargetMode="External"/><Relationship Id="rId12" Type="http://schemas.openxmlformats.org/officeDocument/2006/relationships/image" Target="../media/image8.png"/><Relationship Id="rId15" Type="http://schemas.openxmlformats.org/officeDocument/2006/relationships/image" Target="../media/image43.png"/><Relationship Id="rId14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jpg"/><Relationship Id="rId4" Type="http://schemas.openxmlformats.org/officeDocument/2006/relationships/hyperlink" Target="https://fission.io/docs/contributing/" TargetMode="External"/><Relationship Id="rId9" Type="http://schemas.openxmlformats.org/officeDocument/2006/relationships/image" Target="../media/image12.png"/><Relationship Id="rId5" Type="http://schemas.openxmlformats.org/officeDocument/2006/relationships/hyperlink" Target="https://twitter.com/fissionio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hyperlink" Target="https://twitter.com/fissionio" TargetMode="External"/><Relationship Id="rId11" Type="http://schemas.openxmlformats.org/officeDocument/2006/relationships/image" Target="../media/image8.png"/><Relationship Id="rId10" Type="http://schemas.openxmlformats.org/officeDocument/2006/relationships/hyperlink" Target="https://github.com/fission/fission" TargetMode="External"/><Relationship Id="rId13" Type="http://schemas.openxmlformats.org/officeDocument/2006/relationships/image" Target="../media/image33.png"/><Relationship Id="rId12" Type="http://schemas.openxmlformats.org/officeDocument/2006/relationships/hyperlink" Target="https://www.youtube.com/watch?v=v4U15Xt05hQ&amp;t=830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9" Type="http://schemas.openxmlformats.org/officeDocument/2006/relationships/image" Target="../media/image41.png"/><Relationship Id="rId5" Type="http://schemas.openxmlformats.org/officeDocument/2006/relationships/hyperlink" Target="https://twitter.com/fissionio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33.png"/><Relationship Id="rId8" Type="http://schemas.openxmlformats.org/officeDocument/2006/relationships/image" Target="../media/image17.png"/><Relationship Id="rId11" Type="http://schemas.openxmlformats.org/officeDocument/2006/relationships/image" Target="../media/image40.png"/><Relationship Id="rId10" Type="http://schemas.openxmlformats.org/officeDocument/2006/relationships/image" Target="../media/image5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9.png"/><Relationship Id="rId12" Type="http://schemas.openxmlformats.org/officeDocument/2006/relationships/image" Target="../media/image33.png"/><Relationship Id="rId1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9.png"/><Relationship Id="rId12" Type="http://schemas.openxmlformats.org/officeDocument/2006/relationships/image" Target="../media/image33.png"/><Relationship Id="rId1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9.png"/><Relationship Id="rId12" Type="http://schemas.openxmlformats.org/officeDocument/2006/relationships/image" Target="../media/image33.png"/><Relationship Id="rId15" Type="http://schemas.openxmlformats.org/officeDocument/2006/relationships/image" Target="../media/image47.png"/><Relationship Id="rId1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9.png"/><Relationship Id="rId12" Type="http://schemas.openxmlformats.org/officeDocument/2006/relationships/image" Target="../media/image33.png"/><Relationship Id="rId14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19.png"/><Relationship Id="rId12" Type="http://schemas.openxmlformats.org/officeDocument/2006/relationships/image" Target="../media/image33.png"/><Relationship Id="rId14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image" Target="../media/image44.png"/><Relationship Id="rId12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3" Type="http://schemas.openxmlformats.org/officeDocument/2006/relationships/hyperlink" Target="https://github.com/fission/fission-kafka-sample" TargetMode="External"/><Relationship Id="rId12" Type="http://schemas.openxmlformats.org/officeDocument/2006/relationships/image" Target="../media/image33.png"/><Relationship Id="rId14" Type="http://schemas.openxmlformats.org/officeDocument/2006/relationships/hyperlink" Target="https://blog.fission.io/fission_pod_specs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jpg"/><Relationship Id="rId4" Type="http://schemas.openxmlformats.org/officeDocument/2006/relationships/hyperlink" Target="https://twitter.com/fissionio" TargetMode="External"/><Relationship Id="rId9" Type="http://schemas.openxmlformats.org/officeDocument/2006/relationships/hyperlink" Target="https://github.com/fission/fission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twitter.com/fissionio" TargetMode="External"/><Relationship Id="rId8" Type="http://schemas.openxmlformats.org/officeDocument/2006/relationships/image" Target="../media/image12.png"/><Relationship Id="rId11" Type="http://schemas.openxmlformats.org/officeDocument/2006/relationships/hyperlink" Target="https://www.youtube.com/watch?v=v4U15Xt05hQ&amp;t=830s" TargetMode="External"/><Relationship Id="rId10" Type="http://schemas.openxmlformats.org/officeDocument/2006/relationships/image" Target="../media/image8.png"/><Relationship Id="rId1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bc5ecf8b8a_1_0"/>
          <p:cNvPicPr preferRelativeResize="0"/>
          <p:nvPr/>
        </p:nvPicPr>
        <p:blipFill rotWithShape="1">
          <a:blip r:embed="rId3">
            <a:alphaModFix/>
          </a:blip>
          <a:srcRect b="2954" l="0" r="0" t="2954"/>
          <a:stretch/>
        </p:blipFill>
        <p:spPr>
          <a:xfrm>
            <a:off x="0" y="-76200"/>
            <a:ext cx="9153527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bc5ecf8b8a_1_0"/>
          <p:cNvSpPr/>
          <p:nvPr/>
        </p:nvSpPr>
        <p:spPr>
          <a:xfrm>
            <a:off x="1563738" y="3349537"/>
            <a:ext cx="6016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" name="Google Shape;60;g3bc5ecf8b8a_1_0"/>
          <p:cNvSpPr/>
          <p:nvPr/>
        </p:nvSpPr>
        <p:spPr>
          <a:xfrm>
            <a:off x="1113563" y="1734305"/>
            <a:ext cx="6016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4800" u="none" cap="none" strike="noStrike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31th Jan 2026    Apache Kafka Meetup Pune</a:t>
            </a:r>
            <a:endParaRPr b="0" i="0" sz="4800" u="none" cap="none" strike="noStrike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 b="2953" l="0" r="0" t="2954"/>
          <a:stretch/>
        </p:blipFill>
        <p:spPr>
          <a:xfrm>
            <a:off x="0" y="-76200"/>
            <a:ext cx="9153527" cy="52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/>
          <p:cNvPicPr preferRelativeResize="0"/>
          <p:nvPr/>
        </p:nvPicPr>
        <p:blipFill rotWithShape="1">
          <a:blip r:embed="rId4">
            <a:alphaModFix/>
          </a:blip>
          <a:srcRect b="0" l="768" r="757" t="0"/>
          <a:stretch/>
        </p:blipFill>
        <p:spPr>
          <a:xfrm>
            <a:off x="1674402" y="1142491"/>
            <a:ext cx="5804723" cy="203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"/>
          <p:cNvPicPr preferRelativeResize="0"/>
          <p:nvPr/>
        </p:nvPicPr>
        <p:blipFill rotWithShape="1">
          <a:blip r:embed="rId5">
            <a:alphaModFix/>
          </a:blip>
          <a:srcRect b="17566" l="7136" r="7069" t="15992"/>
          <a:stretch/>
        </p:blipFill>
        <p:spPr>
          <a:xfrm>
            <a:off x="3849026" y="205532"/>
            <a:ext cx="1455475" cy="4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/>
          <p:nvPr/>
        </p:nvSpPr>
        <p:spPr>
          <a:xfrm>
            <a:off x="1563738" y="3349537"/>
            <a:ext cx="6016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Building Event Driven Serverless Applications with Fission and Kafka</a:t>
            </a:r>
            <a:endParaRPr b="0" i="0" sz="28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70" name="Google Shape;70;p1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 rot="-5400000">
            <a:off x="7742088" y="3741588"/>
            <a:ext cx="1391075" cy="14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"/>
          <p:cNvSpPr/>
          <p:nvPr/>
        </p:nvSpPr>
        <p:spPr>
          <a:xfrm>
            <a:off x="1568513" y="4817855"/>
            <a:ext cx="6016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351C7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31th Jan 2026     |   Apache Kafka Meetup Pune</a:t>
            </a:r>
            <a:endParaRPr b="0" i="0" sz="1400" u="none" cap="none" strike="noStrike">
              <a:solidFill>
                <a:srgbClr val="351C7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2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79" name="Google Shape;79;p2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2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" name="Google Shape;81;p2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82" name="Google Shape;82;p2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2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84" name="Google Shape;84;p2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5" name="Google Shape;85;p2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86" name="Google Shape;86;p2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" name="Google Shape;87;p2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88" name="Google Shape;88;p2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89" name="Google Shape;89;p2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" name="Google Shape;90;p2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91" name="Google Shape;91;p2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2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3" name="Google Shape;93;p2"/>
          <p:cNvGrpSpPr/>
          <p:nvPr/>
        </p:nvGrpSpPr>
        <p:grpSpPr>
          <a:xfrm>
            <a:off x="608225" y="2430013"/>
            <a:ext cx="7937100" cy="1949400"/>
            <a:chOff x="608225" y="2430013"/>
            <a:chExt cx="7937100" cy="1949400"/>
          </a:xfrm>
        </p:grpSpPr>
        <p:sp>
          <p:nvSpPr>
            <p:cNvPr id="94" name="Google Shape;94;p2"/>
            <p:cNvSpPr/>
            <p:nvPr/>
          </p:nvSpPr>
          <p:spPr>
            <a:xfrm>
              <a:off x="608225" y="2430013"/>
              <a:ext cx="7937100" cy="194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28588" rotWithShape="0" algn="bl" dir="5880000" dist="28575">
                <a:srgbClr val="351C75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378450" y="2613750"/>
              <a:ext cx="21288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8150A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Let’s Connect</a:t>
              </a:r>
              <a:endParaRPr b="0" i="0" sz="1600" u="none" cap="none" strike="noStrike">
                <a:solidFill>
                  <a:srgbClr val="8150A2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96" name="Google Shape;96;p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86099" y="3195146"/>
              <a:ext cx="395350" cy="39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"/>
            <p:cNvSpPr/>
            <p:nvPr/>
          </p:nvSpPr>
          <p:spPr>
            <a:xfrm>
              <a:off x="1527800" y="3214643"/>
              <a:ext cx="3579300" cy="5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13113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Fission Maintainer / Contributor</a:t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13113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fission.io</a:t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527800" y="3909079"/>
              <a:ext cx="3579300" cy="19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13113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@SanketSudake</a:t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99" name="Google Shape;99;p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018293" y="3853002"/>
              <a:ext cx="330955" cy="247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2"/>
            <p:cNvSpPr/>
            <p:nvPr/>
          </p:nvSpPr>
          <p:spPr>
            <a:xfrm>
              <a:off x="5648800" y="3290843"/>
              <a:ext cx="2688900" cy="19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sng" cap="none" strike="noStrike">
                  <a:solidFill>
                    <a:schemeClr val="hlink"/>
                  </a:solidFill>
                  <a:latin typeface="Montserrat"/>
                  <a:ea typeface="Montserrat"/>
                  <a:cs typeface="Montserrat"/>
                  <a:sym typeface="Montserrat"/>
                  <a:hlinkClick r:id="rId15"/>
                </a:rPr>
                <a:t>www.linkedin.com/in/sanketsudake</a:t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48800" y="3909081"/>
              <a:ext cx="2688900" cy="19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sng" cap="none" strike="noStrike">
                  <a:solidFill>
                    <a:schemeClr val="hlink"/>
                  </a:solidFill>
                  <a:latin typeface="Montserrat"/>
                  <a:ea typeface="Montserrat"/>
                  <a:cs typeface="Montserrat"/>
                  <a:sym typeface="Montserrat"/>
                  <a:hlinkClick r:id="rId16"/>
                </a:rPr>
                <a:t>ssudake.com</a:t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2" name="Google Shape;102;p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181162" y="3220931"/>
              <a:ext cx="330950" cy="33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212475" y="3811146"/>
              <a:ext cx="330950" cy="33091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" name="Google Shape;104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128075" y="349701"/>
            <a:ext cx="1456998" cy="1305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2"/>
          <p:cNvGrpSpPr/>
          <p:nvPr/>
        </p:nvGrpSpPr>
        <p:grpSpPr>
          <a:xfrm>
            <a:off x="2233550" y="589725"/>
            <a:ext cx="3235200" cy="903225"/>
            <a:chOff x="2233550" y="589725"/>
            <a:chExt cx="3235200" cy="903225"/>
          </a:xfrm>
        </p:grpSpPr>
        <p:sp>
          <p:nvSpPr>
            <p:cNvPr id="106" name="Google Shape;106;p2"/>
            <p:cNvSpPr/>
            <p:nvPr/>
          </p:nvSpPr>
          <p:spPr>
            <a:xfrm>
              <a:off x="2233550" y="589725"/>
              <a:ext cx="2329500" cy="26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674EA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Sanket Sudake</a:t>
              </a:r>
              <a:endParaRPr b="0" i="0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233550" y="982050"/>
              <a:ext cx="3235200" cy="5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3113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Principal Engineer</a:t>
              </a:r>
              <a:endParaRPr b="0" i="0" sz="12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674EA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Improving Pune</a:t>
              </a:r>
              <a:endParaRPr b="0" i="0" sz="1200" u="none" cap="none" strike="noStrike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Table of Functions :) 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116" name="Google Shape;116;p4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4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" name="Google Shape;118;p4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3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121" name="Google Shape;121;p4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" name="Google Shape;122;p4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123" name="Google Shape;123;p4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" name="Google Shape;124;p4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126" name="Google Shape;126;p4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" name="Google Shape;127;p4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128" name="Google Shape;128;p4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4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30" name="Google Shape;130;p4"/>
          <p:cNvSpPr/>
          <p:nvPr/>
        </p:nvSpPr>
        <p:spPr>
          <a:xfrm>
            <a:off x="1547875" y="1506950"/>
            <a:ext cx="5215200" cy="27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150A2"/>
              </a:buClr>
              <a:buSzPts val="1800"/>
              <a:buFont typeface="Montserrat"/>
              <a:buChar char="❖"/>
            </a:pPr>
            <a:r>
              <a:rPr lang="en" sz="1800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Fission Overview and Concepts</a:t>
            </a:r>
            <a:endParaRPr b="0" i="0" sz="18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150A2"/>
              </a:buClr>
              <a:buSzPts val="1800"/>
              <a:buFont typeface="Montserrat"/>
              <a:buChar char="❖"/>
            </a:pPr>
            <a:r>
              <a:rPr lang="en" sz="1800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Function Execution Strategies</a:t>
            </a:r>
            <a:endParaRPr b="0" i="0" sz="18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150A2"/>
              </a:buClr>
              <a:buSzPts val="1800"/>
              <a:buFont typeface="Montserrat"/>
              <a:buChar char="❖"/>
            </a:pPr>
            <a:r>
              <a:rPr lang="en" sz="1800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Kafka Integration Overview</a:t>
            </a:r>
            <a:endParaRPr b="0" i="0" sz="18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150A2"/>
              </a:buClr>
              <a:buSzPts val="1800"/>
              <a:buFont typeface="Montserrat"/>
              <a:buChar char="❖"/>
            </a:pPr>
            <a:r>
              <a:rPr lang="en" sz="1800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Quick Demo with Fission Kafka</a:t>
            </a:r>
            <a:endParaRPr b="0" i="0" sz="18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150A2"/>
              </a:buClr>
              <a:buSzPts val="1800"/>
              <a:buFont typeface="Montserrat"/>
              <a:buChar char="❖"/>
            </a:pPr>
            <a:r>
              <a:rPr lang="en" sz="1800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Use cases and examples</a:t>
            </a:r>
            <a:endParaRPr sz="1800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150A2"/>
              </a:buClr>
              <a:buSzPts val="1800"/>
              <a:buFont typeface="Montserrat"/>
              <a:buChar char="❖"/>
            </a:pPr>
            <a:r>
              <a:rPr lang="en" sz="1800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Q&amp;A and Wrap up</a:t>
            </a:r>
            <a:endParaRPr b="0" i="0" sz="18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Fission on GitHub: Star &amp; Show ❤️ 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333657" y="2170363"/>
            <a:ext cx="2262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https://github.com/fission/fission</a:t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9" name="Google Shape;139;p6"/>
          <p:cNvGrpSpPr/>
          <p:nvPr/>
        </p:nvGrpSpPr>
        <p:grpSpPr>
          <a:xfrm>
            <a:off x="557270" y="1177913"/>
            <a:ext cx="5370600" cy="2797200"/>
            <a:chOff x="1840737" y="1042725"/>
            <a:chExt cx="5370600" cy="2797200"/>
          </a:xfrm>
        </p:grpSpPr>
        <p:sp>
          <p:nvSpPr>
            <p:cNvPr id="140" name="Google Shape;140;p6"/>
            <p:cNvSpPr/>
            <p:nvPr/>
          </p:nvSpPr>
          <p:spPr>
            <a:xfrm>
              <a:off x="1840737" y="1042725"/>
              <a:ext cx="5370600" cy="279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28588" rotWithShape="0" algn="bl" dir="5880000" dist="28575">
                <a:srgbClr val="351C75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1" name="Google Shape;141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85562" y="1104692"/>
              <a:ext cx="5280949" cy="26732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6"/>
          <p:cNvSpPr/>
          <p:nvPr/>
        </p:nvSpPr>
        <p:spPr>
          <a:xfrm>
            <a:off x="6333657" y="2690426"/>
            <a:ext cx="2262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https://fission.io/docs/</a:t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333657" y="3140575"/>
            <a:ext cx="2262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https://fission.io/blog</a:t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4" name="Google Shape;144;p6"/>
          <p:cNvGrpSpPr/>
          <p:nvPr/>
        </p:nvGrpSpPr>
        <p:grpSpPr>
          <a:xfrm>
            <a:off x="6333657" y="1678038"/>
            <a:ext cx="2262600" cy="476196"/>
            <a:chOff x="6333657" y="1678038"/>
            <a:chExt cx="2262600" cy="476196"/>
          </a:xfrm>
        </p:grpSpPr>
        <p:sp>
          <p:nvSpPr>
            <p:cNvPr id="145" name="Google Shape;145;p6"/>
            <p:cNvSpPr/>
            <p:nvPr/>
          </p:nvSpPr>
          <p:spPr>
            <a:xfrm>
              <a:off x="6333657" y="1678038"/>
              <a:ext cx="22626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674EA7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You can Star &amp; show  ❤️ here</a:t>
              </a:r>
              <a:endParaRPr b="0" i="0" sz="1200" u="none" cap="none" strike="noStrike">
                <a:solidFill>
                  <a:srgbClr val="674EA7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146" name="Google Shape;146;p6"/>
            <p:cNvPicPr preferRelativeResize="0"/>
            <p:nvPr/>
          </p:nvPicPr>
          <p:blipFill rotWithShape="1">
            <a:blip r:embed="rId8">
              <a:alphaModFix amt="54000"/>
            </a:blip>
            <a:srcRect b="0" l="0" r="0" t="0"/>
            <a:stretch/>
          </p:blipFill>
          <p:spPr>
            <a:xfrm rot="-10427980">
              <a:off x="7637068" y="1817284"/>
              <a:ext cx="320564" cy="3205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6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148" name="Google Shape;148;p6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6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6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151" name="Google Shape;151;p6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6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4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153" name="Google Shape;153;p6"/>
            <p:cNvPicPr preferRelativeResize="0"/>
            <p:nvPr/>
          </p:nvPicPr>
          <p:blipFill rotWithShape="1">
            <a:blip r:embed="rId11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4" name="Google Shape;154;p6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155" name="Google Shape;155;p6">
                <a:hlinkClick r:id="rId12"/>
              </p:cNvPr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6" name="Google Shape;156;p6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57" name="Google Shape;157;p6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158" name="Google Shape;158;p6">
                <a:hlinkClick r:id="rId14"/>
              </p:cNvPr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" name="Google Shape;159;p6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160" name="Google Shape;160;p6">
              <a:hlinkClick r:id="rId16"/>
            </p:cNvPr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6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162" name="Google Shape;162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57275" y="1177925"/>
            <a:ext cx="5270701" cy="29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7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7"/>
          <p:cNvGrpSpPr/>
          <p:nvPr/>
        </p:nvGrpSpPr>
        <p:grpSpPr>
          <a:xfrm>
            <a:off x="0" y="1923263"/>
            <a:ext cx="5538600" cy="1306500"/>
            <a:chOff x="0" y="1759757"/>
            <a:chExt cx="5538600" cy="1306500"/>
          </a:xfrm>
        </p:grpSpPr>
        <p:sp>
          <p:nvSpPr>
            <p:cNvPr id="170" name="Google Shape;170;p7"/>
            <p:cNvSpPr/>
            <p:nvPr/>
          </p:nvSpPr>
          <p:spPr>
            <a:xfrm>
              <a:off x="0" y="2093544"/>
              <a:ext cx="5538600" cy="67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28588" rotWithShape="0" algn="bl" dir="5880000" dist="28575">
                <a:srgbClr val="351C75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167918" y="1759757"/>
              <a:ext cx="1317525" cy="1306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7"/>
            <p:cNvSpPr/>
            <p:nvPr/>
          </p:nvSpPr>
          <p:spPr>
            <a:xfrm>
              <a:off x="2095050" y="2211544"/>
              <a:ext cx="3323100" cy="4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674EA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Fission </a:t>
              </a:r>
              <a:r>
                <a:rPr lang="en" sz="2800">
                  <a:solidFill>
                    <a:srgbClr val="674EA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Concepts</a:t>
              </a:r>
              <a:endParaRPr b="0" i="0" sz="28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-4762" y="-4762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Environment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07950" y="1363725"/>
            <a:ext cx="34056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Base OS &amp; Runtime Environment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Dependencies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1" name="Google Shape;181;p8"/>
          <p:cNvGrpSpPr/>
          <p:nvPr/>
        </p:nvGrpSpPr>
        <p:grpSpPr>
          <a:xfrm>
            <a:off x="6816143" y="1211318"/>
            <a:ext cx="1650900" cy="1435500"/>
            <a:chOff x="6816143" y="1211318"/>
            <a:chExt cx="1650900" cy="1435500"/>
          </a:xfrm>
        </p:grpSpPr>
        <p:sp>
          <p:nvSpPr>
            <p:cNvPr id="182" name="Google Shape;182;p8"/>
            <p:cNvSpPr/>
            <p:nvPr/>
          </p:nvSpPr>
          <p:spPr>
            <a:xfrm>
              <a:off x="6816143" y="1211318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 Env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889877" y="1849301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6D9E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Ubuntu 18.04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6889864" y="1316325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 Server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4885627" y="1211318"/>
            <a:ext cx="1650900" cy="1435500"/>
            <a:chOff x="4885627" y="1211318"/>
            <a:chExt cx="1650900" cy="1435500"/>
          </a:xfrm>
        </p:grpSpPr>
        <p:sp>
          <p:nvSpPr>
            <p:cNvPr id="186" name="Google Shape;186;p8"/>
            <p:cNvSpPr/>
            <p:nvPr/>
          </p:nvSpPr>
          <p:spPr>
            <a:xfrm>
              <a:off x="4885627" y="1211318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NodeJS Env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4959364" y="1849301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6D9E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NodeJS Alpine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4959364" y="1316324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Express, co, request, request-promise-native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9" name="Google Shape;189;p8"/>
          <p:cNvGrpSpPr/>
          <p:nvPr/>
        </p:nvGrpSpPr>
        <p:grpSpPr>
          <a:xfrm>
            <a:off x="3913551" y="3077919"/>
            <a:ext cx="1510904" cy="1313770"/>
            <a:chOff x="5303713" y="2841718"/>
            <a:chExt cx="1650900" cy="1435500"/>
          </a:xfrm>
        </p:grpSpPr>
        <p:sp>
          <p:nvSpPr>
            <p:cNvPr id="190" name="Google Shape;190;p8"/>
            <p:cNvSpPr/>
            <p:nvPr/>
          </p:nvSpPr>
          <p:spPr>
            <a:xfrm>
              <a:off x="5303713" y="2841718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Environment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5401537" y="34979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6D9E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OS + Runtime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5401525" y="29650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93" name="Google Shape;193;p8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194" name="Google Shape;194;p8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8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6" name="Google Shape;196;p8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7" name="Google Shape;197;p8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198" name="Google Shape;198;p8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" name="Google Shape;199;p8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200" name="Google Shape;200;p8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201" name="Google Shape;201;p8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2" name="Google Shape;202;p8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203" name="Google Shape;203;p8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8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8801475" y="4791451"/>
              <a:ext cx="256200" cy="2562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9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Package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07950" y="1363725"/>
            <a:ext cx="34056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 “package” for user code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Source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Binary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User Code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150A2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Additional Dependencies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Compile time in case of  compiled languages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4" name="Google Shape;214;p9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215" name="Google Shape;215;p9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9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7" name="Google Shape;217;p9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218" name="Google Shape;218;p9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7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220" name="Google Shape;220;p9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1" name="Google Shape;221;p9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222" name="Google Shape;222;p9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3" name="Google Shape;223;p9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224" name="Google Shape;224;p9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225" name="Google Shape;225;p9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9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227" name="Google Shape;227;p9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9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6614660" y="1815332"/>
            <a:ext cx="1510904" cy="1313770"/>
            <a:chOff x="5613968" y="2822393"/>
            <a:chExt cx="1650900" cy="1435500"/>
          </a:xfrm>
        </p:grpSpPr>
        <p:sp>
          <p:nvSpPr>
            <p:cNvPr id="230" name="Google Shape;230;p9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33" name="Google Shape;233;p9"/>
          <p:cNvGrpSpPr/>
          <p:nvPr/>
        </p:nvGrpSpPr>
        <p:grpSpPr>
          <a:xfrm>
            <a:off x="4861126" y="1815332"/>
            <a:ext cx="1510904" cy="1313770"/>
            <a:chOff x="5303713" y="2841718"/>
            <a:chExt cx="1650900" cy="1435500"/>
          </a:xfrm>
        </p:grpSpPr>
        <p:sp>
          <p:nvSpPr>
            <p:cNvPr id="234" name="Google Shape;234;p9"/>
            <p:cNvSpPr/>
            <p:nvPr/>
          </p:nvSpPr>
          <p:spPr>
            <a:xfrm>
              <a:off x="5303713" y="2841718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Environment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5401537" y="34979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6D9E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OS + Runtime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5401525" y="29650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0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Builder Service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07950" y="985900"/>
            <a:ext cx="34056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Compiles code from source to binary for compiled languages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For non-compiled - just packages them.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Can store in a PV or a S3 compatible object store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5" name="Google Shape;245;p10"/>
          <p:cNvGrpSpPr/>
          <p:nvPr/>
        </p:nvGrpSpPr>
        <p:grpSpPr>
          <a:xfrm>
            <a:off x="3859652" y="2684878"/>
            <a:ext cx="4957610" cy="1962262"/>
            <a:chOff x="3529406" y="2427200"/>
            <a:chExt cx="5416969" cy="2144080"/>
          </a:xfrm>
        </p:grpSpPr>
        <p:grpSp>
          <p:nvGrpSpPr>
            <p:cNvPr id="246" name="Google Shape;246;p10"/>
            <p:cNvGrpSpPr/>
            <p:nvPr/>
          </p:nvGrpSpPr>
          <p:grpSpPr>
            <a:xfrm>
              <a:off x="5445418" y="3135780"/>
              <a:ext cx="1650900" cy="1435500"/>
              <a:chOff x="5613968" y="2822393"/>
              <a:chExt cx="1650900" cy="1435500"/>
            </a:xfrm>
          </p:grpSpPr>
          <p:sp>
            <p:nvSpPr>
              <p:cNvPr id="247" name="Google Shape;247;p10"/>
              <p:cNvSpPr/>
              <p:nvPr/>
            </p:nvSpPr>
            <p:spPr>
              <a:xfrm>
                <a:off x="5613968" y="2822393"/>
                <a:ext cx="1650900" cy="1435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71438" rotWithShape="0" algn="bl" dist="9525">
                  <a:srgbClr val="000000">
                    <a:alpha val="15686"/>
                  </a:srgbClr>
                </a:outerShdw>
              </a:effectLst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000000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Package</a:t>
                </a:r>
                <a:endParaRPr b="0" i="0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248" name="Google Shape;248;p10"/>
              <p:cNvSpPr/>
              <p:nvPr/>
            </p:nvSpPr>
            <p:spPr>
              <a:xfrm>
                <a:off x="5687702" y="3460376"/>
                <a:ext cx="1455000" cy="478200"/>
              </a:xfrm>
              <a:prstGeom prst="roundRect">
                <a:avLst>
                  <a:gd fmla="val 13860" name="adj"/>
                </a:avLst>
              </a:prstGeom>
              <a:solidFill>
                <a:srgbClr val="F9CB9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User Code</a:t>
                </a:r>
                <a:endParaRPr b="0" i="0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249" name="Google Shape;249;p10"/>
              <p:cNvSpPr/>
              <p:nvPr/>
            </p:nvSpPr>
            <p:spPr>
              <a:xfrm>
                <a:off x="5687689" y="2927400"/>
                <a:ext cx="1455300" cy="478200"/>
              </a:xfrm>
              <a:prstGeom prst="roundRect">
                <a:avLst>
                  <a:gd fmla="val 13860" name="adj"/>
                </a:avLst>
              </a:prstGeom>
              <a:solidFill>
                <a:srgbClr val="93C4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Dependencies</a:t>
                </a:r>
                <a:endParaRPr b="0" i="0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250" name="Google Shape;250;p10"/>
            <p:cNvGrpSpPr/>
            <p:nvPr/>
          </p:nvGrpSpPr>
          <p:grpSpPr>
            <a:xfrm>
              <a:off x="3529406" y="3135780"/>
              <a:ext cx="1650900" cy="1435500"/>
              <a:chOff x="5303713" y="2841718"/>
              <a:chExt cx="1650900" cy="1435500"/>
            </a:xfrm>
          </p:grpSpPr>
          <p:sp>
            <p:nvSpPr>
              <p:cNvPr id="251" name="Google Shape;251;p10"/>
              <p:cNvSpPr/>
              <p:nvPr/>
            </p:nvSpPr>
            <p:spPr>
              <a:xfrm>
                <a:off x="5303713" y="2841718"/>
                <a:ext cx="1650900" cy="1435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71438" rotWithShape="0" algn="bl" dist="9525">
                  <a:srgbClr val="000000">
                    <a:alpha val="15686"/>
                  </a:srgbClr>
                </a:outerShdw>
              </a:effectLst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000000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Environment</a:t>
                </a:r>
                <a:endParaRPr b="0" i="0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252" name="Google Shape;252;p10"/>
              <p:cNvSpPr/>
              <p:nvPr/>
            </p:nvSpPr>
            <p:spPr>
              <a:xfrm>
                <a:off x="5401537" y="3497976"/>
                <a:ext cx="1455000" cy="478200"/>
              </a:xfrm>
              <a:prstGeom prst="roundRect">
                <a:avLst>
                  <a:gd fmla="val 13860" name="adj"/>
                </a:avLst>
              </a:prstGeom>
              <a:solidFill>
                <a:srgbClr val="6D9E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OS + Runtime</a:t>
                </a:r>
                <a:endParaRPr b="0" i="0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253" name="Google Shape;253;p10"/>
              <p:cNvSpPr/>
              <p:nvPr/>
            </p:nvSpPr>
            <p:spPr>
              <a:xfrm>
                <a:off x="5401525" y="2965000"/>
                <a:ext cx="1455300" cy="478200"/>
              </a:xfrm>
              <a:prstGeom prst="roundRect">
                <a:avLst>
                  <a:gd fmla="val 13860" name="adj"/>
                </a:avLst>
              </a:prstGeom>
              <a:solidFill>
                <a:srgbClr val="93C4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Dependencies</a:t>
                </a:r>
                <a:endParaRPr b="0" i="0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>
              <a:off x="7119491" y="2427200"/>
              <a:ext cx="1826884" cy="2133032"/>
              <a:chOff x="6890891" y="2351000"/>
              <a:chExt cx="1826884" cy="2133032"/>
            </a:xfrm>
          </p:grpSpPr>
          <p:sp>
            <p:nvSpPr>
              <p:cNvPr id="255" name="Google Shape;255;p10"/>
              <p:cNvSpPr/>
              <p:nvPr/>
            </p:nvSpPr>
            <p:spPr>
              <a:xfrm>
                <a:off x="7523891" y="3229432"/>
                <a:ext cx="1050900" cy="12546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000000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Builder </a:t>
                </a:r>
                <a:endParaRPr b="0" i="0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000000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Service</a:t>
                </a:r>
                <a:endParaRPr b="0" i="0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Compiles code &amp; creates a package</a:t>
                </a:r>
                <a:endParaRPr b="0" i="0" sz="10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256" name="Google Shape;256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288617" y="2351001"/>
                <a:ext cx="429158" cy="3218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" name="Google Shape;257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342260" y="2729933"/>
                <a:ext cx="321872" cy="321868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58" name="Google Shape;258;p10"/>
              <p:cNvCxnSpPr>
                <a:endCxn id="257" idx="1"/>
              </p:cNvCxnSpPr>
              <p:nvPr/>
            </p:nvCxnSpPr>
            <p:spPr>
              <a:xfrm>
                <a:off x="8113060" y="2683867"/>
                <a:ext cx="229200" cy="207000"/>
              </a:xfrm>
              <a:prstGeom prst="bentConnector3">
                <a:avLst>
                  <a:gd fmla="val -49738" name="adj1"/>
                </a:avLst>
              </a:prstGeom>
              <a:noFill/>
              <a:ln cap="flat" cmpd="sng" w="9525">
                <a:solidFill>
                  <a:srgbClr val="674EA7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59" name="Google Shape;259;p10"/>
              <p:cNvCxnSpPr>
                <a:endCxn id="255" idx="1"/>
              </p:cNvCxnSpPr>
              <p:nvPr/>
            </p:nvCxnSpPr>
            <p:spPr>
              <a:xfrm>
                <a:off x="6890891" y="3856732"/>
                <a:ext cx="633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674EA7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60" name="Google Shape;260;p10"/>
              <p:cNvCxnSpPr>
                <a:stCxn id="255" idx="0"/>
                <a:endCxn id="261" idx="3"/>
              </p:cNvCxnSpPr>
              <p:nvPr/>
            </p:nvCxnSpPr>
            <p:spPr>
              <a:xfrm flipH="1" rot="5400000">
                <a:off x="7786391" y="2966482"/>
                <a:ext cx="212400" cy="313500"/>
              </a:xfrm>
              <a:prstGeom prst="bentConnector3">
                <a:avLst>
                  <a:gd fmla="val 85884" name="adj1"/>
                </a:avLst>
              </a:prstGeom>
              <a:noFill/>
              <a:ln cap="flat" cmpd="sng" w="9525">
                <a:solidFill>
                  <a:srgbClr val="674EA7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261" name="Google Shape;261;p10"/>
              <p:cNvSpPr/>
              <p:nvPr/>
            </p:nvSpPr>
            <p:spPr>
              <a:xfrm>
                <a:off x="7358902" y="2351000"/>
                <a:ext cx="754025" cy="666000"/>
              </a:xfrm>
              <a:prstGeom prst="flowChartMagneticDisk">
                <a:avLst/>
              </a:prstGeom>
              <a:solidFill>
                <a:srgbClr val="CFE2F3"/>
              </a:solidFill>
              <a:ln cap="flat" cmpd="sng" w="9525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Storage Service</a:t>
                </a:r>
                <a:endParaRPr b="1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2" name="Google Shape;262;p10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263" name="Google Shape;263;p10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10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" name="Google Shape;265;p10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266" name="Google Shape;266;p10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0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8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268" name="Google Shape;268;p10"/>
            <p:cNvPicPr preferRelativeResize="0"/>
            <p:nvPr/>
          </p:nvPicPr>
          <p:blipFill rotWithShape="1">
            <a:blip r:embed="rId8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9" name="Google Shape;269;p10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270" name="Google Shape;270;p10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" name="Google Shape;271;p10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272" name="Google Shape;272;p10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273" name="Google Shape;273;p10">
                <a:hlinkClick r:id="rId11"/>
              </p:cNvPr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10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275" name="Google Shape;275;p10">
              <a:hlinkClick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10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1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/>
          <p:nvPr/>
        </p:nvSpPr>
        <p:spPr>
          <a:xfrm>
            <a:off x="3859650" y="2571750"/>
            <a:ext cx="32925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Function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Function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07950" y="985900"/>
            <a:ext cx="34056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Runtime + Code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CPU &amp; Memory 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Scale parameters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Timeouts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Secrets and configmaps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Function Execution Strategies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Next slide..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86" name="Google Shape;286;p11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287" name="Google Shape;287;p11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11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9" name="Google Shape;289;p11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290" name="Google Shape;290;p11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11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9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292" name="Google Shape;292;p11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3" name="Google Shape;293;p11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294" name="Google Shape;294;p11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5" name="Google Shape;295;p11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296" name="Google Shape;296;p11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297" name="Google Shape;297;p11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8" name="Google Shape;298;p11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299" name="Google Shape;299;p11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11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01" name="Google Shape;301;p11"/>
          <p:cNvGrpSpPr/>
          <p:nvPr/>
        </p:nvGrpSpPr>
        <p:grpSpPr>
          <a:xfrm>
            <a:off x="5613186" y="3333370"/>
            <a:ext cx="1510904" cy="1313770"/>
            <a:chOff x="5613968" y="2822393"/>
            <a:chExt cx="1650900" cy="1435500"/>
          </a:xfrm>
        </p:grpSpPr>
        <p:sp>
          <p:nvSpPr>
            <p:cNvPr id="302" name="Google Shape;302;p11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305" name="Google Shape;305;p11"/>
          <p:cNvSpPr/>
          <p:nvPr/>
        </p:nvSpPr>
        <p:spPr>
          <a:xfrm>
            <a:off x="3859652" y="3333370"/>
            <a:ext cx="1510800" cy="1313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949181" y="3933978"/>
            <a:ext cx="1331700" cy="437700"/>
          </a:xfrm>
          <a:prstGeom prst="roundRect">
            <a:avLst>
              <a:gd fmla="val 1386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+ Runtime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949169" y="3446198"/>
            <a:ext cx="1332000" cy="437700"/>
          </a:xfrm>
          <a:prstGeom prst="roundRect">
            <a:avLst>
              <a:gd fmla="val 1386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Dependencies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08" name="Google Shape;308;p11"/>
          <p:cNvGrpSpPr/>
          <p:nvPr/>
        </p:nvGrpSpPr>
        <p:grpSpPr>
          <a:xfrm>
            <a:off x="7145298" y="2684878"/>
            <a:ext cx="1671964" cy="1952151"/>
            <a:chOff x="6890891" y="2351000"/>
            <a:chExt cx="1826884" cy="2133032"/>
          </a:xfrm>
        </p:grpSpPr>
        <p:sp>
          <p:nvSpPr>
            <p:cNvPr id="309" name="Google Shape;309;p11"/>
            <p:cNvSpPr/>
            <p:nvPr/>
          </p:nvSpPr>
          <p:spPr>
            <a:xfrm>
              <a:off x="7523891" y="3229432"/>
              <a:ext cx="1050900" cy="12546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Builder 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Service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Compiles code &amp; creates a package</a:t>
              </a:r>
              <a:endParaRPr b="0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10" name="Google Shape;310;p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288617" y="2351001"/>
              <a:ext cx="429158" cy="3218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1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342260" y="2729933"/>
              <a:ext cx="321872" cy="3218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12" name="Google Shape;312;p11"/>
            <p:cNvCxnSpPr>
              <a:endCxn id="311" idx="1"/>
            </p:cNvCxnSpPr>
            <p:nvPr/>
          </p:nvCxnSpPr>
          <p:spPr>
            <a:xfrm>
              <a:off x="8113060" y="2683867"/>
              <a:ext cx="229200" cy="207000"/>
            </a:xfrm>
            <a:prstGeom prst="bentConnector3">
              <a:avLst>
                <a:gd fmla="val -17242" name="adj1"/>
              </a:avLst>
            </a:prstGeom>
            <a:noFill/>
            <a:ln cap="flat" cmpd="sng" w="9525">
              <a:solidFill>
                <a:srgbClr val="674EA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3" name="Google Shape;313;p11"/>
            <p:cNvCxnSpPr>
              <a:endCxn id="309" idx="1"/>
            </p:cNvCxnSpPr>
            <p:nvPr/>
          </p:nvCxnSpPr>
          <p:spPr>
            <a:xfrm>
              <a:off x="6890891" y="3856732"/>
              <a:ext cx="633000" cy="0"/>
            </a:xfrm>
            <a:prstGeom prst="straightConnector1">
              <a:avLst/>
            </a:prstGeom>
            <a:noFill/>
            <a:ln cap="flat" cmpd="sng" w="9525">
              <a:solidFill>
                <a:srgbClr val="674EA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4" name="Google Shape;314;p11"/>
            <p:cNvCxnSpPr>
              <a:stCxn id="309" idx="0"/>
              <a:endCxn id="315" idx="3"/>
            </p:cNvCxnSpPr>
            <p:nvPr/>
          </p:nvCxnSpPr>
          <p:spPr>
            <a:xfrm flipH="1" rot="5400000">
              <a:off x="7786391" y="2966482"/>
              <a:ext cx="212400" cy="313500"/>
            </a:xfrm>
            <a:prstGeom prst="bentConnector3">
              <a:avLst>
                <a:gd fmla="val 188079" name="adj1"/>
              </a:avLst>
            </a:prstGeom>
            <a:noFill/>
            <a:ln cap="flat" cmpd="sng" w="9525">
              <a:solidFill>
                <a:srgbClr val="674EA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5" name="Google Shape;315;p11"/>
            <p:cNvSpPr/>
            <p:nvPr/>
          </p:nvSpPr>
          <p:spPr>
            <a:xfrm>
              <a:off x="7358902" y="2351000"/>
              <a:ext cx="754025" cy="666000"/>
            </a:xfrm>
            <a:prstGeom prst="flowChartMagneticDisk">
              <a:avLst/>
            </a:prstGeom>
            <a:solidFill>
              <a:srgbClr val="CFE2F3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Storage Service</a:t>
              </a:r>
              <a:endPara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11"/>
          <p:cNvSpPr/>
          <p:nvPr/>
        </p:nvSpPr>
        <p:spPr>
          <a:xfrm>
            <a:off x="4506509" y="2636025"/>
            <a:ext cx="10578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Runtime Config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613175" y="263602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PackageReference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613175" y="295203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 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8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8"/>
          <p:cNvSpPr/>
          <p:nvPr/>
        </p:nvSpPr>
        <p:spPr>
          <a:xfrm>
            <a:off x="3859650" y="1592938"/>
            <a:ext cx="3292500" cy="167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Function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HTTP &amp; Time invocation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507950" y="985900"/>
            <a:ext cx="2930100" cy="19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HTTP Trigger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For HTTP invocations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TimeTrigger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Cron based function invocation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8" name="Google Shape;328;p18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329" name="Google Shape;329;p18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18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p18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332" name="Google Shape;332;p18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8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10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334" name="Google Shape;334;p18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5" name="Google Shape;335;p18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336" name="Google Shape;336;p18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7" name="Google Shape;337;p18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338" name="Google Shape;338;p18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339" name="Google Shape;339;p18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0" name="Google Shape;340;p18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341" name="Google Shape;341;p18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18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43" name="Google Shape;343;p18"/>
          <p:cNvGrpSpPr/>
          <p:nvPr/>
        </p:nvGrpSpPr>
        <p:grpSpPr>
          <a:xfrm>
            <a:off x="5613186" y="3333370"/>
            <a:ext cx="1510904" cy="1313770"/>
            <a:chOff x="5613968" y="2822393"/>
            <a:chExt cx="1650900" cy="1435500"/>
          </a:xfrm>
        </p:grpSpPr>
        <p:sp>
          <p:nvSpPr>
            <p:cNvPr id="344" name="Google Shape;344;p18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347" name="Google Shape;347;p18"/>
          <p:cNvSpPr/>
          <p:nvPr/>
        </p:nvSpPr>
        <p:spPr>
          <a:xfrm>
            <a:off x="3859652" y="3333370"/>
            <a:ext cx="1510800" cy="1313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3949181" y="3933978"/>
            <a:ext cx="1331700" cy="437700"/>
          </a:xfrm>
          <a:prstGeom prst="roundRect">
            <a:avLst>
              <a:gd fmla="val 1386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+ Runtime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949169" y="3446198"/>
            <a:ext cx="1332000" cy="437700"/>
          </a:xfrm>
          <a:prstGeom prst="roundRect">
            <a:avLst>
              <a:gd fmla="val 1386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Dependencies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7724620" y="3488819"/>
            <a:ext cx="961800" cy="11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Builder 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Compiles code &amp; creates a package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1" name="Google Shape;351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4497" y="2684880"/>
            <a:ext cx="392766" cy="29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3590" y="3031678"/>
            <a:ext cx="294577" cy="2945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3" name="Google Shape;353;p18"/>
          <p:cNvCxnSpPr>
            <a:endCxn id="352" idx="1"/>
          </p:cNvCxnSpPr>
          <p:nvPr/>
        </p:nvCxnSpPr>
        <p:spPr>
          <a:xfrm>
            <a:off x="8263890" y="2989665"/>
            <a:ext cx="209700" cy="18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" name="Google Shape;354;p18"/>
          <p:cNvCxnSpPr>
            <a:endCxn id="350" idx="1"/>
          </p:cNvCxnSpPr>
          <p:nvPr/>
        </p:nvCxnSpPr>
        <p:spPr>
          <a:xfrm>
            <a:off x="7145320" y="4062869"/>
            <a:ext cx="579300" cy="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18"/>
          <p:cNvCxnSpPr>
            <a:stCxn id="350" idx="0"/>
            <a:endCxn id="356" idx="3"/>
          </p:cNvCxnSpPr>
          <p:nvPr/>
        </p:nvCxnSpPr>
        <p:spPr>
          <a:xfrm flipH="1" rot="5400000">
            <a:off x="7964920" y="3248219"/>
            <a:ext cx="194400" cy="286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" name="Google Shape;356;p18"/>
          <p:cNvSpPr/>
          <p:nvPr/>
        </p:nvSpPr>
        <p:spPr>
          <a:xfrm>
            <a:off x="7573621" y="2684878"/>
            <a:ext cx="690084" cy="609523"/>
          </a:xfrm>
          <a:prstGeom prst="flowChartMagneticDisk">
            <a:avLst/>
          </a:prstGeom>
          <a:solidFill>
            <a:srgbClr val="CFE2F3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Service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4506509" y="2636025"/>
            <a:ext cx="10578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Runtime Config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613175" y="263602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PackageReference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5613175" y="295203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 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7511825" y="2043650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Executor Service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5693975" y="1684940"/>
            <a:ext cx="13731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NewDeploy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5845327" y="1756003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5845327" y="1971114"/>
            <a:ext cx="474000" cy="26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Code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6377702" y="1756003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377702" y="1971114"/>
            <a:ext cx="474000" cy="26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Code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7511825" y="1436772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Router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3949175" y="1685940"/>
            <a:ext cx="16641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PoolManager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4031040" y="1907145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4547312" y="1907145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5062503" y="1907145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5303347" y="1209612"/>
            <a:ext cx="877800" cy="312000"/>
          </a:xfrm>
          <a:prstGeom prst="roundRect">
            <a:avLst>
              <a:gd fmla="val 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 Trigger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6261722" y="1209612"/>
            <a:ext cx="877800" cy="312000"/>
          </a:xfrm>
          <a:prstGeom prst="roundRect">
            <a:avLst>
              <a:gd fmla="val 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 Trigger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2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2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“Hello World” - Fission version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918800" y="1125950"/>
            <a:ext cx="7183800" cy="3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400" u="none" cap="none" strike="noStrike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fission env create --name nodejs --image fission/node-env</a:t>
            </a:r>
            <a:endParaRPr i="0" sz="1400" u="none" cap="none" strike="noStrike">
              <a:solidFill>
                <a:srgbClr val="13113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400" u="none" cap="none" strike="noStrike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fission fn create --name hellojs --env nodejs --code </a:t>
            </a:r>
            <a:r>
              <a:rPr i="0" lang="en" sz="1400" u="sng" cap="none" strike="noStrike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4"/>
              </a:rPr>
              <a:t>https://raw.githubusercontent.com/fission/fission/master/examples/nodejs/hello.js</a:t>
            </a:r>
            <a:endParaRPr i="0" sz="1400" u="none" cap="none" strike="noStrike">
              <a:solidFill>
                <a:srgbClr val="13113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400" u="none" cap="none" strike="noStrike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fission function test --name hello</a:t>
            </a:r>
            <a:endParaRPr i="0" sz="1400" u="none" cap="none" strike="noStrike">
              <a:solidFill>
                <a:srgbClr val="13113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400" u="none" cap="none" strike="noStrike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Hello, world!</a:t>
            </a:r>
            <a:br>
              <a:rPr i="0" lang="en" sz="1400" u="none" cap="none" strike="noStrike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i="0" lang="en" sz="1400" u="none" cap="none" strike="noStrike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fission route creat</a:t>
            </a:r>
            <a:r>
              <a:rPr lang="en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 --function hello --url /hello</a:t>
            </a:r>
            <a:br>
              <a:rPr lang="en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">
                <a:solidFill>
                  <a:srgbClr val="13113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curl http://router.fission/hello</a:t>
            </a:r>
            <a:endParaRPr i="0" sz="1400" u="none" cap="none" strike="noStrike">
              <a:solidFill>
                <a:srgbClr val="13113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81" name="Google Shape;381;p22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382" name="Google Shape;382;p22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22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4" name="Google Shape;384;p22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385" name="Google Shape;385;p22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2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11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387" name="Google Shape;387;p22"/>
            <p:cNvPicPr preferRelativeResize="0"/>
            <p:nvPr/>
          </p:nvPicPr>
          <p:blipFill rotWithShape="1">
            <a:blip r:embed="rId7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8" name="Google Shape;388;p22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389" name="Google Shape;389;p22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0" name="Google Shape;390;p22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391" name="Google Shape;391;p22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392" name="Google Shape;392;p22">
                <a:hlinkClick r:id="rId10"/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3" name="Google Shape;393;p22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394" name="Google Shape;394;p22">
              <a:hlinkClick r:id="rId12"/>
            </p:cNvPr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22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9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9"/>
          <p:cNvSpPr/>
          <p:nvPr/>
        </p:nvSpPr>
        <p:spPr>
          <a:xfrm>
            <a:off x="3859650" y="1592938"/>
            <a:ext cx="3292500" cy="167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Function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MQ invocation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507950" y="985900"/>
            <a:ext cx="30642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MQ Trigger - Current Support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Kafka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NATS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Azure Queue Storage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lang="en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RabbitMQ</a:t>
            </a:r>
            <a:endParaRPr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lang="en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Redis</a:t>
            </a:r>
            <a:endParaRPr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lang="en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AWS SQS</a:t>
            </a:r>
            <a:endParaRPr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lang="en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GCP PubSub</a:t>
            </a:r>
            <a:endParaRPr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05" name="Google Shape;405;p19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406" name="Google Shape;406;p19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19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8" name="Google Shape;408;p19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409" name="Google Shape;409;p19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12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411" name="Google Shape;411;p19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2" name="Google Shape;412;p19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413" name="Google Shape;413;p19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4" name="Google Shape;414;p19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415" name="Google Shape;415;p19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416" name="Google Shape;416;p19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7" name="Google Shape;417;p19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18" name="Google Shape;418;p19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p19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20" name="Google Shape;420;p19"/>
          <p:cNvGrpSpPr/>
          <p:nvPr/>
        </p:nvGrpSpPr>
        <p:grpSpPr>
          <a:xfrm>
            <a:off x="5613186" y="3333370"/>
            <a:ext cx="1510904" cy="1313770"/>
            <a:chOff x="5613968" y="2822393"/>
            <a:chExt cx="1650900" cy="1435500"/>
          </a:xfrm>
        </p:grpSpPr>
        <p:sp>
          <p:nvSpPr>
            <p:cNvPr id="421" name="Google Shape;421;p19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424" name="Google Shape;424;p19"/>
          <p:cNvSpPr/>
          <p:nvPr/>
        </p:nvSpPr>
        <p:spPr>
          <a:xfrm>
            <a:off x="3859652" y="3333370"/>
            <a:ext cx="1510800" cy="1313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3949181" y="3933978"/>
            <a:ext cx="1331700" cy="437700"/>
          </a:xfrm>
          <a:prstGeom prst="roundRect">
            <a:avLst>
              <a:gd fmla="val 1386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+ Runtime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3949169" y="3446198"/>
            <a:ext cx="1332000" cy="437700"/>
          </a:xfrm>
          <a:prstGeom prst="roundRect">
            <a:avLst>
              <a:gd fmla="val 1386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Dependencies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7724620" y="3488819"/>
            <a:ext cx="961800" cy="11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Builder 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Compiles code &amp; creates a package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8" name="Google Shape;428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4497" y="2684880"/>
            <a:ext cx="392766" cy="29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3590" y="3031678"/>
            <a:ext cx="294577" cy="2945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19"/>
          <p:cNvCxnSpPr>
            <a:endCxn id="429" idx="1"/>
          </p:cNvCxnSpPr>
          <p:nvPr/>
        </p:nvCxnSpPr>
        <p:spPr>
          <a:xfrm>
            <a:off x="8263890" y="2989665"/>
            <a:ext cx="209700" cy="18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1" name="Google Shape;431;p19"/>
          <p:cNvCxnSpPr>
            <a:endCxn id="427" idx="1"/>
          </p:cNvCxnSpPr>
          <p:nvPr/>
        </p:nvCxnSpPr>
        <p:spPr>
          <a:xfrm>
            <a:off x="7145320" y="4062869"/>
            <a:ext cx="579300" cy="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19"/>
          <p:cNvCxnSpPr>
            <a:stCxn id="427" idx="0"/>
            <a:endCxn id="433" idx="3"/>
          </p:cNvCxnSpPr>
          <p:nvPr/>
        </p:nvCxnSpPr>
        <p:spPr>
          <a:xfrm flipH="1" rot="5400000">
            <a:off x="7964920" y="3248219"/>
            <a:ext cx="194400" cy="286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3" name="Google Shape;433;p19"/>
          <p:cNvSpPr/>
          <p:nvPr/>
        </p:nvSpPr>
        <p:spPr>
          <a:xfrm>
            <a:off x="7573621" y="2684878"/>
            <a:ext cx="690084" cy="609523"/>
          </a:xfrm>
          <a:prstGeom prst="flowChartMagneticDisk">
            <a:avLst/>
          </a:prstGeom>
          <a:solidFill>
            <a:srgbClr val="CFE2F3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Service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4506509" y="2636025"/>
            <a:ext cx="10578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Runtime Config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5613175" y="263602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PackageReference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5613175" y="295203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 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7511825" y="2043650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Executor Service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5693975" y="1684940"/>
            <a:ext cx="13731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NewDeploy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5845327" y="1756003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5845327" y="1971114"/>
            <a:ext cx="474000" cy="26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Code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6377702" y="1756003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6377702" y="1971114"/>
            <a:ext cx="474000" cy="26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Code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7511825" y="1436772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Router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3949175" y="1685940"/>
            <a:ext cx="16641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PoolManager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4031040" y="1907145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4547312" y="1907145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5062503" y="1907145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5303347" y="1209612"/>
            <a:ext cx="877800" cy="312000"/>
          </a:xfrm>
          <a:prstGeom prst="roundRect">
            <a:avLst>
              <a:gd fmla="val 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 Trigger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6261722" y="1209612"/>
            <a:ext cx="877800" cy="312000"/>
          </a:xfrm>
          <a:prstGeom prst="roundRect">
            <a:avLst>
              <a:gd fmla="val 0" name="adj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 Trigger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5303347" y="855759"/>
            <a:ext cx="877800" cy="312000"/>
          </a:xfrm>
          <a:prstGeom prst="roundRect">
            <a:avLst>
              <a:gd fmla="val 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NATS Trigger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6261722" y="855759"/>
            <a:ext cx="877800" cy="312000"/>
          </a:xfrm>
          <a:prstGeom prst="roundRect">
            <a:avLst>
              <a:gd fmla="val 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Kafka Trigger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4344972" y="855759"/>
            <a:ext cx="877800" cy="312000"/>
          </a:xfrm>
          <a:prstGeom prst="roundRect">
            <a:avLst>
              <a:gd fmla="val 0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AzureQS Trigger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7511825" y="838585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MQTrigger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20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0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Fission &lt;&gt; Keda Integration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61" name="Google Shape;461;p20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462" name="Google Shape;462;p20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20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" name="Google Shape;464;p20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465" name="Google Shape;465;p20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13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467" name="Google Shape;467;p20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8" name="Google Shape;468;p20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469" name="Google Shape;469;p20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0" name="Google Shape;470;p20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471" name="Google Shape;471;p20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472" name="Google Shape;472;p20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3" name="Google Shape;473;p20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74" name="Google Shape;474;p20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20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76" name="Google Shape;476;p20"/>
          <p:cNvGrpSpPr/>
          <p:nvPr/>
        </p:nvGrpSpPr>
        <p:grpSpPr>
          <a:xfrm>
            <a:off x="893023" y="1014361"/>
            <a:ext cx="7612703" cy="3558145"/>
            <a:chOff x="893023" y="1014361"/>
            <a:chExt cx="7612703" cy="3558145"/>
          </a:xfrm>
        </p:grpSpPr>
        <p:pic>
          <p:nvPicPr>
            <p:cNvPr id="477" name="Google Shape;477;p2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226836" y="1303586"/>
              <a:ext cx="498146" cy="1281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p20"/>
            <p:cNvPicPr preferRelativeResize="0"/>
            <p:nvPr/>
          </p:nvPicPr>
          <p:blipFill rotWithShape="1">
            <a:blip r:embed="rId14">
              <a:alphaModFix/>
            </a:blip>
            <a:srcRect b="27937" l="0" r="0" t="25395"/>
            <a:stretch/>
          </p:blipFill>
          <p:spPr>
            <a:xfrm>
              <a:off x="6180433" y="4296722"/>
              <a:ext cx="590957" cy="275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9" name="Google Shape;479;p2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678573" y="1464576"/>
              <a:ext cx="498146" cy="2043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2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866059" y="1014361"/>
              <a:ext cx="314372" cy="289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p2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994442" y="1734533"/>
              <a:ext cx="498149" cy="2467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20"/>
            <p:cNvPicPr preferRelativeResize="0"/>
            <p:nvPr/>
          </p:nvPicPr>
          <p:blipFill rotWithShape="1">
            <a:blip r:embed="rId18">
              <a:alphaModFix/>
            </a:blip>
            <a:srcRect b="15925" l="7206" r="54803" t="27197"/>
            <a:stretch/>
          </p:blipFill>
          <p:spPr>
            <a:xfrm>
              <a:off x="8063440" y="3173238"/>
              <a:ext cx="339519" cy="289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3" name="Google Shape;483;p20"/>
            <p:cNvPicPr preferRelativeResize="0"/>
            <p:nvPr/>
          </p:nvPicPr>
          <p:blipFill rotWithShape="1">
            <a:blip r:embed="rId19">
              <a:alphaModFix/>
            </a:blip>
            <a:srcRect b="15924" l="5831" r="6877" t="5814"/>
            <a:stretch/>
          </p:blipFill>
          <p:spPr>
            <a:xfrm>
              <a:off x="8055321" y="2769457"/>
              <a:ext cx="355754" cy="289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2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376599" y="3791294"/>
              <a:ext cx="498146" cy="165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20"/>
            <p:cNvPicPr preferRelativeResize="0"/>
            <p:nvPr/>
          </p:nvPicPr>
          <p:blipFill rotWithShape="1">
            <a:blip r:embed="rId21">
              <a:alphaModFix/>
            </a:blip>
            <a:srcRect b="7936" l="7978" r="7505" t="7360"/>
            <a:stretch/>
          </p:blipFill>
          <p:spPr>
            <a:xfrm>
              <a:off x="7874745" y="3524557"/>
              <a:ext cx="314368" cy="315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6" name="Google Shape;486;p2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771392" y="3956486"/>
              <a:ext cx="630983" cy="340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2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874736" y="2290154"/>
              <a:ext cx="630990" cy="3205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2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460027" y="2019344"/>
              <a:ext cx="729085" cy="1594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2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350242" y="2285365"/>
              <a:ext cx="729086" cy="72956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0" name="Google Shape;490;p20"/>
            <p:cNvCxnSpPr>
              <a:stCxn id="489" idx="3"/>
              <a:endCxn id="480" idx="2"/>
            </p:cNvCxnSpPr>
            <p:nvPr/>
          </p:nvCxnSpPr>
          <p:spPr>
            <a:xfrm flipH="1" rot="10800000">
              <a:off x="5079328" y="1303446"/>
              <a:ext cx="943800" cy="13467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1" name="Google Shape;491;p20"/>
            <p:cNvCxnSpPr>
              <a:stCxn id="489" idx="3"/>
              <a:endCxn id="477" idx="2"/>
            </p:cNvCxnSpPr>
            <p:nvPr/>
          </p:nvCxnSpPr>
          <p:spPr>
            <a:xfrm flipH="1" rot="10800000">
              <a:off x="5079328" y="1431846"/>
              <a:ext cx="1396500" cy="12183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p20"/>
            <p:cNvCxnSpPr>
              <a:stCxn id="489" idx="3"/>
              <a:endCxn id="479" idx="1"/>
            </p:cNvCxnSpPr>
            <p:nvPr/>
          </p:nvCxnSpPr>
          <p:spPr>
            <a:xfrm flipH="1" rot="10800000">
              <a:off x="5079328" y="1566846"/>
              <a:ext cx="1599300" cy="10833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p20"/>
            <p:cNvCxnSpPr>
              <a:stCxn id="489" idx="3"/>
              <a:endCxn id="481" idx="1"/>
            </p:cNvCxnSpPr>
            <p:nvPr/>
          </p:nvCxnSpPr>
          <p:spPr>
            <a:xfrm flipH="1" rot="10800000">
              <a:off x="5079328" y="1857846"/>
              <a:ext cx="1915200" cy="7923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4" name="Google Shape;494;p20"/>
            <p:cNvCxnSpPr>
              <a:stCxn id="489" idx="3"/>
              <a:endCxn id="488" idx="1"/>
            </p:cNvCxnSpPr>
            <p:nvPr/>
          </p:nvCxnSpPr>
          <p:spPr>
            <a:xfrm flipH="1" rot="10800000">
              <a:off x="5079328" y="2099046"/>
              <a:ext cx="2380800" cy="5511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5" name="Google Shape;495;p20"/>
            <p:cNvCxnSpPr>
              <a:stCxn id="489" idx="3"/>
              <a:endCxn id="487" idx="1"/>
            </p:cNvCxnSpPr>
            <p:nvPr/>
          </p:nvCxnSpPr>
          <p:spPr>
            <a:xfrm flipH="1" rot="10800000">
              <a:off x="5079328" y="2450346"/>
              <a:ext cx="2795400" cy="1998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6" name="Google Shape;496;p20"/>
            <p:cNvCxnSpPr>
              <a:stCxn id="489" idx="3"/>
            </p:cNvCxnSpPr>
            <p:nvPr/>
          </p:nvCxnSpPr>
          <p:spPr>
            <a:xfrm>
              <a:off x="5079328" y="2650146"/>
              <a:ext cx="2691900" cy="1698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20"/>
            <p:cNvCxnSpPr>
              <a:stCxn id="489" idx="3"/>
              <a:endCxn id="482" idx="1"/>
            </p:cNvCxnSpPr>
            <p:nvPr/>
          </p:nvCxnSpPr>
          <p:spPr>
            <a:xfrm>
              <a:off x="5079328" y="2650146"/>
              <a:ext cx="2984100" cy="6678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20"/>
            <p:cNvCxnSpPr>
              <a:stCxn id="489" idx="3"/>
              <a:endCxn id="485" idx="1"/>
            </p:cNvCxnSpPr>
            <p:nvPr/>
          </p:nvCxnSpPr>
          <p:spPr>
            <a:xfrm>
              <a:off x="5079328" y="2650146"/>
              <a:ext cx="2795400" cy="10320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99" name="Google Shape;499;p20"/>
            <p:cNvCxnSpPr>
              <a:stCxn id="489" idx="3"/>
              <a:endCxn id="484" idx="0"/>
            </p:cNvCxnSpPr>
            <p:nvPr/>
          </p:nvCxnSpPr>
          <p:spPr>
            <a:xfrm>
              <a:off x="5079328" y="2650146"/>
              <a:ext cx="2546400" cy="11412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500" name="Google Shape;500;p20"/>
            <p:cNvCxnSpPr>
              <a:stCxn id="489" idx="3"/>
              <a:endCxn id="486" idx="0"/>
            </p:cNvCxnSpPr>
            <p:nvPr/>
          </p:nvCxnSpPr>
          <p:spPr>
            <a:xfrm>
              <a:off x="5079328" y="2650146"/>
              <a:ext cx="2007600" cy="13062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501" name="Google Shape;501;p20"/>
            <p:cNvCxnSpPr>
              <a:stCxn id="489" idx="3"/>
              <a:endCxn id="478" idx="0"/>
            </p:cNvCxnSpPr>
            <p:nvPr/>
          </p:nvCxnSpPr>
          <p:spPr>
            <a:xfrm>
              <a:off x="5079328" y="2650146"/>
              <a:ext cx="1396500" cy="1646700"/>
            </a:xfrm>
            <a:prstGeom prst="straightConnector1">
              <a:avLst/>
            </a:prstGeom>
            <a:noFill/>
            <a:ln cap="flat" cmpd="sng" w="9525">
              <a:solidFill>
                <a:srgbClr val="8E7CC3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502" name="Google Shape;502;p20"/>
            <p:cNvSpPr/>
            <p:nvPr/>
          </p:nvSpPr>
          <p:spPr>
            <a:xfrm>
              <a:off x="893023" y="1305900"/>
              <a:ext cx="2691900" cy="1646700"/>
            </a:xfrm>
            <a:prstGeom prst="wedgeRectCallout">
              <a:avLst>
                <a:gd fmla="val 70896" name="adj1"/>
                <a:gd fmla="val 28566" name="adj2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75" rotWithShape="0" algn="bl" dir="5400000" dist="19050">
                <a:srgbClr val="351C75">
                  <a:alpha val="1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ontserrat Medium"/>
                <a:buChar char="-"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Event Driven Autoscaling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ontserrat Medium"/>
                <a:buChar char="-"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Vendor Agnostic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ontserrat Medium"/>
                <a:buChar char="-"/>
              </a:pPr>
              <a:r>
                <a:rPr lang="en" sz="11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Built-in Scalars</a:t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4572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pic>
          <p:nvPicPr>
            <p:cNvPr id="503" name="Google Shape;503;p20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652648" y="3255763"/>
              <a:ext cx="1052502" cy="32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20">
              <a:hlinkClick r:id="rId27"/>
            </p:cNvPr>
            <p:cNvSpPr/>
            <p:nvPr/>
          </p:nvSpPr>
          <p:spPr>
            <a:xfrm>
              <a:off x="1088323" y="3891500"/>
              <a:ext cx="23013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sng" cap="none" strike="noStrike">
                  <a:solidFill>
                    <a:schemeClr val="hlink"/>
                  </a:solidFill>
                  <a:latin typeface="Montserrat"/>
                  <a:ea typeface="Montserrat"/>
                  <a:cs typeface="Montserrat"/>
                  <a:sym typeface="Montserrat"/>
                  <a:hlinkClick r:id="rId28"/>
                </a:rPr>
                <a:t>https://github.com/kedacore/keda</a:t>
              </a:r>
              <a:endParaRPr b="0" i="0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g3bc5ecf8b8a_0_0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3bc5ecf8b8a_0_0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Creating Keda Connector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12" name="Google Shape;512;g3bc5ecf8b8a_0_0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513" name="Google Shape;513;g3bc5ecf8b8a_0_0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g3bc5ecf8b8a_0_0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5" name="Google Shape;515;g3bc5ecf8b8a_0_0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516" name="Google Shape;516;g3bc5ecf8b8a_0_0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g3bc5ecf8b8a_0_0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14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518" name="Google Shape;518;g3bc5ecf8b8a_0_0"/>
            <p:cNvPicPr preferRelativeResize="0"/>
            <p:nvPr/>
          </p:nvPicPr>
          <p:blipFill rotWithShape="1">
            <a:blip r:embed="rId6">
              <a:alphaModFix/>
            </a:blip>
            <a:srcRect b="17566" l="7137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19" name="Google Shape;519;g3bc5ecf8b8a_0_0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520" name="Google Shape;520;g3bc5ecf8b8a_0_0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1" name="Google Shape;521;g3bc5ecf8b8a_0_0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522" name="Google Shape;522;g3bc5ecf8b8a_0_0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523" name="Google Shape;523;g3bc5ecf8b8a_0_0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4" name="Google Shape;524;g3bc5ecf8b8a_0_0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525" name="Google Shape;525;g3bc5ecf8b8a_0_0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6" name="Google Shape;526;g3bc5ecf8b8a_0_0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527" name="Google Shape;527;g3bc5ecf8b8a_0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45425" y="724925"/>
            <a:ext cx="5646825" cy="395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g3bc5ecf8b8a_0_73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3bc5ecf8b8a_0_73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Kafka Keda Connector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35" name="Google Shape;535;g3bc5ecf8b8a_0_73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536" name="Google Shape;536;g3bc5ecf8b8a_0_73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g3bc5ecf8b8a_0_73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8" name="Google Shape;538;g3bc5ecf8b8a_0_73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539" name="Google Shape;539;g3bc5ecf8b8a_0_73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g3bc5ecf8b8a_0_73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15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541" name="Google Shape;541;g3bc5ecf8b8a_0_73"/>
            <p:cNvPicPr preferRelativeResize="0"/>
            <p:nvPr/>
          </p:nvPicPr>
          <p:blipFill rotWithShape="1">
            <a:blip r:embed="rId6">
              <a:alphaModFix/>
            </a:blip>
            <a:srcRect b="17566" l="7137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42" name="Google Shape;542;g3bc5ecf8b8a_0_73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543" name="Google Shape;543;g3bc5ecf8b8a_0_73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4" name="Google Shape;544;g3bc5ecf8b8a_0_73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545" name="Google Shape;545;g3bc5ecf8b8a_0_73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546" name="Google Shape;546;g3bc5ecf8b8a_0_73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7" name="Google Shape;547;g3bc5ecf8b8a_0_73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548" name="Google Shape;548;g3bc5ecf8b8a_0_73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9" name="Google Shape;549;g3bc5ecf8b8a_0_73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550" name="Google Shape;550;g3bc5ecf8b8a_0_7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97800" y="819263"/>
            <a:ext cx="5609400" cy="39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bc53ef5382_0_0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bc53ef5382_0_0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MQ Trigger Flow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8" name="Google Shape;558;g3bc53ef5382_0_0"/>
          <p:cNvSpPr/>
          <p:nvPr/>
        </p:nvSpPr>
        <p:spPr>
          <a:xfrm>
            <a:off x="-48425" y="780225"/>
            <a:ext cx="40581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highlight>
                <a:srgbClr val="E5E5E5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fission mqt </a:t>
            </a:r>
            <a:r>
              <a:rPr b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--name kafka-trigger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--function hello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--mqtype kafka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--topic my-topic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--mqtkind keda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--resptopic response-topic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--errortopic error-topic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--maxretries 3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--metadata bootstrapServers=kafka-broker:9092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--metadata consumerGroup=fission-group \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100">
                <a:solidFill>
                  <a:srgbClr val="1A1A1A"/>
                </a:solidFill>
                <a:highlight>
                  <a:srgbClr val="E5E5E5"/>
                </a:highlight>
                <a:latin typeface="Consolas"/>
                <a:ea typeface="Consolas"/>
                <a:cs typeface="Consolas"/>
                <a:sym typeface="Consolas"/>
              </a:rPr>
              <a:t>--secret kafka-secret</a:t>
            </a:r>
            <a:endParaRPr sz="1100">
              <a:solidFill>
                <a:srgbClr val="1A1A1A"/>
              </a:solidFill>
              <a:highlight>
                <a:srgbClr val="E5E5E5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g3bc53ef5382_0_0">
            <a:hlinkClick r:id="rId4"/>
          </p:cNvPr>
          <p:cNvSpPr/>
          <p:nvPr/>
        </p:nvSpPr>
        <p:spPr>
          <a:xfrm>
            <a:off x="427600" y="3599556"/>
            <a:ext cx="3822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60" name="Google Shape;560;g3bc53ef5382_0_0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561" name="Google Shape;561;g3bc53ef5382_0_0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g3bc53ef5382_0_0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3" name="Google Shape;563;g3bc53ef5382_0_0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564" name="Google Shape;564;g3bc53ef5382_0_0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g3bc53ef5382_0_0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16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566" name="Google Shape;566;g3bc53ef5382_0_0"/>
            <p:cNvPicPr preferRelativeResize="0"/>
            <p:nvPr/>
          </p:nvPicPr>
          <p:blipFill rotWithShape="1">
            <a:blip r:embed="rId7">
              <a:alphaModFix/>
            </a:blip>
            <a:srcRect b="17566" l="7137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7" name="Google Shape;567;g3bc53ef5382_0_0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568" name="Google Shape;568;g3bc53ef5382_0_0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9" name="Google Shape;569;g3bc53ef5382_0_0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570" name="Google Shape;570;g3bc53ef5382_0_0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571" name="Google Shape;571;g3bc53ef5382_0_0">
                <a:hlinkClick r:id="rId10"/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2" name="Google Shape;572;g3bc53ef5382_0_0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573" name="Google Shape;573;g3bc53ef5382_0_0">
              <a:hlinkClick r:id="rId12"/>
            </p:cNvPr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574;g3bc53ef5382_0_0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575" name="Google Shape;575;g3bc53ef5382_0_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67000" y="886163"/>
            <a:ext cx="5487475" cy="33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g3bc5ecf8b8a_0_96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bc5ecf8b8a_0_96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Metrics / Monitoring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83" name="Google Shape;583;g3bc5ecf8b8a_0_96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584" name="Google Shape;584;g3bc5ecf8b8a_0_96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g3bc5ecf8b8a_0_96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6" name="Google Shape;586;g3bc5ecf8b8a_0_96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587" name="Google Shape;587;g3bc5ecf8b8a_0_96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g3bc5ecf8b8a_0_96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17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589" name="Google Shape;589;g3bc5ecf8b8a_0_96"/>
            <p:cNvPicPr preferRelativeResize="0"/>
            <p:nvPr/>
          </p:nvPicPr>
          <p:blipFill rotWithShape="1">
            <a:blip r:embed="rId6">
              <a:alphaModFix/>
            </a:blip>
            <a:srcRect b="17566" l="7137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90" name="Google Shape;590;g3bc5ecf8b8a_0_96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591" name="Google Shape;591;g3bc5ecf8b8a_0_96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" name="Google Shape;592;g3bc5ecf8b8a_0_96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593" name="Google Shape;593;g3bc5ecf8b8a_0_96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594" name="Google Shape;594;g3bc5ecf8b8a_0_96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5" name="Google Shape;595;g3bc5ecf8b8a_0_96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596" name="Google Shape;596;g3bc5ecf8b8a_0_96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g3bc5ecf8b8a_0_96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aphicFrame>
        <p:nvGraphicFramePr>
          <p:cNvPr id="598" name="Google Shape;598;g3bc5ecf8b8a_0_96"/>
          <p:cNvGraphicFramePr/>
          <p:nvPr/>
        </p:nvGraphicFramePr>
        <p:xfrm>
          <a:off x="863675" y="10586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8F7F6"/>
                </a:solidFill>
                <a:tableStyleId>{D278F3C7-45EE-43AC-994A-97199C10CD50}</a:tableStyleId>
              </a:tblPr>
              <a:tblGrid>
                <a:gridCol w="3274325"/>
                <a:gridCol w="4339325"/>
              </a:tblGrid>
              <a:tr h="29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Metric</a:t>
                      </a:r>
                      <a:endParaRPr b="1"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78425" marR="91425" marL="91425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b="1"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78425" marR="91425" marL="91425" anchor="b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fission_mqt_subscriptions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number of active subscriptions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fission_mqt_messages_processed_total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number of messages processed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fission_mqt_message_lag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messages waiting to be processed per topic/partition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fission_mqt_status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 of triggers (1 if processing, 0 otherwise)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fission_mqt_inprocess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A1A1A"/>
                          </a:solidFill>
                          <a:highlight>
                            <a:srgbClr val="F8F7F6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number of MQTs in active processing</a:t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A1A1A"/>
                        </a:solidFill>
                        <a:highlight>
                          <a:srgbClr val="F8F7F6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8425" marB="78425" marR="91425" marL="91425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26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6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</a:t>
            </a: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xample </a:t>
            </a:r>
            <a:r>
              <a:rPr lang="en" sz="2000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usecase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226750" y="2100475"/>
            <a:ext cx="29664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6 functions covering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 function for UI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Function for MQT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Reading/Writing to DB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Multiple Languages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7" name="Google Shape;6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1096" y="1141395"/>
            <a:ext cx="5595475" cy="287024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6">
            <a:hlinkClick r:id="rId5"/>
          </p:cNvPr>
          <p:cNvSpPr/>
          <p:nvPr/>
        </p:nvSpPr>
        <p:spPr>
          <a:xfrm>
            <a:off x="2986463" y="4295075"/>
            <a:ext cx="3180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https://github.com/fission/fission-kafka-sample</a:t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09" name="Google Shape;609;p26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610" name="Google Shape;610;p26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" name="Google Shape;611;p26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2" name="Google Shape;612;p26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613" name="Google Shape;613;p26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6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18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615" name="Google Shape;615;p26"/>
            <p:cNvPicPr preferRelativeResize="0"/>
            <p:nvPr/>
          </p:nvPicPr>
          <p:blipFill rotWithShape="1">
            <a:blip r:embed="rId9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6" name="Google Shape;616;p26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617" name="Google Shape;617;p26">
                <a:hlinkClick r:id="rId10"/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" name="Google Shape;618;p26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619" name="Google Shape;619;p26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620" name="Google Shape;620;p26">
                <a:hlinkClick r:id="rId12"/>
              </p:cNvPr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1" name="Google Shape;621;p26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622" name="Google Shape;622;p26">
              <a:hlinkClick r:id="rId14"/>
            </p:cNvPr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26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g3bc5ecf8b8a_0_146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g3bc5ecf8b8a_0_146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</a:t>
            </a: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xample </a:t>
            </a:r>
            <a:r>
              <a:rPr lang="en" sz="2000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usecase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1" name="Google Shape;631;g3bc5ecf8b8a_0_146"/>
          <p:cNvSpPr/>
          <p:nvPr/>
        </p:nvSpPr>
        <p:spPr>
          <a:xfrm>
            <a:off x="226750" y="2100475"/>
            <a:ext cx="29664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6 functions covering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 function for UI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Function for MQT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Reading/Writing to DB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Multiple Languages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2" name="Google Shape;632;g3bc5ecf8b8a_0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1096" y="1141395"/>
            <a:ext cx="5595475" cy="287024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g3bc5ecf8b8a_0_146">
            <a:hlinkClick r:id="rId5"/>
          </p:cNvPr>
          <p:cNvSpPr/>
          <p:nvPr/>
        </p:nvSpPr>
        <p:spPr>
          <a:xfrm>
            <a:off x="2986463" y="4295075"/>
            <a:ext cx="3180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https://github.com/fission/fission-kafka-sample</a:t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4" name="Google Shape;634;g3bc5ecf8b8a_0_146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635" name="Google Shape;635;g3bc5ecf8b8a_0_146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6" name="Google Shape;636;g3bc5ecf8b8a_0_146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7" name="Google Shape;637;g3bc5ecf8b8a_0_146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638" name="Google Shape;638;g3bc5ecf8b8a_0_146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g3bc5ecf8b8a_0_146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18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640" name="Google Shape;640;g3bc5ecf8b8a_0_146"/>
            <p:cNvPicPr preferRelativeResize="0"/>
            <p:nvPr/>
          </p:nvPicPr>
          <p:blipFill rotWithShape="1">
            <a:blip r:embed="rId9">
              <a:alphaModFix/>
            </a:blip>
            <a:srcRect b="17566" l="7137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41" name="Google Shape;641;g3bc5ecf8b8a_0_146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642" name="Google Shape;642;g3bc5ecf8b8a_0_146">
                <a:hlinkClick r:id="rId10"/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3" name="Google Shape;643;g3bc5ecf8b8a_0_146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644" name="Google Shape;644;g3bc5ecf8b8a_0_146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645" name="Google Shape;645;g3bc5ecf8b8a_0_146">
                <a:hlinkClick r:id="rId12"/>
              </p:cNvPr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6" name="Google Shape;646;g3bc5ecf8b8a_0_146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647" name="Google Shape;647;g3bc5ecf8b8a_0_146">
              <a:hlinkClick r:id="rId14"/>
            </p:cNvPr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g3bc5ecf8b8a_0_146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5" name="Google Shape;655;p21"/>
          <p:cNvGrpSpPr/>
          <p:nvPr/>
        </p:nvGrpSpPr>
        <p:grpSpPr>
          <a:xfrm>
            <a:off x="-6" y="1923263"/>
            <a:ext cx="4622100" cy="1306500"/>
            <a:chOff x="-6" y="1759757"/>
            <a:chExt cx="4622100" cy="1306500"/>
          </a:xfrm>
        </p:grpSpPr>
        <p:sp>
          <p:nvSpPr>
            <p:cNvPr id="656" name="Google Shape;656;p21"/>
            <p:cNvSpPr/>
            <p:nvPr/>
          </p:nvSpPr>
          <p:spPr>
            <a:xfrm>
              <a:off x="-6" y="2093550"/>
              <a:ext cx="4622100" cy="67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28588" rotWithShape="0" algn="bl" dir="5880000" dist="28575">
                <a:srgbClr val="351C75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57" name="Google Shape;65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167918" y="1759757"/>
              <a:ext cx="1317525" cy="1306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21"/>
            <p:cNvSpPr/>
            <p:nvPr/>
          </p:nvSpPr>
          <p:spPr>
            <a:xfrm>
              <a:off x="2559075" y="2211550"/>
              <a:ext cx="1830300" cy="4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674EA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Demo</a:t>
              </a:r>
              <a:endParaRPr b="0" i="0" sz="28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23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3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Fission specs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6" name="Google Shape;666;p23"/>
          <p:cNvSpPr/>
          <p:nvPr/>
        </p:nvSpPr>
        <p:spPr>
          <a:xfrm>
            <a:off x="226750" y="1482225"/>
            <a:ext cx="40581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For better source control, CI/CD 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You can apply with Kubectl too!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fission spec validate; fission spec apply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7" name="Google Shape;667;p23">
            <a:hlinkClick r:id="rId4"/>
          </p:cNvPr>
          <p:cNvSpPr/>
          <p:nvPr/>
        </p:nvSpPr>
        <p:spPr>
          <a:xfrm>
            <a:off x="427600" y="3599556"/>
            <a:ext cx="3822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GitHub Action for Fission : </a:t>
            </a:r>
            <a:r>
              <a:rPr b="0" i="0" lang="en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https://github.com/fission/action</a:t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68" name="Google Shape;668;p23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669" name="Google Shape;669;p23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23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1" name="Google Shape;671;p23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672" name="Google Shape;672;p23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23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14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674" name="Google Shape;674;p23"/>
            <p:cNvPicPr preferRelativeResize="0"/>
            <p:nvPr/>
          </p:nvPicPr>
          <p:blipFill rotWithShape="1">
            <a:blip r:embed="rId8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5" name="Google Shape;675;p23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676" name="Google Shape;676;p23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7" name="Google Shape;677;p23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678" name="Google Shape;678;p23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679" name="Google Shape;679;p23">
                <a:hlinkClick r:id="rId11"/>
              </p:cNvPr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0" name="Google Shape;680;p23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681" name="Google Shape;681;p23">
              <a:hlinkClick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2" name="Google Shape;682;p23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83" name="Google Shape;683;p23"/>
          <p:cNvGrpSpPr/>
          <p:nvPr/>
        </p:nvGrpSpPr>
        <p:grpSpPr>
          <a:xfrm>
            <a:off x="5105778" y="1160963"/>
            <a:ext cx="3300858" cy="3087795"/>
            <a:chOff x="4920250" y="987475"/>
            <a:chExt cx="3671700" cy="3434700"/>
          </a:xfrm>
        </p:grpSpPr>
        <p:sp>
          <p:nvSpPr>
            <p:cNvPr id="684" name="Google Shape;684;p23"/>
            <p:cNvSpPr/>
            <p:nvPr/>
          </p:nvSpPr>
          <p:spPr>
            <a:xfrm>
              <a:off x="4920250" y="987475"/>
              <a:ext cx="3671700" cy="343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28588" rotWithShape="0" algn="bl" dir="5880000" dist="28575">
                <a:srgbClr val="351C75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5" name="Google Shape;685;p2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078025" y="1081462"/>
              <a:ext cx="3356150" cy="3246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27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27"/>
          <p:cNvSpPr/>
          <p:nvPr/>
        </p:nvSpPr>
        <p:spPr>
          <a:xfrm>
            <a:off x="1280825" y="361125"/>
            <a:ext cx="659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Start open source contribution journey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2234063" y="1354550"/>
            <a:ext cx="4685400" cy="1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Start here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https://fission.io/docs/contributing/</a:t>
            </a:r>
            <a:endParaRPr u="non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Ask Questions on Slack 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Work with a friendly and helpful community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94" name="Google Shape;694;p27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695" name="Google Shape;695;p27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27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7" name="Google Shape;697;p27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698" name="Google Shape;698;p27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12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700" name="Google Shape;700;p27"/>
            <p:cNvPicPr preferRelativeResize="0"/>
            <p:nvPr/>
          </p:nvPicPr>
          <p:blipFill rotWithShape="1">
            <a:blip r:embed="rId7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27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702" name="Google Shape;702;p27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3" name="Google Shape;703;p27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704" name="Google Shape;704;p27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705" name="Google Shape;705;p27">
                <a:hlinkClick r:id="rId10"/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6" name="Google Shape;706;p27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707" name="Google Shape;707;p27">
              <a:hlinkClick r:id="rId12"/>
            </p:cNvPr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27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29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5" name="Google Shape;715;p29"/>
          <p:cNvGrpSpPr/>
          <p:nvPr/>
        </p:nvGrpSpPr>
        <p:grpSpPr>
          <a:xfrm>
            <a:off x="44" y="1923263"/>
            <a:ext cx="4622100" cy="1306500"/>
            <a:chOff x="44" y="1855832"/>
            <a:chExt cx="4622100" cy="1306500"/>
          </a:xfrm>
        </p:grpSpPr>
        <p:sp>
          <p:nvSpPr>
            <p:cNvPr id="716" name="Google Shape;716;p29"/>
            <p:cNvSpPr/>
            <p:nvPr/>
          </p:nvSpPr>
          <p:spPr>
            <a:xfrm>
              <a:off x="44" y="2189625"/>
              <a:ext cx="4622100" cy="67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28588" rotWithShape="0" algn="bl" dir="5880000" dist="28575">
                <a:srgbClr val="351C75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7" name="Google Shape;717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167968" y="1855832"/>
              <a:ext cx="1317525" cy="1306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29"/>
            <p:cNvSpPr/>
            <p:nvPr/>
          </p:nvSpPr>
          <p:spPr>
            <a:xfrm>
              <a:off x="1905000" y="2307625"/>
              <a:ext cx="2484300" cy="4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674EA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Questions?</a:t>
              </a:r>
              <a:endParaRPr b="0" i="0" sz="28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30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74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30"/>
          <p:cNvPicPr preferRelativeResize="0"/>
          <p:nvPr/>
        </p:nvPicPr>
        <p:blipFill rotWithShape="1">
          <a:blip r:embed="rId4">
            <a:alphaModFix/>
          </a:blip>
          <a:srcRect b="17566" l="7136" r="7069" t="15992"/>
          <a:stretch/>
        </p:blipFill>
        <p:spPr>
          <a:xfrm>
            <a:off x="3735400" y="2391325"/>
            <a:ext cx="1425275" cy="4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30"/>
          <p:cNvSpPr/>
          <p:nvPr/>
        </p:nvSpPr>
        <p:spPr>
          <a:xfrm>
            <a:off x="1568588" y="1514350"/>
            <a:ext cx="60165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" sz="38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</a:t>
            </a:r>
            <a:endParaRPr b="0" i="0" sz="38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727" name="Google Shape;727;p3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5530" y="3946092"/>
            <a:ext cx="154157" cy="1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0668" y="3947534"/>
            <a:ext cx="178675" cy="126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9" name="Google Shape;729;p30"/>
          <p:cNvGrpSpPr/>
          <p:nvPr/>
        </p:nvGrpSpPr>
        <p:grpSpPr>
          <a:xfrm>
            <a:off x="38" y="3307007"/>
            <a:ext cx="9153600" cy="1306500"/>
            <a:chOff x="38" y="3307007"/>
            <a:chExt cx="9153600" cy="1306500"/>
          </a:xfrm>
        </p:grpSpPr>
        <p:sp>
          <p:nvSpPr>
            <p:cNvPr id="730" name="Google Shape;730;p30"/>
            <p:cNvSpPr/>
            <p:nvPr/>
          </p:nvSpPr>
          <p:spPr>
            <a:xfrm>
              <a:off x="38" y="3640800"/>
              <a:ext cx="9153600" cy="67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28588" rotWithShape="0" algn="bl" dir="5880000" dist="28575">
                <a:srgbClr val="351C75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1" name="Google Shape;731;p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10800000">
              <a:off x="191418" y="3307007"/>
              <a:ext cx="1317525" cy="1306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32" name="Google Shape;732;p30"/>
            <p:cNvGrpSpPr/>
            <p:nvPr/>
          </p:nvGrpSpPr>
          <p:grpSpPr>
            <a:xfrm>
              <a:off x="5398630" y="3906329"/>
              <a:ext cx="1424520" cy="140041"/>
              <a:chOff x="5398630" y="3929408"/>
              <a:chExt cx="1424520" cy="140041"/>
            </a:xfrm>
          </p:grpSpPr>
          <p:sp>
            <p:nvSpPr>
              <p:cNvPr id="733" name="Google Shape;733;p30"/>
              <p:cNvSpPr/>
              <p:nvPr/>
            </p:nvSpPr>
            <p:spPr>
              <a:xfrm>
                <a:off x="5638450" y="3932575"/>
                <a:ext cx="1184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674EA7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fission-serverless</a:t>
                </a:r>
                <a:endParaRPr b="0" i="0" sz="1000" u="none" cap="none" strike="noStrike">
                  <a:solidFill>
                    <a:srgbClr val="674EA7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pic>
            <p:nvPicPr>
              <p:cNvPr id="734" name="Google Shape;734;p30"/>
              <p:cNvPicPr preferRelativeResize="0"/>
              <p:nvPr/>
            </p:nvPicPr>
            <p:blipFill rotWithShape="1">
              <a:blip r:embed="rId9">
                <a:alphaModFix/>
              </a:blip>
              <a:srcRect b="24539" l="24444" r="24449" t="22051"/>
              <a:stretch/>
            </p:blipFill>
            <p:spPr>
              <a:xfrm>
                <a:off x="5398630" y="3929408"/>
                <a:ext cx="178673" cy="1400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5" name="Google Shape;735;p30"/>
            <p:cNvGrpSpPr/>
            <p:nvPr/>
          </p:nvGrpSpPr>
          <p:grpSpPr>
            <a:xfrm>
              <a:off x="3896444" y="3889482"/>
              <a:ext cx="1264356" cy="173736"/>
              <a:chOff x="3896444" y="3929400"/>
              <a:chExt cx="1264356" cy="173736"/>
            </a:xfrm>
          </p:grpSpPr>
          <p:sp>
            <p:nvSpPr>
              <p:cNvPr id="736" name="Google Shape;736;p30"/>
              <p:cNvSpPr/>
              <p:nvPr/>
            </p:nvSpPr>
            <p:spPr>
              <a:xfrm>
                <a:off x="4135100" y="3949750"/>
                <a:ext cx="1025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674EA7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1000" u="none" cap="none" strike="noStrike">
                  <a:solidFill>
                    <a:srgbClr val="674EA7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pic>
            <p:nvPicPr>
              <p:cNvPr id="737" name="Google Shape;737;p3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896444" y="3929400"/>
                <a:ext cx="182880" cy="1737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8" name="Google Shape;738;p30"/>
            <p:cNvGrpSpPr/>
            <p:nvPr/>
          </p:nvGrpSpPr>
          <p:grpSpPr>
            <a:xfrm>
              <a:off x="2637035" y="3900375"/>
              <a:ext cx="1047153" cy="151950"/>
              <a:chOff x="2637035" y="3949750"/>
              <a:chExt cx="1047153" cy="151950"/>
            </a:xfrm>
          </p:grpSpPr>
          <p:sp>
            <p:nvSpPr>
              <p:cNvPr id="739" name="Google Shape;739;p30"/>
              <p:cNvSpPr/>
              <p:nvPr/>
            </p:nvSpPr>
            <p:spPr>
              <a:xfrm>
                <a:off x="2915288" y="3949750"/>
                <a:ext cx="7689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674EA7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1000" u="none" cap="none" strike="noStrike">
                  <a:solidFill>
                    <a:srgbClr val="674EA7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pic>
            <p:nvPicPr>
              <p:cNvPr id="740" name="Google Shape;740;p3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2637035" y="3951880"/>
                <a:ext cx="182874" cy="1498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12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12"/>
          <p:cNvSpPr/>
          <p:nvPr/>
        </p:nvSpPr>
        <p:spPr>
          <a:xfrm>
            <a:off x="3859650" y="2571750"/>
            <a:ext cx="32925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Function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8" name="Google Shape;748;p12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Execution Strategy: PoolManager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49" name="Google Shape;749;p12"/>
          <p:cNvSpPr/>
          <p:nvPr/>
        </p:nvSpPr>
        <p:spPr>
          <a:xfrm>
            <a:off x="507950" y="985900"/>
            <a:ext cx="34056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PoolManager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 pool of “warm” pods (Without the code)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One Pool per runtime/environment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No user code - code is loaded lazily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50" name="Google Shape;750;p12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751" name="Google Shape;751;p12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2" name="Google Shape;752;p12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3" name="Google Shape;753;p12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754" name="Google Shape;754;p12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12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18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756" name="Google Shape;756;p12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7" name="Google Shape;757;p12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758" name="Google Shape;758;p12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9" name="Google Shape;759;p12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760" name="Google Shape;760;p12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761" name="Google Shape;761;p12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2" name="Google Shape;762;p12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763" name="Google Shape;763;p12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p12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765" name="Google Shape;765;p12"/>
          <p:cNvGrpSpPr/>
          <p:nvPr/>
        </p:nvGrpSpPr>
        <p:grpSpPr>
          <a:xfrm>
            <a:off x="5613186" y="3333370"/>
            <a:ext cx="1510904" cy="1313770"/>
            <a:chOff x="5613968" y="2822393"/>
            <a:chExt cx="1650900" cy="1435500"/>
          </a:xfrm>
        </p:grpSpPr>
        <p:sp>
          <p:nvSpPr>
            <p:cNvPr id="766" name="Google Shape;766;p12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767" name="Google Shape;767;p12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768" name="Google Shape;768;p12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769" name="Google Shape;769;p12"/>
          <p:cNvSpPr/>
          <p:nvPr/>
        </p:nvSpPr>
        <p:spPr>
          <a:xfrm>
            <a:off x="3859652" y="3333370"/>
            <a:ext cx="1510800" cy="1313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0" name="Google Shape;770;p12"/>
          <p:cNvSpPr/>
          <p:nvPr/>
        </p:nvSpPr>
        <p:spPr>
          <a:xfrm>
            <a:off x="3949181" y="3933978"/>
            <a:ext cx="1331700" cy="437700"/>
          </a:xfrm>
          <a:prstGeom prst="roundRect">
            <a:avLst>
              <a:gd fmla="val 1386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+ Runtime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1" name="Google Shape;771;p12"/>
          <p:cNvSpPr/>
          <p:nvPr/>
        </p:nvSpPr>
        <p:spPr>
          <a:xfrm>
            <a:off x="3949169" y="3446198"/>
            <a:ext cx="1332000" cy="437700"/>
          </a:xfrm>
          <a:prstGeom prst="roundRect">
            <a:avLst>
              <a:gd fmla="val 1386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Dependencies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2" name="Google Shape;772;p12"/>
          <p:cNvSpPr/>
          <p:nvPr/>
        </p:nvSpPr>
        <p:spPr>
          <a:xfrm>
            <a:off x="7724620" y="3488819"/>
            <a:ext cx="961800" cy="11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Builder 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Compiles code &amp; creates a package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3" name="Google Shape;773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4497" y="2684880"/>
            <a:ext cx="392766" cy="29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3590" y="3031678"/>
            <a:ext cx="294577" cy="2945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5" name="Google Shape;775;p12"/>
          <p:cNvCxnSpPr>
            <a:endCxn id="774" idx="1"/>
          </p:cNvCxnSpPr>
          <p:nvPr/>
        </p:nvCxnSpPr>
        <p:spPr>
          <a:xfrm>
            <a:off x="8263890" y="2989665"/>
            <a:ext cx="209700" cy="18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6" name="Google Shape;776;p12"/>
          <p:cNvCxnSpPr>
            <a:endCxn id="772" idx="1"/>
          </p:cNvCxnSpPr>
          <p:nvPr/>
        </p:nvCxnSpPr>
        <p:spPr>
          <a:xfrm>
            <a:off x="7145320" y="4062869"/>
            <a:ext cx="579300" cy="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7" name="Google Shape;777;p12"/>
          <p:cNvCxnSpPr>
            <a:stCxn id="772" idx="0"/>
            <a:endCxn id="778" idx="3"/>
          </p:cNvCxnSpPr>
          <p:nvPr/>
        </p:nvCxnSpPr>
        <p:spPr>
          <a:xfrm flipH="1" rot="5400000">
            <a:off x="7964920" y="3248219"/>
            <a:ext cx="194400" cy="286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8" name="Google Shape;778;p12"/>
          <p:cNvSpPr/>
          <p:nvPr/>
        </p:nvSpPr>
        <p:spPr>
          <a:xfrm>
            <a:off x="7573621" y="2684878"/>
            <a:ext cx="690084" cy="609523"/>
          </a:xfrm>
          <a:prstGeom prst="flowChartMagneticDisk">
            <a:avLst/>
          </a:prstGeom>
          <a:solidFill>
            <a:srgbClr val="CFE2F3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Service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2"/>
          <p:cNvSpPr/>
          <p:nvPr/>
        </p:nvSpPr>
        <p:spPr>
          <a:xfrm>
            <a:off x="4506509" y="2636025"/>
            <a:ext cx="10578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Runtime Config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0" name="Google Shape;780;p12"/>
          <p:cNvSpPr/>
          <p:nvPr/>
        </p:nvSpPr>
        <p:spPr>
          <a:xfrm>
            <a:off x="5613175" y="263602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PackageReference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1" name="Google Shape;781;p12"/>
          <p:cNvSpPr/>
          <p:nvPr/>
        </p:nvSpPr>
        <p:spPr>
          <a:xfrm>
            <a:off x="5613175" y="295203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 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2" name="Google Shape;782;p12"/>
          <p:cNvSpPr/>
          <p:nvPr/>
        </p:nvSpPr>
        <p:spPr>
          <a:xfrm>
            <a:off x="3859650" y="1810125"/>
            <a:ext cx="18078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PoolManager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3" name="Google Shape;783;p12"/>
          <p:cNvSpPr/>
          <p:nvPr/>
        </p:nvSpPr>
        <p:spPr>
          <a:xfrm>
            <a:off x="3972014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4" name="Google Shape;784;p12"/>
          <p:cNvSpPr/>
          <p:nvPr/>
        </p:nvSpPr>
        <p:spPr>
          <a:xfrm>
            <a:off x="4530139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5" name="Google Shape;785;p12"/>
          <p:cNvSpPr/>
          <p:nvPr/>
        </p:nvSpPr>
        <p:spPr>
          <a:xfrm>
            <a:off x="5088264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6" name="Google Shape;786;p12"/>
          <p:cNvSpPr/>
          <p:nvPr/>
        </p:nvSpPr>
        <p:spPr>
          <a:xfrm>
            <a:off x="7511825" y="2043650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Executor Service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13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13"/>
          <p:cNvSpPr/>
          <p:nvPr/>
        </p:nvSpPr>
        <p:spPr>
          <a:xfrm>
            <a:off x="3859650" y="2571750"/>
            <a:ext cx="32925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Function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4" name="Google Shape;794;p13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Execution Strategy: PoolManager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5" name="Google Shape;795;p13"/>
          <p:cNvSpPr/>
          <p:nvPr/>
        </p:nvSpPr>
        <p:spPr>
          <a:xfrm>
            <a:off x="507950" y="985900"/>
            <a:ext cx="3405600" cy="25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PoolManager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On request - one pod is taken out of “pool”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Code is loaded and initialized (Called Specialization)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Response is returned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Pool is replenished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96" name="Google Shape;796;p13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797" name="Google Shape;797;p13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13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9" name="Google Shape;799;p13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800" name="Google Shape;800;p13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13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19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802" name="Google Shape;802;p13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13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804" name="Google Shape;804;p13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5" name="Google Shape;805;p13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806" name="Google Shape;806;p13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807" name="Google Shape;807;p13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8" name="Google Shape;808;p13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809" name="Google Shape;809;p13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13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11" name="Google Shape;811;p13"/>
          <p:cNvGrpSpPr/>
          <p:nvPr/>
        </p:nvGrpSpPr>
        <p:grpSpPr>
          <a:xfrm>
            <a:off x="5613186" y="3333370"/>
            <a:ext cx="1510904" cy="1313770"/>
            <a:chOff x="5613968" y="2822393"/>
            <a:chExt cx="1650900" cy="1435500"/>
          </a:xfrm>
        </p:grpSpPr>
        <p:sp>
          <p:nvSpPr>
            <p:cNvPr id="812" name="Google Shape;812;p13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813" name="Google Shape;813;p13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814" name="Google Shape;814;p13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815" name="Google Shape;815;p13"/>
          <p:cNvSpPr/>
          <p:nvPr/>
        </p:nvSpPr>
        <p:spPr>
          <a:xfrm>
            <a:off x="3859652" y="3333370"/>
            <a:ext cx="1510800" cy="1313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6" name="Google Shape;816;p13"/>
          <p:cNvSpPr/>
          <p:nvPr/>
        </p:nvSpPr>
        <p:spPr>
          <a:xfrm>
            <a:off x="3949181" y="3933978"/>
            <a:ext cx="1331700" cy="437700"/>
          </a:xfrm>
          <a:prstGeom prst="roundRect">
            <a:avLst>
              <a:gd fmla="val 1386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+ Runtime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7" name="Google Shape;817;p13"/>
          <p:cNvSpPr/>
          <p:nvPr/>
        </p:nvSpPr>
        <p:spPr>
          <a:xfrm>
            <a:off x="3949169" y="3446198"/>
            <a:ext cx="1332000" cy="437700"/>
          </a:xfrm>
          <a:prstGeom prst="roundRect">
            <a:avLst>
              <a:gd fmla="val 1386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Dependencies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8" name="Google Shape;818;p13"/>
          <p:cNvSpPr/>
          <p:nvPr/>
        </p:nvSpPr>
        <p:spPr>
          <a:xfrm>
            <a:off x="7724620" y="3488819"/>
            <a:ext cx="961800" cy="11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Builder 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Compiles code &amp; creates a package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9" name="Google Shape;819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4497" y="2684880"/>
            <a:ext cx="392766" cy="29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3590" y="3031678"/>
            <a:ext cx="294577" cy="2945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1" name="Google Shape;821;p13"/>
          <p:cNvCxnSpPr>
            <a:endCxn id="820" idx="1"/>
          </p:cNvCxnSpPr>
          <p:nvPr/>
        </p:nvCxnSpPr>
        <p:spPr>
          <a:xfrm>
            <a:off x="8263890" y="2989665"/>
            <a:ext cx="209700" cy="18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2" name="Google Shape;822;p13"/>
          <p:cNvCxnSpPr>
            <a:endCxn id="818" idx="1"/>
          </p:cNvCxnSpPr>
          <p:nvPr/>
        </p:nvCxnSpPr>
        <p:spPr>
          <a:xfrm>
            <a:off x="7145320" y="4062869"/>
            <a:ext cx="579300" cy="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3" name="Google Shape;823;p13"/>
          <p:cNvCxnSpPr>
            <a:stCxn id="818" idx="0"/>
            <a:endCxn id="824" idx="3"/>
          </p:cNvCxnSpPr>
          <p:nvPr/>
        </p:nvCxnSpPr>
        <p:spPr>
          <a:xfrm flipH="1" rot="5400000">
            <a:off x="7964920" y="3248219"/>
            <a:ext cx="194400" cy="286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4" name="Google Shape;824;p13"/>
          <p:cNvSpPr/>
          <p:nvPr/>
        </p:nvSpPr>
        <p:spPr>
          <a:xfrm>
            <a:off x="7573621" y="2684878"/>
            <a:ext cx="690084" cy="609523"/>
          </a:xfrm>
          <a:prstGeom prst="flowChartMagneticDisk">
            <a:avLst/>
          </a:prstGeom>
          <a:solidFill>
            <a:srgbClr val="CFE2F3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Service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3"/>
          <p:cNvSpPr/>
          <p:nvPr/>
        </p:nvSpPr>
        <p:spPr>
          <a:xfrm>
            <a:off x="4506509" y="2636025"/>
            <a:ext cx="10578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Runtime Config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6" name="Google Shape;826;p13"/>
          <p:cNvSpPr/>
          <p:nvPr/>
        </p:nvSpPr>
        <p:spPr>
          <a:xfrm>
            <a:off x="5613175" y="263602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PackageReference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7" name="Google Shape;827;p13"/>
          <p:cNvSpPr/>
          <p:nvPr/>
        </p:nvSpPr>
        <p:spPr>
          <a:xfrm>
            <a:off x="5613175" y="295203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 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8" name="Google Shape;828;p13"/>
          <p:cNvSpPr/>
          <p:nvPr/>
        </p:nvSpPr>
        <p:spPr>
          <a:xfrm>
            <a:off x="3859650" y="1810125"/>
            <a:ext cx="18078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PoolManager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9" name="Google Shape;829;p13"/>
          <p:cNvSpPr/>
          <p:nvPr/>
        </p:nvSpPr>
        <p:spPr>
          <a:xfrm>
            <a:off x="3972014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0" name="Google Shape;830;p13"/>
          <p:cNvSpPr/>
          <p:nvPr/>
        </p:nvSpPr>
        <p:spPr>
          <a:xfrm>
            <a:off x="4530139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1" name="Google Shape;831;p13"/>
          <p:cNvSpPr/>
          <p:nvPr/>
        </p:nvSpPr>
        <p:spPr>
          <a:xfrm>
            <a:off x="5088264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2" name="Google Shape;832;p13"/>
          <p:cNvSpPr/>
          <p:nvPr/>
        </p:nvSpPr>
        <p:spPr>
          <a:xfrm>
            <a:off x="7511825" y="2043650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Executor Service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3" name="Google Shape;833;p13"/>
          <p:cNvSpPr/>
          <p:nvPr/>
        </p:nvSpPr>
        <p:spPr>
          <a:xfrm>
            <a:off x="6082514" y="1544577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4" name="Google Shape;834;p13"/>
          <p:cNvSpPr/>
          <p:nvPr/>
        </p:nvSpPr>
        <p:spPr>
          <a:xfrm>
            <a:off x="6082514" y="1835888"/>
            <a:ext cx="474000" cy="26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Code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5" name="Google Shape;835;p13"/>
          <p:cNvSpPr/>
          <p:nvPr/>
        </p:nvSpPr>
        <p:spPr>
          <a:xfrm rot="-1065411">
            <a:off x="5276131" y="1238260"/>
            <a:ext cx="913836" cy="373046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3"/>
          <p:cNvSpPr/>
          <p:nvPr/>
        </p:nvSpPr>
        <p:spPr>
          <a:xfrm rot="-3239128">
            <a:off x="6935705" y="1854543"/>
            <a:ext cx="196942" cy="923393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3"/>
          <p:cNvSpPr/>
          <p:nvPr/>
        </p:nvSpPr>
        <p:spPr>
          <a:xfrm rot="10800000">
            <a:off x="6499980" y="928577"/>
            <a:ext cx="196800" cy="529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3"/>
          <p:cNvSpPr txBox="1"/>
          <p:nvPr/>
        </p:nvSpPr>
        <p:spPr>
          <a:xfrm>
            <a:off x="6673971" y="919958"/>
            <a:ext cx="6900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 Request</a:t>
            </a:r>
            <a:endParaRPr b="0" i="0" sz="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9" name="Google Shape;839;p13"/>
          <p:cNvSpPr/>
          <p:nvPr/>
        </p:nvSpPr>
        <p:spPr>
          <a:xfrm>
            <a:off x="7690125" y="647075"/>
            <a:ext cx="1138800" cy="826200"/>
          </a:xfrm>
          <a:prstGeom prst="cloudCallout">
            <a:avLst>
              <a:gd fmla="val -98835" name="adj1"/>
              <a:gd fmla="val 2981" name="adj2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Small latency</a:t>
            </a: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 request path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Google Shape;845;p14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14"/>
          <p:cNvSpPr/>
          <p:nvPr/>
        </p:nvSpPr>
        <p:spPr>
          <a:xfrm>
            <a:off x="3859650" y="2571750"/>
            <a:ext cx="32925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Function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7" name="Google Shape;847;p14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Execution Strategy: PoolManager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8" name="Google Shape;848;p14"/>
          <p:cNvSpPr/>
          <p:nvPr/>
        </p:nvSpPr>
        <p:spPr>
          <a:xfrm>
            <a:off x="507950" y="985900"/>
            <a:ext cx="2930100" cy="25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PoolManager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If more requests come for same pod - they are served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If no requests - the specialized pod is cleaned up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49" name="Google Shape;849;p14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850" name="Google Shape;850;p14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1" name="Google Shape;851;p14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2" name="Google Shape;852;p14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853" name="Google Shape;853;p14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14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20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855" name="Google Shape;855;p14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56" name="Google Shape;856;p14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857" name="Google Shape;857;p14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8" name="Google Shape;858;p14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859" name="Google Shape;859;p14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860" name="Google Shape;860;p14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1" name="Google Shape;861;p14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862" name="Google Shape;862;p14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14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64" name="Google Shape;864;p14"/>
          <p:cNvGrpSpPr/>
          <p:nvPr/>
        </p:nvGrpSpPr>
        <p:grpSpPr>
          <a:xfrm>
            <a:off x="5613186" y="3333370"/>
            <a:ext cx="1510904" cy="1313770"/>
            <a:chOff x="5613968" y="2822393"/>
            <a:chExt cx="1650900" cy="1435500"/>
          </a:xfrm>
        </p:grpSpPr>
        <p:sp>
          <p:nvSpPr>
            <p:cNvPr id="865" name="Google Shape;865;p14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868" name="Google Shape;868;p14"/>
          <p:cNvSpPr/>
          <p:nvPr/>
        </p:nvSpPr>
        <p:spPr>
          <a:xfrm>
            <a:off x="3859652" y="3333370"/>
            <a:ext cx="1510800" cy="1313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69" name="Google Shape;869;p14"/>
          <p:cNvSpPr/>
          <p:nvPr/>
        </p:nvSpPr>
        <p:spPr>
          <a:xfrm>
            <a:off x="3949181" y="3933978"/>
            <a:ext cx="1331700" cy="437700"/>
          </a:xfrm>
          <a:prstGeom prst="roundRect">
            <a:avLst>
              <a:gd fmla="val 1386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+ Runtime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0" name="Google Shape;870;p14"/>
          <p:cNvSpPr/>
          <p:nvPr/>
        </p:nvSpPr>
        <p:spPr>
          <a:xfrm>
            <a:off x="3949169" y="3446198"/>
            <a:ext cx="1332000" cy="437700"/>
          </a:xfrm>
          <a:prstGeom prst="roundRect">
            <a:avLst>
              <a:gd fmla="val 1386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Dependencies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1" name="Google Shape;871;p14"/>
          <p:cNvSpPr/>
          <p:nvPr/>
        </p:nvSpPr>
        <p:spPr>
          <a:xfrm>
            <a:off x="7724620" y="3488819"/>
            <a:ext cx="961800" cy="11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Builder 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Compiles code &amp; creates a package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2" name="Google Shape;872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4497" y="2684880"/>
            <a:ext cx="392766" cy="29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3590" y="3031678"/>
            <a:ext cx="294577" cy="2945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4" name="Google Shape;874;p14"/>
          <p:cNvCxnSpPr>
            <a:endCxn id="873" idx="1"/>
          </p:cNvCxnSpPr>
          <p:nvPr/>
        </p:nvCxnSpPr>
        <p:spPr>
          <a:xfrm>
            <a:off x="8263890" y="2989665"/>
            <a:ext cx="209700" cy="18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5" name="Google Shape;875;p14"/>
          <p:cNvCxnSpPr>
            <a:endCxn id="871" idx="1"/>
          </p:cNvCxnSpPr>
          <p:nvPr/>
        </p:nvCxnSpPr>
        <p:spPr>
          <a:xfrm>
            <a:off x="7145320" y="4062869"/>
            <a:ext cx="579300" cy="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6" name="Google Shape;876;p14"/>
          <p:cNvCxnSpPr>
            <a:stCxn id="871" idx="0"/>
            <a:endCxn id="877" idx="3"/>
          </p:cNvCxnSpPr>
          <p:nvPr/>
        </p:nvCxnSpPr>
        <p:spPr>
          <a:xfrm flipH="1" rot="5400000">
            <a:off x="7964920" y="3248219"/>
            <a:ext cx="194400" cy="286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7" name="Google Shape;877;p14"/>
          <p:cNvSpPr/>
          <p:nvPr/>
        </p:nvSpPr>
        <p:spPr>
          <a:xfrm>
            <a:off x="7573621" y="2684878"/>
            <a:ext cx="690084" cy="609523"/>
          </a:xfrm>
          <a:prstGeom prst="flowChartMagneticDisk">
            <a:avLst/>
          </a:prstGeom>
          <a:solidFill>
            <a:srgbClr val="CFE2F3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Service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4"/>
          <p:cNvSpPr/>
          <p:nvPr/>
        </p:nvSpPr>
        <p:spPr>
          <a:xfrm>
            <a:off x="4506509" y="2636025"/>
            <a:ext cx="10578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Runtime Config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9" name="Google Shape;879;p14"/>
          <p:cNvSpPr/>
          <p:nvPr/>
        </p:nvSpPr>
        <p:spPr>
          <a:xfrm>
            <a:off x="5613175" y="263602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PackageReference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0" name="Google Shape;880;p14"/>
          <p:cNvSpPr/>
          <p:nvPr/>
        </p:nvSpPr>
        <p:spPr>
          <a:xfrm>
            <a:off x="5613175" y="295203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 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1" name="Google Shape;881;p14"/>
          <p:cNvSpPr/>
          <p:nvPr/>
        </p:nvSpPr>
        <p:spPr>
          <a:xfrm>
            <a:off x="3859650" y="1810125"/>
            <a:ext cx="18078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PoolManager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2" name="Google Shape;882;p14"/>
          <p:cNvSpPr/>
          <p:nvPr/>
        </p:nvSpPr>
        <p:spPr>
          <a:xfrm>
            <a:off x="3972014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3" name="Google Shape;883;p14"/>
          <p:cNvSpPr/>
          <p:nvPr/>
        </p:nvSpPr>
        <p:spPr>
          <a:xfrm>
            <a:off x="4530139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4" name="Google Shape;884;p14"/>
          <p:cNvSpPr/>
          <p:nvPr/>
        </p:nvSpPr>
        <p:spPr>
          <a:xfrm>
            <a:off x="5088264" y="1899640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5" name="Google Shape;885;p14"/>
          <p:cNvSpPr/>
          <p:nvPr/>
        </p:nvSpPr>
        <p:spPr>
          <a:xfrm>
            <a:off x="7511825" y="2043650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Executor Service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6" name="Google Shape;886;p14"/>
          <p:cNvSpPr/>
          <p:nvPr/>
        </p:nvSpPr>
        <p:spPr>
          <a:xfrm>
            <a:off x="6082514" y="1544577"/>
            <a:ext cx="474000" cy="2628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7" name="Google Shape;887;p14"/>
          <p:cNvSpPr/>
          <p:nvPr/>
        </p:nvSpPr>
        <p:spPr>
          <a:xfrm>
            <a:off x="6082514" y="1835888"/>
            <a:ext cx="474000" cy="26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Code</a:t>
            </a:r>
            <a:endParaRPr b="0" i="0" sz="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88" name="Google Shape;888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714399" y="895712"/>
            <a:ext cx="633900" cy="6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14"/>
          <p:cNvSpPr txBox="1"/>
          <p:nvPr/>
        </p:nvSpPr>
        <p:spPr>
          <a:xfrm rot="-1632137">
            <a:off x="6662118" y="1545456"/>
            <a:ext cx="1326965" cy="3268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TimeOut - Cleanup</a:t>
            </a:r>
            <a:endParaRPr b="0" i="0" sz="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0" name="Google Shape;890;p14"/>
          <p:cNvSpPr/>
          <p:nvPr/>
        </p:nvSpPr>
        <p:spPr>
          <a:xfrm rot="3742553">
            <a:off x="7090759" y="1060901"/>
            <a:ext cx="232278" cy="958495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Google Shape;896;p15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5"/>
          <p:cNvSpPr/>
          <p:nvPr/>
        </p:nvSpPr>
        <p:spPr>
          <a:xfrm>
            <a:off x="3859650" y="2571750"/>
            <a:ext cx="32925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Function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8" name="Google Shape;898;p15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Execution Strategy: NewDeploy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99" name="Google Shape;899;p15"/>
          <p:cNvSpPr/>
          <p:nvPr/>
        </p:nvSpPr>
        <p:spPr>
          <a:xfrm>
            <a:off x="507950" y="985900"/>
            <a:ext cx="2930100" cy="25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NewDeploy executor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“Specialization” done at initialization only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No lazy loading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Can be scaled by a Kubernetes HPA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00" name="Google Shape;900;p15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901" name="Google Shape;901;p15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2" name="Google Shape;902;p15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3" name="Google Shape;903;p15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904" name="Google Shape;904;p15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15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21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906" name="Google Shape;906;p15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7" name="Google Shape;907;p15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908" name="Google Shape;908;p15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9" name="Google Shape;909;p15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910" name="Google Shape;910;p15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911" name="Google Shape;911;p15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2" name="Google Shape;912;p15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913" name="Google Shape;913;p15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4" name="Google Shape;914;p15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15" name="Google Shape;915;p15"/>
          <p:cNvGrpSpPr/>
          <p:nvPr/>
        </p:nvGrpSpPr>
        <p:grpSpPr>
          <a:xfrm>
            <a:off x="5613186" y="3333370"/>
            <a:ext cx="1510904" cy="1313770"/>
            <a:chOff x="5613968" y="2822393"/>
            <a:chExt cx="1650900" cy="1435500"/>
          </a:xfrm>
        </p:grpSpPr>
        <p:sp>
          <p:nvSpPr>
            <p:cNvPr id="916" name="Google Shape;916;p15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17" name="Google Shape;917;p15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18" name="Google Shape;918;p15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919" name="Google Shape;919;p15"/>
          <p:cNvSpPr/>
          <p:nvPr/>
        </p:nvSpPr>
        <p:spPr>
          <a:xfrm>
            <a:off x="3859652" y="3333370"/>
            <a:ext cx="1510800" cy="1313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0" name="Google Shape;920;p15"/>
          <p:cNvSpPr/>
          <p:nvPr/>
        </p:nvSpPr>
        <p:spPr>
          <a:xfrm>
            <a:off x="3949181" y="3933978"/>
            <a:ext cx="1331700" cy="437700"/>
          </a:xfrm>
          <a:prstGeom prst="roundRect">
            <a:avLst>
              <a:gd fmla="val 1386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+ Runtime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1" name="Google Shape;921;p15"/>
          <p:cNvSpPr/>
          <p:nvPr/>
        </p:nvSpPr>
        <p:spPr>
          <a:xfrm>
            <a:off x="3949169" y="3446198"/>
            <a:ext cx="1332000" cy="437700"/>
          </a:xfrm>
          <a:prstGeom prst="roundRect">
            <a:avLst>
              <a:gd fmla="val 1386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Dependencies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2" name="Google Shape;922;p15"/>
          <p:cNvSpPr/>
          <p:nvPr/>
        </p:nvSpPr>
        <p:spPr>
          <a:xfrm>
            <a:off x="7724620" y="3488819"/>
            <a:ext cx="961800" cy="11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Builder 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Compiles code &amp; creates a package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3" name="Google Shape;923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4497" y="2684880"/>
            <a:ext cx="392766" cy="29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3590" y="3031678"/>
            <a:ext cx="294577" cy="2945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5" name="Google Shape;925;p15"/>
          <p:cNvCxnSpPr>
            <a:endCxn id="924" idx="1"/>
          </p:cNvCxnSpPr>
          <p:nvPr/>
        </p:nvCxnSpPr>
        <p:spPr>
          <a:xfrm>
            <a:off x="8263890" y="2989665"/>
            <a:ext cx="209700" cy="18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6" name="Google Shape;926;p15"/>
          <p:cNvCxnSpPr>
            <a:endCxn id="922" idx="1"/>
          </p:cNvCxnSpPr>
          <p:nvPr/>
        </p:nvCxnSpPr>
        <p:spPr>
          <a:xfrm>
            <a:off x="7145320" y="4062869"/>
            <a:ext cx="579300" cy="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7" name="Google Shape;927;p15"/>
          <p:cNvCxnSpPr>
            <a:stCxn id="922" idx="0"/>
            <a:endCxn id="928" idx="3"/>
          </p:cNvCxnSpPr>
          <p:nvPr/>
        </p:nvCxnSpPr>
        <p:spPr>
          <a:xfrm flipH="1" rot="5400000">
            <a:off x="7964920" y="3248219"/>
            <a:ext cx="194400" cy="286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8" name="Google Shape;928;p15"/>
          <p:cNvSpPr/>
          <p:nvPr/>
        </p:nvSpPr>
        <p:spPr>
          <a:xfrm>
            <a:off x="7573621" y="2684878"/>
            <a:ext cx="690084" cy="609523"/>
          </a:xfrm>
          <a:prstGeom prst="flowChartMagneticDisk">
            <a:avLst/>
          </a:prstGeom>
          <a:solidFill>
            <a:srgbClr val="CFE2F3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Service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5"/>
          <p:cNvSpPr/>
          <p:nvPr/>
        </p:nvSpPr>
        <p:spPr>
          <a:xfrm>
            <a:off x="4506509" y="2636025"/>
            <a:ext cx="10578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Runtime Config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0" name="Google Shape;930;p15"/>
          <p:cNvSpPr/>
          <p:nvPr/>
        </p:nvSpPr>
        <p:spPr>
          <a:xfrm>
            <a:off x="5613175" y="263602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PackageReference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1" name="Google Shape;931;p15"/>
          <p:cNvSpPr/>
          <p:nvPr/>
        </p:nvSpPr>
        <p:spPr>
          <a:xfrm>
            <a:off x="5613175" y="295203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 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2" name="Google Shape;932;p15"/>
          <p:cNvSpPr/>
          <p:nvPr/>
        </p:nvSpPr>
        <p:spPr>
          <a:xfrm>
            <a:off x="7511825" y="2043650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Executor Service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33" name="Google Shape;933;p15"/>
          <p:cNvGrpSpPr/>
          <p:nvPr/>
        </p:nvGrpSpPr>
        <p:grpSpPr>
          <a:xfrm>
            <a:off x="5742863" y="1634512"/>
            <a:ext cx="1412700" cy="822900"/>
            <a:chOff x="5980050" y="1473525"/>
            <a:chExt cx="1412700" cy="822900"/>
          </a:xfrm>
        </p:grpSpPr>
        <p:sp>
          <p:nvSpPr>
            <p:cNvPr id="934" name="Google Shape;934;p15"/>
            <p:cNvSpPr/>
            <p:nvPr/>
          </p:nvSpPr>
          <p:spPr>
            <a:xfrm>
              <a:off x="5980050" y="1473525"/>
              <a:ext cx="1412700" cy="82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NewDeploy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35" name="Google Shape;935;p15"/>
            <p:cNvSpPr/>
            <p:nvPr/>
          </p:nvSpPr>
          <p:spPr>
            <a:xfrm>
              <a:off x="6082514" y="1544577"/>
              <a:ext cx="474000" cy="2628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Env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36" name="Google Shape;936;p15"/>
            <p:cNvSpPr/>
            <p:nvPr/>
          </p:nvSpPr>
          <p:spPr>
            <a:xfrm>
              <a:off x="6082514" y="1759688"/>
              <a:ext cx="474000" cy="2628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Code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37" name="Google Shape;937;p15"/>
            <p:cNvSpPr/>
            <p:nvPr/>
          </p:nvSpPr>
          <p:spPr>
            <a:xfrm>
              <a:off x="6614889" y="1544577"/>
              <a:ext cx="474000" cy="2628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Env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38" name="Google Shape;938;p15"/>
            <p:cNvSpPr/>
            <p:nvPr/>
          </p:nvSpPr>
          <p:spPr>
            <a:xfrm>
              <a:off x="6614889" y="1759688"/>
              <a:ext cx="474000" cy="2628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Code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p16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16"/>
          <p:cNvSpPr/>
          <p:nvPr/>
        </p:nvSpPr>
        <p:spPr>
          <a:xfrm>
            <a:off x="3859650" y="2571750"/>
            <a:ext cx="32925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Function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46" name="Google Shape;946;p16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Execution Strategy: NewDeploy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47" name="Google Shape;947;p16"/>
          <p:cNvSpPr/>
          <p:nvPr/>
        </p:nvSpPr>
        <p:spPr>
          <a:xfrm>
            <a:off x="507950" y="985900"/>
            <a:ext cx="2930100" cy="25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NewDeploy executor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“Specialization” done at initialization only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No lazy loading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131"/>
              </a:buClr>
              <a:buSzPts val="1400"/>
              <a:buFont typeface="Montserrat"/>
              <a:buChar char="➢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Can be scaled by a Kubernetes HPA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48" name="Google Shape;948;p16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949" name="Google Shape;949;p16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16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1" name="Google Shape;951;p16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952" name="Google Shape;952;p16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16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22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954" name="Google Shape;954;p16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5" name="Google Shape;955;p16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956" name="Google Shape;956;p16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7" name="Google Shape;957;p16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958" name="Google Shape;958;p16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959" name="Google Shape;959;p16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0" name="Google Shape;960;p16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961" name="Google Shape;961;p16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16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63" name="Google Shape;963;p16"/>
          <p:cNvGrpSpPr/>
          <p:nvPr/>
        </p:nvGrpSpPr>
        <p:grpSpPr>
          <a:xfrm>
            <a:off x="5613186" y="3333370"/>
            <a:ext cx="1510904" cy="1313770"/>
            <a:chOff x="5613968" y="2822393"/>
            <a:chExt cx="1650900" cy="1435500"/>
          </a:xfrm>
        </p:grpSpPr>
        <p:sp>
          <p:nvSpPr>
            <p:cNvPr id="964" name="Google Shape;964;p16"/>
            <p:cNvSpPr/>
            <p:nvPr/>
          </p:nvSpPr>
          <p:spPr>
            <a:xfrm>
              <a:off x="5613968" y="2822393"/>
              <a:ext cx="1650900" cy="143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Package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5687702" y="3460376"/>
              <a:ext cx="1455000" cy="478200"/>
            </a:xfrm>
            <a:prstGeom prst="roundRect">
              <a:avLst>
                <a:gd fmla="val 13860" name="adj"/>
              </a:avLst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User Code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5687689" y="2927400"/>
              <a:ext cx="1455300" cy="478200"/>
            </a:xfrm>
            <a:prstGeom prst="roundRect">
              <a:avLst>
                <a:gd fmla="val 13860" name="adj"/>
              </a:avLst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Dependencies</a:t>
              </a:r>
              <a:endParaRPr b="0" i="0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967" name="Google Shape;967;p16"/>
          <p:cNvSpPr/>
          <p:nvPr/>
        </p:nvSpPr>
        <p:spPr>
          <a:xfrm>
            <a:off x="3859652" y="3333370"/>
            <a:ext cx="1510800" cy="1313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rotWithShape="0" algn="bl" dist="9525">
              <a:srgbClr val="000000">
                <a:alpha val="1568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68" name="Google Shape;968;p16"/>
          <p:cNvSpPr/>
          <p:nvPr/>
        </p:nvSpPr>
        <p:spPr>
          <a:xfrm>
            <a:off x="3949181" y="3933978"/>
            <a:ext cx="1331700" cy="437700"/>
          </a:xfrm>
          <a:prstGeom prst="roundRect">
            <a:avLst>
              <a:gd fmla="val 13860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 + Runtime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69" name="Google Shape;969;p16"/>
          <p:cNvSpPr/>
          <p:nvPr/>
        </p:nvSpPr>
        <p:spPr>
          <a:xfrm>
            <a:off x="3949169" y="3446198"/>
            <a:ext cx="1332000" cy="437700"/>
          </a:xfrm>
          <a:prstGeom prst="roundRect">
            <a:avLst>
              <a:gd fmla="val 13860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Dependencies</a:t>
            </a:r>
            <a:endParaRPr b="0" i="0" sz="10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70" name="Google Shape;970;p16"/>
          <p:cNvSpPr/>
          <p:nvPr/>
        </p:nvSpPr>
        <p:spPr>
          <a:xfrm>
            <a:off x="7724620" y="3488819"/>
            <a:ext cx="961800" cy="11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Builder 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</a:t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Compiles code &amp; creates a package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1" name="Google Shape;97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4497" y="2684880"/>
            <a:ext cx="392766" cy="29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3590" y="3031678"/>
            <a:ext cx="294577" cy="2945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16"/>
          <p:cNvCxnSpPr>
            <a:endCxn id="972" idx="1"/>
          </p:cNvCxnSpPr>
          <p:nvPr/>
        </p:nvCxnSpPr>
        <p:spPr>
          <a:xfrm>
            <a:off x="8263890" y="2989665"/>
            <a:ext cx="209700" cy="189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4" name="Google Shape;974;p16"/>
          <p:cNvCxnSpPr>
            <a:endCxn id="970" idx="1"/>
          </p:cNvCxnSpPr>
          <p:nvPr/>
        </p:nvCxnSpPr>
        <p:spPr>
          <a:xfrm>
            <a:off x="7145320" y="4062869"/>
            <a:ext cx="579300" cy="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5" name="Google Shape;975;p16"/>
          <p:cNvCxnSpPr>
            <a:stCxn id="970" idx="0"/>
            <a:endCxn id="976" idx="3"/>
          </p:cNvCxnSpPr>
          <p:nvPr/>
        </p:nvCxnSpPr>
        <p:spPr>
          <a:xfrm flipH="1" rot="5400000">
            <a:off x="7964920" y="3248219"/>
            <a:ext cx="194400" cy="2868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6" name="Google Shape;976;p16"/>
          <p:cNvSpPr/>
          <p:nvPr/>
        </p:nvSpPr>
        <p:spPr>
          <a:xfrm>
            <a:off x="7573621" y="2684878"/>
            <a:ext cx="690084" cy="609523"/>
          </a:xfrm>
          <a:prstGeom prst="flowChartMagneticDisk">
            <a:avLst/>
          </a:prstGeom>
          <a:solidFill>
            <a:srgbClr val="CFE2F3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Service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6"/>
          <p:cNvSpPr/>
          <p:nvPr/>
        </p:nvSpPr>
        <p:spPr>
          <a:xfrm>
            <a:off x="4506509" y="2636025"/>
            <a:ext cx="10578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Runtime Config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78" name="Google Shape;978;p16"/>
          <p:cNvSpPr/>
          <p:nvPr/>
        </p:nvSpPr>
        <p:spPr>
          <a:xfrm>
            <a:off x="5613175" y="263602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PackageReference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79" name="Google Shape;979;p16"/>
          <p:cNvSpPr/>
          <p:nvPr/>
        </p:nvSpPr>
        <p:spPr>
          <a:xfrm>
            <a:off x="5613175" y="2952035"/>
            <a:ext cx="1412700" cy="262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 Reference</a:t>
            </a:r>
            <a:endParaRPr b="0" i="0" sz="8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80" name="Google Shape;980;p16"/>
          <p:cNvSpPr/>
          <p:nvPr/>
        </p:nvSpPr>
        <p:spPr>
          <a:xfrm>
            <a:off x="7511825" y="2043650"/>
            <a:ext cx="1057800" cy="52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Executor Service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1" name="Google Shape;981;p16"/>
          <p:cNvGrpSpPr/>
          <p:nvPr/>
        </p:nvGrpSpPr>
        <p:grpSpPr>
          <a:xfrm>
            <a:off x="5742863" y="1634512"/>
            <a:ext cx="1412700" cy="822900"/>
            <a:chOff x="5980050" y="1473525"/>
            <a:chExt cx="1412700" cy="822900"/>
          </a:xfrm>
        </p:grpSpPr>
        <p:sp>
          <p:nvSpPr>
            <p:cNvPr id="982" name="Google Shape;982;p16"/>
            <p:cNvSpPr/>
            <p:nvPr/>
          </p:nvSpPr>
          <p:spPr>
            <a:xfrm>
              <a:off x="5980050" y="1473525"/>
              <a:ext cx="1412700" cy="82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71438" rotWithShape="0" algn="bl" dist="9525">
                <a:srgbClr val="000000">
                  <a:alpha val="15686"/>
                </a:srgbClr>
              </a:outerShdw>
            </a:effectLst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NewDeploy</a:t>
              </a:r>
              <a:endParaRPr b="0" i="0" sz="10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6082514" y="1544577"/>
              <a:ext cx="474000" cy="2628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Env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6082514" y="1759688"/>
              <a:ext cx="474000" cy="2628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Code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6614889" y="1544577"/>
              <a:ext cx="474000" cy="2628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Env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6614889" y="1759688"/>
              <a:ext cx="474000" cy="2628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Code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987" name="Google Shape;987;p16"/>
          <p:cNvSpPr/>
          <p:nvPr/>
        </p:nvSpPr>
        <p:spPr>
          <a:xfrm rot="10800000">
            <a:off x="6499980" y="928577"/>
            <a:ext cx="196800" cy="529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16"/>
          <p:cNvSpPr txBox="1"/>
          <p:nvPr/>
        </p:nvSpPr>
        <p:spPr>
          <a:xfrm>
            <a:off x="6673971" y="919958"/>
            <a:ext cx="6900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 Request</a:t>
            </a:r>
            <a:endParaRPr b="0" i="0" sz="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89" name="Google Shape;989;p16"/>
          <p:cNvSpPr/>
          <p:nvPr/>
        </p:nvSpPr>
        <p:spPr>
          <a:xfrm>
            <a:off x="7690125" y="647075"/>
            <a:ext cx="1138800" cy="826200"/>
          </a:xfrm>
          <a:prstGeom prst="cloudCallout">
            <a:avLst>
              <a:gd fmla="val -98835" name="adj1"/>
              <a:gd fmla="val 2981" name="adj2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 latency </a:t>
            </a:r>
            <a:r>
              <a:rPr b="0" i="0" lang="en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request path</a:t>
            </a:r>
            <a:endParaRPr b="0" i="0" sz="7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17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17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PoolManager vs. NewDeploy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97" name="Google Shape;997;p17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998" name="Google Shape;998;p17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17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0" name="Google Shape;1000;p17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1001" name="Google Shape;1001;p17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17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23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1003" name="Google Shape;1003;p17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4" name="Google Shape;1004;p17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1005" name="Google Shape;1005;p17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6" name="Google Shape;1006;p17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007" name="Google Shape;1007;p17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1008" name="Google Shape;1008;p17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9" name="Google Shape;1009;p17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1010" name="Google Shape;1010;p17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17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012" name="Google Shape;1012;p17"/>
          <p:cNvGrpSpPr/>
          <p:nvPr/>
        </p:nvGrpSpPr>
        <p:grpSpPr>
          <a:xfrm>
            <a:off x="1280813" y="1389150"/>
            <a:ext cx="6591900" cy="2466300"/>
            <a:chOff x="1382475" y="1389150"/>
            <a:chExt cx="6591900" cy="2466300"/>
          </a:xfrm>
        </p:grpSpPr>
        <p:sp>
          <p:nvSpPr>
            <p:cNvPr id="1013" name="Google Shape;1013;p17"/>
            <p:cNvSpPr/>
            <p:nvPr/>
          </p:nvSpPr>
          <p:spPr>
            <a:xfrm>
              <a:off x="1382475" y="1389150"/>
              <a:ext cx="6591900" cy="2466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28588" rotWithShape="0" algn="bl" dir="5880000" dist="28575">
                <a:srgbClr val="351C75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14" name="Google Shape;1014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473288" y="1683925"/>
              <a:ext cx="6410275" cy="1876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p24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24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PodSpec: Functions on Steroids!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22" name="Google Shape;1022;p24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1023" name="Google Shape;1023;p24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24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5" name="Google Shape;1025;p24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1026" name="Google Shape;1026;p24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3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1028" name="Google Shape;1028;p24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9" name="Google Shape;1029;p24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1030" name="Google Shape;1030;p24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1" name="Google Shape;1031;p24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032" name="Google Shape;1032;p24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1033" name="Google Shape;1033;p24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4" name="Google Shape;1034;p24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1035" name="Google Shape;1035;p24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24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037" name="Google Shape;1037;p24"/>
          <p:cNvSpPr/>
          <p:nvPr/>
        </p:nvSpPr>
        <p:spPr>
          <a:xfrm>
            <a:off x="1547876" y="1506950"/>
            <a:ext cx="2408400" cy="1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Taints &amp; Tolerations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Volume mounting on functions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Init Containers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Sidecars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24"/>
          <p:cNvSpPr/>
          <p:nvPr/>
        </p:nvSpPr>
        <p:spPr>
          <a:xfrm>
            <a:off x="4437051" y="1506950"/>
            <a:ext cx="3168600" cy="1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Custom Scheduler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Security Context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Node Selector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Readiness Gates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9" name="Google Shape;1039;p24">
            <a:hlinkClick r:id="rId13"/>
          </p:cNvPr>
          <p:cNvSpPr/>
          <p:nvPr/>
        </p:nvSpPr>
        <p:spPr>
          <a:xfrm>
            <a:off x="3227813" y="3599550"/>
            <a:ext cx="2697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https://blog.fission.io/fission_pod_specs/</a:t>
            </a:r>
            <a:endParaRPr b="0" i="0" sz="10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25"/>
          <p:cNvPicPr preferRelativeResize="0"/>
          <p:nvPr/>
        </p:nvPicPr>
        <p:blipFill rotWithShape="1">
          <a:blip r:embed="rId3">
            <a:alphaModFix/>
          </a:blip>
          <a:srcRect b="3557" l="0" r="0" t="3557"/>
          <a:stretch/>
        </p:blipFill>
        <p:spPr>
          <a:xfrm>
            <a:off x="0" y="0"/>
            <a:ext cx="9153527" cy="515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25"/>
          <p:cNvSpPr/>
          <p:nvPr/>
        </p:nvSpPr>
        <p:spPr>
          <a:xfrm>
            <a:off x="1280813" y="361125"/>
            <a:ext cx="6591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674E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Exciting new features coming soon..</a:t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674E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47" name="Google Shape;1047;p25"/>
          <p:cNvSpPr/>
          <p:nvPr/>
        </p:nvSpPr>
        <p:spPr>
          <a:xfrm>
            <a:off x="2219975" y="1125950"/>
            <a:ext cx="5362200" cy="1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Debug breakpoint support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Docker Container support 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Updated Java environment with JDK 11,13,14 support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In browser development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Multi Tenancy implementation details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Font typeface="Montserrat"/>
              <a:buChar char="❖"/>
            </a:pPr>
            <a:r>
              <a:rPr b="0" i="0" lang="en" sz="1400" u="none" cap="none" strike="noStrike">
                <a:solidFill>
                  <a:srgbClr val="131131"/>
                </a:solidFill>
                <a:latin typeface="Montserrat"/>
                <a:ea typeface="Montserrat"/>
                <a:cs typeface="Montserrat"/>
                <a:sym typeface="Montserrat"/>
              </a:rPr>
              <a:t>And many more..</a:t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1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48" name="Google Shape;1048;p25"/>
          <p:cNvGrpSpPr/>
          <p:nvPr/>
        </p:nvGrpSpPr>
        <p:grpSpPr>
          <a:xfrm>
            <a:off x="87513" y="4791451"/>
            <a:ext cx="8970162" cy="262886"/>
            <a:chOff x="87513" y="4791451"/>
            <a:chExt cx="8970162" cy="262886"/>
          </a:xfrm>
        </p:grpSpPr>
        <p:pic>
          <p:nvPicPr>
            <p:cNvPr id="1049" name="Google Shape;1049;p25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20105" y="4857400"/>
              <a:ext cx="154157" cy="12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25"/>
            <p:cNvSpPr/>
            <p:nvPr/>
          </p:nvSpPr>
          <p:spPr>
            <a:xfrm>
              <a:off x="5160675" y="4807550"/>
              <a:ext cx="3543050" cy="228600"/>
            </a:xfrm>
            <a:prstGeom prst="flowChartProcess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1" name="Google Shape;1051;p25"/>
            <p:cNvGrpSpPr/>
            <p:nvPr/>
          </p:nvGrpSpPr>
          <p:grpSpPr>
            <a:xfrm>
              <a:off x="8801475" y="4791451"/>
              <a:ext cx="256200" cy="256200"/>
              <a:chOff x="8801475" y="4791451"/>
              <a:chExt cx="256200" cy="256200"/>
            </a:xfrm>
          </p:grpSpPr>
          <p:sp>
            <p:nvSpPr>
              <p:cNvPr id="1052" name="Google Shape;1052;p25"/>
              <p:cNvSpPr/>
              <p:nvPr/>
            </p:nvSpPr>
            <p:spPr>
              <a:xfrm>
                <a:off x="8801475" y="4791451"/>
                <a:ext cx="256200" cy="256200"/>
              </a:xfrm>
              <a:prstGeom prst="ellipse">
                <a:avLst/>
              </a:prstGeom>
              <a:solidFill>
                <a:srgbClr val="674EA7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25"/>
              <p:cNvSpPr/>
              <p:nvPr/>
            </p:nvSpPr>
            <p:spPr>
              <a:xfrm>
                <a:off x="8827561" y="4843935"/>
                <a:ext cx="1971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chemeClr val="lt1"/>
                    </a:solidFill>
                    <a:latin typeface="Lato Black"/>
                    <a:ea typeface="Lato Black"/>
                    <a:cs typeface="Lato Black"/>
                    <a:sym typeface="Lato Black"/>
                  </a:rPr>
                  <a:t>4</a:t>
                </a:r>
                <a:endParaRPr b="0" i="0" sz="900" u="none" cap="none" strike="noStrike">
                  <a:solidFill>
                    <a:schemeClr val="lt1"/>
                  </a:solidFill>
                  <a:latin typeface="Lato Black"/>
                  <a:ea typeface="Lato Black"/>
                  <a:cs typeface="Lato Black"/>
                  <a:sym typeface="Lato Black"/>
                </a:endParaRPr>
              </a:p>
            </p:txBody>
          </p:sp>
        </p:grpSp>
        <p:pic>
          <p:nvPicPr>
            <p:cNvPr id="1054" name="Google Shape;1054;p25"/>
            <p:cNvPicPr preferRelativeResize="0"/>
            <p:nvPr/>
          </p:nvPicPr>
          <p:blipFill rotWithShape="1">
            <a:blip r:embed="rId6">
              <a:alphaModFix/>
            </a:blip>
            <a:srcRect b="17566" l="7136" r="7069" t="15992"/>
            <a:stretch/>
          </p:blipFill>
          <p:spPr>
            <a:xfrm>
              <a:off x="87513" y="4794062"/>
              <a:ext cx="759296" cy="260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55" name="Google Shape;1055;p25"/>
            <p:cNvGrpSpPr/>
            <p:nvPr/>
          </p:nvGrpSpPr>
          <p:grpSpPr>
            <a:xfrm>
              <a:off x="5379021" y="4861050"/>
              <a:ext cx="730079" cy="126300"/>
              <a:chOff x="1035621" y="4861050"/>
              <a:chExt cx="730079" cy="126300"/>
            </a:xfrm>
          </p:grpSpPr>
          <p:pic>
            <p:nvPicPr>
              <p:cNvPr id="1056" name="Google Shape;1056;p25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35621" y="4870712"/>
                <a:ext cx="130475" cy="1069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7" name="Google Shape;1057;p25"/>
              <p:cNvSpPr/>
              <p:nvPr/>
            </p:nvSpPr>
            <p:spPr>
              <a:xfrm>
                <a:off x="1244000" y="4861050"/>
                <a:ext cx="5217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fissionio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058" name="Google Shape;1058;p25"/>
            <p:cNvGrpSpPr/>
            <p:nvPr/>
          </p:nvGrpSpPr>
          <p:grpSpPr>
            <a:xfrm>
              <a:off x="6222242" y="4854127"/>
              <a:ext cx="992933" cy="133223"/>
              <a:chOff x="3250442" y="4854127"/>
              <a:chExt cx="992933" cy="133223"/>
            </a:xfrm>
          </p:grpSpPr>
          <p:pic>
            <p:nvPicPr>
              <p:cNvPr id="1059" name="Google Shape;1059;p25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250442" y="4854127"/>
                <a:ext cx="130475" cy="126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60" name="Google Shape;1060;p25"/>
              <p:cNvSpPr/>
              <p:nvPr/>
            </p:nvSpPr>
            <p:spPr>
              <a:xfrm>
                <a:off x="3484075" y="4861050"/>
                <a:ext cx="759300" cy="1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2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fission/fission</a:t>
                </a:r>
                <a:endParaRPr b="0" i="0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1061" name="Google Shape;1061;p25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65243" y="4858842"/>
              <a:ext cx="178675" cy="12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2" name="Google Shape;1062;p25"/>
            <p:cNvSpPr/>
            <p:nvPr/>
          </p:nvSpPr>
          <p:spPr>
            <a:xfrm>
              <a:off x="7654435" y="4861050"/>
              <a:ext cx="9462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fission-serverless</a:t>
              </a:r>
              <a:endParaRPr b="0" i="0" sz="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