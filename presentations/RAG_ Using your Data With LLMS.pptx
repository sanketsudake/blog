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Economica"/>
      <p:regular r:id="rId39"/>
      <p:bold r:id="rId40"/>
      <p:italic r:id="rId41"/>
      <p:boldItalic r:id="rId42"/>
    </p:embeddedFont>
    <p:embeddedFont>
      <p:font typeface="Source Code Pro"/>
      <p:regular r:id="rId43"/>
      <p:bold r:id="rId44"/>
      <p:italic r:id="rId45"/>
      <p:boldItalic r:id="rId46"/>
    </p:embeddedFont>
    <p:embeddedFont>
      <p:font typeface="Helvetica Neue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00D373-E09B-48B4-9B50-520DE68DF8B3}">
  <a:tblStyle styleId="{1600D373-E09B-48B4-9B50-520DE68DF8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44" Type="http://schemas.openxmlformats.org/officeDocument/2006/relationships/font" Target="fonts/SourceCodePro-bold.fntdata"/><Relationship Id="rId43" Type="http://schemas.openxmlformats.org/officeDocument/2006/relationships/font" Target="fonts/SourceCodePro-regular.fntdata"/><Relationship Id="rId46" Type="http://schemas.openxmlformats.org/officeDocument/2006/relationships/font" Target="fonts/SourceCodePro-boldItalic.fntdata"/><Relationship Id="rId45" Type="http://schemas.openxmlformats.org/officeDocument/2006/relationships/font" Target="fonts/SourceCodePr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HelveticaNeue-bold.fntdata"/><Relationship Id="rId47" Type="http://schemas.openxmlformats.org/officeDocument/2006/relationships/font" Target="fonts/HelveticaNeue-regular.fntdata"/><Relationship Id="rId49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Economica-regular.fntdata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regular.fntdata"/><Relationship Id="rId50" Type="http://schemas.openxmlformats.org/officeDocument/2006/relationships/font" Target="fonts/HelveticaNeue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infracloud.io/blogs/retrieval-augmented-generation-using-data-with-llms/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jalammar.github.io/illustrated-word2vec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cdee7c4c1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cdee7c4c1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cdee7c4c1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cdee7c4c1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dee7c4c1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dee7c4c1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cdd0b762a7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cdd0b762a7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cdd0b762a7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cdd0b762a7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dd0b762a7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dd0b762a7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https://www.infracloud.io/blogs/retrieval-augmented-generation-using-data-with-llms/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cdee7c4c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cdee7c4c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https://jalammar.github.io/illustrated-word2vec/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dee7c4c1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dee7c4c1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cdee7c4c1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cdee7c4c1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cdd0b762a7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cdd0b762a7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dd0b762a7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cdd0b762a7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dd0b762a7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cdd0b762a7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dd0b762a7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cdd0b762a7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dee7c4c1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dee7c4c1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cdd0b762a7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cdd0b762a7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cdd0b762a7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cdd0b762a7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cdd0b762a7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cdd0b762a7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cdd0b762a7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cdd0b762a7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cdd0b762a7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cdd0b762a7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cdd0b762a7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cdd0b762a7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cdd0b762a7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cdd0b762a7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cdd0b762a7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cdd0b762a7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cdd0b762a7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cdd0b762a7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dee7c4c1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cdee7c4c1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cdee7c4c1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cdee7c4c1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cdd0b762a7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cdd0b762a7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cdd0b762a7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cdd0b762a7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cdd0b762a7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cdd0b762a7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cdd0b762a7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cdd0b762a7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cdd0b762a7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cdd0b762a7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cdd0b762a7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cdd0b762a7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2eWuYf-aZE4" TargetMode="External"/><Relationship Id="rId4" Type="http://schemas.openxmlformats.org/officeDocument/2006/relationships/hyperlink" Target="https://www.promptingguide.ai/" TargetMode="External"/><Relationship Id="rId5" Type="http://schemas.openxmlformats.org/officeDocument/2006/relationships/hyperlink" Target="https://microsoft.github.io/generative-ai-for-beginners/#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hyperlink" Target="http://ragas.io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arxiv.org/abs/2005.11401" TargetMode="External"/><Relationship Id="rId4" Type="http://schemas.openxmlformats.org/officeDocument/2006/relationships/hyperlink" Target="https://arxiv.org/abs/2005.11401" TargetMode="External"/><Relationship Id="rId5" Type="http://schemas.openxmlformats.org/officeDocument/2006/relationships/hyperlink" Target="https://arxiv.org/abs/2004.04906" TargetMode="External"/><Relationship Id="rId6" Type="http://schemas.openxmlformats.org/officeDocument/2006/relationships/hyperlink" Target="https://www.langchain.com/" TargetMode="External"/><Relationship Id="rId7" Type="http://schemas.openxmlformats.org/officeDocument/2006/relationships/hyperlink" Target="https://ragas.io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0"/>
            <a:ext cx="34092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RAG: Using your Data With LLMS 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Sanket Sudake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   					@sanketsudake</a:t>
            </a:r>
            <a:endParaRPr/>
          </a:p>
        </p:txBody>
      </p:sp>
      <p:sp>
        <p:nvSpPr>
          <p:cNvPr id="69" name="Google Shape;69;p14"/>
          <p:cNvSpPr txBox="1"/>
          <p:nvPr>
            <p:ph idx="2" type="body"/>
          </p:nvPr>
        </p:nvSpPr>
        <p:spPr>
          <a:xfrm>
            <a:off x="3437925" y="1278800"/>
            <a:ext cx="5072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Principal Engineer, InfraCloud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Interest Areas: </a:t>
            </a:r>
            <a:r>
              <a:rPr lang="en"/>
              <a:t>AI, C</a:t>
            </a:r>
            <a:r>
              <a:rPr lang="en"/>
              <a:t>loud/Containers, Distributed Systems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Past: Started as Kernel Engineer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Work</a:t>
            </a:r>
            <a:r>
              <a:rPr lang="en"/>
              <a:t>ed</a:t>
            </a:r>
            <a:r>
              <a:rPr lang="en"/>
              <a:t> as Go developer, Openstack developer, SRE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Maintainer Fission - Serverless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Recent AI projects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➢"/>
            </a:pPr>
            <a:r>
              <a:rPr lang="en" sz="1400"/>
              <a:t>Slack/Zendesk Analysis with OpenAI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➢"/>
            </a:pPr>
            <a:r>
              <a:rPr lang="en" sz="1400"/>
              <a:t>Source Code Repository Analysis with LLM Agent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➢"/>
            </a:pPr>
            <a:r>
              <a:rPr lang="en" sz="1400"/>
              <a:t>Building Large Scale AI Cloud</a:t>
            </a:r>
            <a:endParaRPr sz="1400"/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0" l="12725" r="12732" t="0"/>
          <a:stretch/>
        </p:blipFill>
        <p:spPr>
          <a:xfrm>
            <a:off x="432700" y="1278788"/>
            <a:ext cx="2254928" cy="270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700" y="370875"/>
            <a:ext cx="6652600" cy="440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Recommended Learnings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 u="sng">
                <a:solidFill>
                  <a:schemeClr val="hlink"/>
                </a:solidFill>
                <a:hlinkClick r:id="rId3"/>
              </a:rPr>
              <a:t>Explained: The conspiracy to make AI seem harder than it is! By Gustav Söderström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Prompt Engineering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https://www.promptingguide.ai/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 u="sng">
                <a:solidFill>
                  <a:schemeClr val="hlink"/>
                </a:solidFill>
                <a:hlinkClick r:id="rId5"/>
              </a:rPr>
              <a:t>Generative AI For Begineers - Microsoft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Retrieval</a:t>
            </a:r>
            <a:r>
              <a:rPr lang="en"/>
              <a:t> Augmented Generation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746" y="614688"/>
            <a:ext cx="5334508" cy="39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52325" y="2563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</a:t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1285925" y="391625"/>
            <a:ext cx="400200" cy="328200"/>
          </a:xfrm>
          <a:prstGeom prst="smileyFace">
            <a:avLst>
              <a:gd fmla="val 4653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1003750" y="4625200"/>
            <a:ext cx="4986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“We always planned to have a nicer sounding name, but when it came time to write the paper, no one had a better idea,” - Lewis, Lead Author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01" y="1065162"/>
            <a:ext cx="8358998" cy="27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1284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RAG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535775" y="3946925"/>
            <a:ext cx="76884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Retriever: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Retrieves data needed for the user query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Generator: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Feed data into LLM prompt and generates response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>
            <a:off x="3663725" y="2422488"/>
            <a:ext cx="1376100" cy="1982375"/>
          </a:xfrm>
          <a:prstGeom prst="flowChartMagneticDisk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Vector Database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74751" y="2689375"/>
            <a:ext cx="1248534" cy="943812"/>
          </a:xfrm>
          <a:prstGeom prst="flowChartMultidocumen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Documents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1755527" y="1934050"/>
            <a:ext cx="1121700" cy="54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Chunk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1755527" y="2569800"/>
            <a:ext cx="1121700" cy="54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Chunk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1755527" y="3205550"/>
            <a:ext cx="1121700" cy="54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Chunk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1755527" y="3841300"/>
            <a:ext cx="1121700" cy="54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Chunk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2" name="Google Shape;112;p20"/>
          <p:cNvCxnSpPr>
            <a:stCxn id="107" idx="3"/>
            <a:endCxn id="108" idx="1"/>
          </p:cNvCxnSpPr>
          <p:nvPr/>
        </p:nvCxnSpPr>
        <p:spPr>
          <a:xfrm flipH="1" rot="10800000">
            <a:off x="1323285" y="2207581"/>
            <a:ext cx="432300" cy="953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20"/>
          <p:cNvCxnSpPr>
            <a:stCxn id="107" idx="3"/>
            <a:endCxn id="109" idx="1"/>
          </p:cNvCxnSpPr>
          <p:nvPr/>
        </p:nvCxnSpPr>
        <p:spPr>
          <a:xfrm flipH="1" rot="10800000">
            <a:off x="1323285" y="2843281"/>
            <a:ext cx="432300" cy="318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20"/>
          <p:cNvCxnSpPr>
            <a:stCxn id="107" idx="3"/>
            <a:endCxn id="110" idx="1"/>
          </p:cNvCxnSpPr>
          <p:nvPr/>
        </p:nvCxnSpPr>
        <p:spPr>
          <a:xfrm>
            <a:off x="1323285" y="3161281"/>
            <a:ext cx="432300" cy="318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20"/>
          <p:cNvCxnSpPr>
            <a:stCxn id="107" idx="3"/>
            <a:endCxn id="111" idx="1"/>
          </p:cNvCxnSpPr>
          <p:nvPr/>
        </p:nvCxnSpPr>
        <p:spPr>
          <a:xfrm>
            <a:off x="1323285" y="3161281"/>
            <a:ext cx="432300" cy="953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20"/>
          <p:cNvCxnSpPr>
            <a:stCxn id="108" idx="3"/>
            <a:endCxn id="106" idx="2"/>
          </p:cNvCxnSpPr>
          <p:nvPr/>
        </p:nvCxnSpPr>
        <p:spPr>
          <a:xfrm>
            <a:off x="2877227" y="2207650"/>
            <a:ext cx="786600" cy="120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20"/>
          <p:cNvCxnSpPr>
            <a:stCxn id="109" idx="3"/>
            <a:endCxn id="106" idx="2"/>
          </p:cNvCxnSpPr>
          <p:nvPr/>
        </p:nvCxnSpPr>
        <p:spPr>
          <a:xfrm>
            <a:off x="2877227" y="2843400"/>
            <a:ext cx="786600" cy="5703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20"/>
          <p:cNvCxnSpPr>
            <a:stCxn id="110" idx="3"/>
            <a:endCxn id="106" idx="2"/>
          </p:cNvCxnSpPr>
          <p:nvPr/>
        </p:nvCxnSpPr>
        <p:spPr>
          <a:xfrm flipH="1" rot="10800000">
            <a:off x="2877227" y="3413750"/>
            <a:ext cx="786600" cy="654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20"/>
          <p:cNvCxnSpPr>
            <a:stCxn id="111" idx="3"/>
            <a:endCxn id="106" idx="2"/>
          </p:cNvCxnSpPr>
          <p:nvPr/>
        </p:nvCxnSpPr>
        <p:spPr>
          <a:xfrm flipH="1" rot="10800000">
            <a:off x="2877227" y="3413800"/>
            <a:ext cx="786600" cy="7011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0"/>
          <p:cNvCxnSpPr>
            <a:stCxn id="106" idx="4"/>
            <a:endCxn id="121" idx="1"/>
          </p:cNvCxnSpPr>
          <p:nvPr/>
        </p:nvCxnSpPr>
        <p:spPr>
          <a:xfrm>
            <a:off x="5039825" y="3413675"/>
            <a:ext cx="5877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20"/>
          <p:cNvSpPr/>
          <p:nvPr/>
        </p:nvSpPr>
        <p:spPr>
          <a:xfrm>
            <a:off x="7385025" y="3042263"/>
            <a:ext cx="956100" cy="742800"/>
          </a:xfrm>
          <a:prstGeom prst="ellipse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LLM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3" name="Google Shape;123;p20"/>
          <p:cNvCxnSpPr>
            <a:stCxn id="121" idx="3"/>
            <a:endCxn id="122" idx="2"/>
          </p:cNvCxnSpPr>
          <p:nvPr/>
        </p:nvCxnSpPr>
        <p:spPr>
          <a:xfrm>
            <a:off x="6797327" y="3413672"/>
            <a:ext cx="587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20"/>
          <p:cNvSpPr txBox="1"/>
          <p:nvPr/>
        </p:nvSpPr>
        <p:spPr>
          <a:xfrm>
            <a:off x="74750" y="1017725"/>
            <a:ext cx="45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Document Processing + Ingestion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5" name="Google Shape;125;p20"/>
          <p:cNvCxnSpPr/>
          <p:nvPr/>
        </p:nvCxnSpPr>
        <p:spPr>
          <a:xfrm>
            <a:off x="589850" y="1541450"/>
            <a:ext cx="34998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26" name="Google Shape;126;p20"/>
          <p:cNvCxnSpPr/>
          <p:nvPr/>
        </p:nvCxnSpPr>
        <p:spPr>
          <a:xfrm>
            <a:off x="4766000" y="1555950"/>
            <a:ext cx="36129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27" name="Google Shape;127;p20"/>
          <p:cNvSpPr txBox="1"/>
          <p:nvPr/>
        </p:nvSpPr>
        <p:spPr>
          <a:xfrm>
            <a:off x="4307450" y="1017725"/>
            <a:ext cx="45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Retrieval + Generation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5277100" y="4616050"/>
            <a:ext cx="34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65202"/>
              </a:solidFill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5627525" y="2936825"/>
            <a:ext cx="1169802" cy="953694"/>
          </a:xfrm>
          <a:prstGeom prst="flowChartMultidocumen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Data Chunks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286225" y="62900"/>
            <a:ext cx="6420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Naive RAG</a:t>
            </a:r>
            <a:endParaRPr sz="42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829650" y="4313625"/>
            <a:ext cx="7866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808325" y="4313625"/>
            <a:ext cx="1376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Embeddings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4891025" y="4313625"/>
            <a:ext cx="1376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Retrieval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6973725" y="4277200"/>
            <a:ext cx="1376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133950" y="4218925"/>
            <a:ext cx="61842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Database</a:t>
            </a: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175" y="153225"/>
            <a:ext cx="6388524" cy="48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133950" y="80375"/>
            <a:ext cx="1848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Ref: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swirlai.com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</a:t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550" y="205975"/>
            <a:ext cx="8311112" cy="391412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133950" y="80375"/>
            <a:ext cx="1848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Ref: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jkfran.com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SkillScount - Demo App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“Team, as of today, when we are looking for a specific skills for a customer from our talent, we mostly scan through updated resumes or try to match based on our past memories, if a person has certain </a:t>
            </a:r>
            <a:r>
              <a:rPr lang="en" sz="1800"/>
              <a:t>skillset</a:t>
            </a:r>
            <a:r>
              <a:rPr lang="en" sz="1800"/>
              <a:t>. This is not very efficient.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 can explore, if we can leverage LLM to help us query our resume dataset better.”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prompts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12908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“Show me candidate skilled in {skill}”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“Show me candidates with {certification name} certification”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“Find resume with {x-y} years of experience”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“What are the skills of {candidate} ?”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“How much experience does {candidate} have?”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725" y="195325"/>
            <a:ext cx="6545975" cy="402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Langchain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Pypdf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OpenAI Embeddings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OpenAI GPT 3 Turbo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FAISS Vector Store</a:t>
            </a:r>
            <a:endParaRPr/>
          </a:p>
        </p:txBody>
      </p:sp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Document Processing Pipeline</a:t>
            </a:r>
            <a:endParaRPr/>
          </a:p>
        </p:txBody>
      </p:sp>
      <p:pic>
        <p:nvPicPr>
          <p:cNvPr id="181" name="Google Shape;1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901" y="200350"/>
            <a:ext cx="6414199" cy="40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/>
        </p:nvSpPr>
        <p:spPr>
          <a:xfrm>
            <a:off x="3212550" y="4629250"/>
            <a:ext cx="412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500850" y="271825"/>
            <a:ext cx="8285400" cy="3878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Please extract the following data from the resume text provided in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triple quotes below and provide them only in format specified: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 of the candidate: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Professional Summary: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Total years of experience: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Skills (comma separated):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Companies worked for (comma separated):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Education: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Certifications (comma separated):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When extracting the candidate’s total years of experience if available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 the resume text or calculate the total years of experience based on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dates provided in the resume text.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you are calculating then assume current month and year as Jan 2024.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Resume Text: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{text}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19500" y="4300125"/>
            <a:ext cx="5998800" cy="5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Prompt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Store Ingestion Pipeline</a:t>
            </a:r>
            <a:endParaRPr/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325" y="202475"/>
            <a:ext cx="6897350" cy="401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Store Ingestion Pipeline</a:t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7925" y="166725"/>
            <a:ext cx="5608149" cy="391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 History</a:t>
            </a:r>
            <a:endParaRPr/>
          </a:p>
        </p:txBody>
      </p:sp>
      <p:sp>
        <p:nvSpPr>
          <p:cNvPr id="206" name="Google Shape;206;p32"/>
          <p:cNvSpPr txBox="1"/>
          <p:nvPr/>
        </p:nvSpPr>
        <p:spPr>
          <a:xfrm>
            <a:off x="629625" y="1330825"/>
            <a:ext cx="6704100" cy="3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Based on chat history and query from a user, we first check if we should reformat the question and reduce its dependency on the chat history.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Let’s say we have two questions,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Query 1: What skills does John Doe have?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Query 2: What’s his total years of experience?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 in Query 2, “his” is a possessive pronoun which refers to John Doe. We may rewrite Query 2 as “What’s John Doe’s total years of experience?”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/>
        </p:nvSpPr>
        <p:spPr>
          <a:xfrm>
            <a:off x="3212550" y="4629250"/>
            <a:ext cx="412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1663200" y="1333950"/>
            <a:ext cx="5817600" cy="2475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Chat History: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{chat_history}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Question: {question}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Given a chat history and the latest user question which might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reference context in the chat history, formulate a standalone question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which can be understood without the chat history.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 NOT answer the question, just reformulate it if needed and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otherwise return it as is.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319500" y="4300125"/>
            <a:ext cx="5998800" cy="5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Reconstruct Question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/>
        </p:nvSpPr>
        <p:spPr>
          <a:xfrm>
            <a:off x="3212550" y="4629250"/>
            <a:ext cx="412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34"/>
          <p:cNvSpPr txBox="1"/>
          <p:nvPr/>
        </p:nvSpPr>
        <p:spPr>
          <a:xfrm>
            <a:off x="1663200" y="1494900"/>
            <a:ext cx="5817600" cy="2153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Context has resume data of candidates. 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Answer the question only based on the following context.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you don't know the answer, just say that you don't know.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Be concise.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Context: {context}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Question: {question}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Answer:</a:t>
            </a:r>
            <a:endParaRPr sz="12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319500" y="4300125"/>
            <a:ext cx="5998800" cy="5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After Restructuring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for Production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RAG </a:t>
            </a:r>
            <a:endParaRPr/>
          </a:p>
        </p:txBody>
      </p:sp>
      <p:pic>
        <p:nvPicPr>
          <p:cNvPr descr="Reference: Ragas.io" id="231" name="Google Shape;231;p36"/>
          <p:cNvPicPr preferRelativeResize="0"/>
          <p:nvPr/>
        </p:nvPicPr>
        <p:blipFill rotWithShape="1">
          <a:blip r:embed="rId3">
            <a:alphaModFix/>
          </a:blip>
          <a:srcRect b="1436" l="0" r="0" t="19681"/>
          <a:stretch/>
        </p:blipFill>
        <p:spPr>
          <a:xfrm>
            <a:off x="928200" y="1147225"/>
            <a:ext cx="7287600" cy="374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6"/>
          <p:cNvSpPr txBox="1"/>
          <p:nvPr/>
        </p:nvSpPr>
        <p:spPr>
          <a:xfrm>
            <a:off x="5859875" y="4493275"/>
            <a:ext cx="25041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Reference: </a:t>
            </a:r>
            <a:r>
              <a:rPr lang="en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ragas.io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with Naive RAG</a:t>
            </a:r>
            <a:endParaRPr/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 sz="1400"/>
              <a:t>Bad Retrieval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Low Precision: Not all chunks in retrieved set are relevant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Hallucination + Lost in the Middle Problems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Low Recall: Now all relevant chunks are retrieved.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Lacks enough context for LLM to synthesize an answer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Outdated information: The data is redundant or out of date.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 sz="1400"/>
              <a:t>Bad Response Generation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Hallucination: Model makes up an answer that isn’t in the context.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Irrelevance: Model makes up an answer that doesn’t answer the question.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Toxicity/Bias: Model makes up an answer that’s harmful/offensive.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do ?</a:t>
            </a:r>
            <a:endParaRPr/>
          </a:p>
        </p:txBody>
      </p:sp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186675" y="1147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❖"/>
            </a:pPr>
            <a:r>
              <a:rPr lang="en"/>
              <a:t>Data: Can we store additional information beyond raw text chunks?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❖"/>
            </a:pPr>
            <a:r>
              <a:rPr lang="en"/>
              <a:t>Embeddings: Can we optimize our embedding representations?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❖"/>
            </a:pPr>
            <a:r>
              <a:rPr lang="en"/>
              <a:t>Retrieval: Can we do better than top-k embedding lookup?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❖"/>
            </a:pPr>
            <a:r>
              <a:rPr lang="en"/>
              <a:t>Synthesis: Can we use LLMs for more than generation?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8"/>
          <p:cNvSpPr/>
          <p:nvPr/>
        </p:nvSpPr>
        <p:spPr>
          <a:xfrm>
            <a:off x="4144709" y="3582787"/>
            <a:ext cx="1261508" cy="1167813"/>
          </a:xfrm>
          <a:prstGeom prst="flowChartMagneticDisk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Vector Database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38"/>
          <p:cNvSpPr/>
          <p:nvPr/>
        </p:nvSpPr>
        <p:spPr>
          <a:xfrm>
            <a:off x="854600" y="3740010"/>
            <a:ext cx="1144584" cy="555984"/>
          </a:xfrm>
          <a:prstGeom prst="flowChartMultidocumen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Documents</a:t>
            </a:r>
            <a:endParaRPr sz="1200"/>
          </a:p>
        </p:txBody>
      </p:sp>
      <p:sp>
        <p:nvSpPr>
          <p:cNvPr id="247" name="Google Shape;247;p38"/>
          <p:cNvSpPr/>
          <p:nvPr/>
        </p:nvSpPr>
        <p:spPr>
          <a:xfrm>
            <a:off x="2395412" y="3295050"/>
            <a:ext cx="1028400" cy="322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Chunk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38"/>
          <p:cNvSpPr/>
          <p:nvPr/>
        </p:nvSpPr>
        <p:spPr>
          <a:xfrm>
            <a:off x="2377552" y="3669568"/>
            <a:ext cx="1028400" cy="322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Chunk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38"/>
          <p:cNvSpPr/>
          <p:nvPr/>
        </p:nvSpPr>
        <p:spPr>
          <a:xfrm>
            <a:off x="2377552" y="4044087"/>
            <a:ext cx="1028400" cy="322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Chunk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38"/>
          <p:cNvSpPr/>
          <p:nvPr/>
        </p:nvSpPr>
        <p:spPr>
          <a:xfrm>
            <a:off x="2395412" y="4418606"/>
            <a:ext cx="1028400" cy="322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Chunk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1" name="Google Shape;251;p38"/>
          <p:cNvCxnSpPr>
            <a:stCxn id="246" idx="3"/>
            <a:endCxn id="247" idx="1"/>
          </p:cNvCxnSpPr>
          <p:nvPr/>
        </p:nvCxnSpPr>
        <p:spPr>
          <a:xfrm flipH="1" rot="10800000">
            <a:off x="1999184" y="3456102"/>
            <a:ext cx="396300" cy="5619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38"/>
          <p:cNvCxnSpPr>
            <a:stCxn id="246" idx="3"/>
            <a:endCxn id="248" idx="1"/>
          </p:cNvCxnSpPr>
          <p:nvPr/>
        </p:nvCxnSpPr>
        <p:spPr>
          <a:xfrm flipH="1" rot="10800000">
            <a:off x="1999184" y="3830802"/>
            <a:ext cx="378300" cy="1872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38"/>
          <p:cNvCxnSpPr>
            <a:stCxn id="246" idx="3"/>
            <a:endCxn id="249" idx="1"/>
          </p:cNvCxnSpPr>
          <p:nvPr/>
        </p:nvCxnSpPr>
        <p:spPr>
          <a:xfrm>
            <a:off x="1999184" y="4018002"/>
            <a:ext cx="378300" cy="1872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38"/>
          <p:cNvCxnSpPr>
            <a:stCxn id="246" idx="3"/>
            <a:endCxn id="250" idx="1"/>
          </p:cNvCxnSpPr>
          <p:nvPr/>
        </p:nvCxnSpPr>
        <p:spPr>
          <a:xfrm>
            <a:off x="1999184" y="4018002"/>
            <a:ext cx="396300" cy="561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38"/>
          <p:cNvCxnSpPr>
            <a:stCxn id="247" idx="3"/>
            <a:endCxn id="245" idx="2"/>
          </p:cNvCxnSpPr>
          <p:nvPr/>
        </p:nvCxnSpPr>
        <p:spPr>
          <a:xfrm>
            <a:off x="3423812" y="3456150"/>
            <a:ext cx="720900" cy="7104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38"/>
          <p:cNvCxnSpPr>
            <a:stCxn id="248" idx="3"/>
            <a:endCxn id="245" idx="2"/>
          </p:cNvCxnSpPr>
          <p:nvPr/>
        </p:nvCxnSpPr>
        <p:spPr>
          <a:xfrm>
            <a:off x="3405952" y="3830668"/>
            <a:ext cx="738900" cy="33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38"/>
          <p:cNvCxnSpPr>
            <a:stCxn id="249" idx="3"/>
            <a:endCxn id="245" idx="2"/>
          </p:cNvCxnSpPr>
          <p:nvPr/>
        </p:nvCxnSpPr>
        <p:spPr>
          <a:xfrm flipH="1" rot="10800000">
            <a:off x="3405952" y="4166787"/>
            <a:ext cx="738900" cy="384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8"/>
          <p:cNvCxnSpPr>
            <a:stCxn id="250" idx="3"/>
            <a:endCxn id="245" idx="2"/>
          </p:cNvCxnSpPr>
          <p:nvPr/>
        </p:nvCxnSpPr>
        <p:spPr>
          <a:xfrm flipH="1" rot="10800000">
            <a:off x="3423812" y="4166606"/>
            <a:ext cx="720900" cy="4131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8"/>
          <p:cNvCxnSpPr>
            <a:stCxn id="245" idx="4"/>
            <a:endCxn id="260" idx="1"/>
          </p:cNvCxnSpPr>
          <p:nvPr/>
        </p:nvCxnSpPr>
        <p:spPr>
          <a:xfrm>
            <a:off x="5406216" y="4166693"/>
            <a:ext cx="5388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38"/>
          <p:cNvSpPr/>
          <p:nvPr/>
        </p:nvSpPr>
        <p:spPr>
          <a:xfrm>
            <a:off x="7556124" y="3947895"/>
            <a:ext cx="876600" cy="437400"/>
          </a:xfrm>
          <a:prstGeom prst="ellipse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LLM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2" name="Google Shape;262;p38"/>
          <p:cNvCxnSpPr>
            <a:stCxn id="260" idx="3"/>
            <a:endCxn id="261" idx="2"/>
          </p:cNvCxnSpPr>
          <p:nvPr/>
        </p:nvCxnSpPr>
        <p:spPr>
          <a:xfrm>
            <a:off x="7017363" y="4166663"/>
            <a:ext cx="538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38"/>
          <p:cNvSpPr/>
          <p:nvPr/>
        </p:nvSpPr>
        <p:spPr>
          <a:xfrm>
            <a:off x="5944977" y="3885782"/>
            <a:ext cx="1072386" cy="561762"/>
          </a:xfrm>
          <a:prstGeom prst="flowChartMultidocumen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Data Chunks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38"/>
          <p:cNvSpPr txBox="1"/>
          <p:nvPr/>
        </p:nvSpPr>
        <p:spPr>
          <a:xfrm>
            <a:off x="767950" y="4296000"/>
            <a:ext cx="11445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Resumes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3405950" y="4677825"/>
            <a:ext cx="11445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Embeddings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5308575" y="4579700"/>
            <a:ext cx="11445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Retrieval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6862950" y="4418600"/>
            <a:ext cx="11445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Synthesis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 from Solution</a:t>
            </a:r>
            <a:endParaRPr/>
          </a:p>
        </p:txBody>
      </p:sp>
      <p:sp>
        <p:nvSpPr>
          <p:cNvPr id="272" name="Google Shape;272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❖"/>
            </a:pPr>
            <a:r>
              <a:rPr lang="en"/>
              <a:t>Accuracy expectations: The level of accuracy required for the task at hand will influence the design and implementation of the RAG system.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❖"/>
            </a:pPr>
            <a:r>
              <a:rPr lang="en"/>
              <a:t>Hallucination prevention: Ensuring the generated responses are accurate and relevant, without introducing false or misleading information, is crucial.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❖"/>
            </a:pPr>
            <a:r>
              <a:rPr lang="en"/>
              <a:t>Dataset scale and nature: The dataset’s size and nature will impact the retrieval process and the overall performance of the RAG system.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of Retrieved Chunks</a:t>
            </a:r>
            <a:endParaRPr/>
          </a:p>
        </p:txBody>
      </p:sp>
      <p:sp>
        <p:nvSpPr>
          <p:cNvPr id="278" name="Google Shape;278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Relevance: Chunks should be highly relevant to the query or context, ensuring that generated responses are on-topic and useful.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Diversity: Chunks should be diverse, avoiding redundancy and providing a broad range of 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Contextuality: Chunks should be contextual, considering the conversation history for coherent responses.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Accuracy: Ensure retrieved information is accurate and factually correct to prevent incorrect distribution of facts across chunks.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Ranking: The order of retrieved chunks matters; re-ranking steps post-retrieval and incorporating user feedback improves relevance.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RAG pipeline</a:t>
            </a:r>
            <a:endParaRPr/>
          </a:p>
        </p:txBody>
      </p:sp>
      <p:sp>
        <p:nvSpPr>
          <p:cNvPr id="284" name="Google Shape;284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Generating more better and relevant responses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Privacy and security: Ensure personal and sensitive information is not revealed.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Data management policies: Adhere to data management policies, including forgetting past data and injecting fresh data as per requirements.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Scalability, reliability, and cost-efficiency: Ensure the RAG solution is scalable, reliable, and cost-efficient for enterprise usage.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RAG and LLM </a:t>
            </a:r>
            <a:r>
              <a:rPr lang="en"/>
              <a:t>Fine Tuning</a:t>
            </a:r>
            <a:endParaRPr/>
          </a:p>
        </p:txBody>
      </p:sp>
      <p:graphicFrame>
        <p:nvGraphicFramePr>
          <p:cNvPr id="290" name="Google Shape;290;p42"/>
          <p:cNvGraphicFramePr/>
          <p:nvPr/>
        </p:nvGraphicFramePr>
        <p:xfrm>
          <a:off x="489950" y="130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{1600D373-E09B-48B4-9B50-520DE68DF8B3}</a:tableStyleId>
              </a:tblPr>
              <a:tblGrid>
                <a:gridCol w="3996750"/>
                <a:gridCol w="3996750"/>
              </a:tblGrid>
              <a:tr h="676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LLM Fine-Tuning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RAG</a:t>
                      </a:r>
                      <a:endParaRPr b="1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Alters LLM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alterations to LLM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Less adaptability/flexibility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More adaptability/flexibility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Tightly coupled with LLM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There is no tight dependency on LLM, the model can be swapped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set size constraints overall considering the cost of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fine-tuning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data restrictions as such, cost marginally increases with dataset size increase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96" name="Google Shape;296;p4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u="sng">
                <a:solidFill>
                  <a:schemeClr val="hlink"/>
                </a:solidFill>
                <a:hlinkClick r:id="rId3"/>
              </a:rPr>
              <a:t>Re</a:t>
            </a:r>
            <a:r>
              <a:rPr lang="en" u="sng">
                <a:solidFill>
                  <a:schemeClr val="hlink"/>
                </a:solidFill>
                <a:hlinkClick r:id="rId4"/>
              </a:rPr>
              <a:t>trieval-Augmented Generation for Knowledge-Intensive NLP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u="sng">
                <a:solidFill>
                  <a:schemeClr val="hlink"/>
                </a:solidFill>
                <a:hlinkClick r:id="rId5"/>
              </a:rPr>
              <a:t>Dense Passage Retrieval for Open-Domain Question Answering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u="sng">
                <a:solidFill>
                  <a:schemeClr val="hlink"/>
                </a:solidFill>
                <a:hlinkClick r:id="rId6"/>
              </a:rPr>
              <a:t>LangChain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u="sng">
                <a:solidFill>
                  <a:schemeClr val="hlink"/>
                </a:solidFill>
                <a:hlinkClick r:id="rId7"/>
              </a:rPr>
              <a:t>Ragas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? </a:t>
            </a:r>
            <a:br>
              <a:rPr lang="en"/>
            </a:br>
            <a:r>
              <a:rPr lang="en"/>
              <a:t>Let my LLM answer it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:-)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