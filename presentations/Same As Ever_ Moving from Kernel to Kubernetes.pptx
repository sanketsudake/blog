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  <p:embeddedFont>
      <p:font typeface="Amatic SC"/>
      <p:regular r:id="rId35"/>
      <p:bold r:id="rId36"/>
    </p:embeddedFont>
    <p:embeddedFont>
      <p:font typeface="Source Code Pr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CodePr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35" Type="http://schemas.openxmlformats.org/officeDocument/2006/relationships/font" Target="fonts/AmaticSC-regular.fntdata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37" Type="http://schemas.openxmlformats.org/officeDocument/2006/relationships/font" Target="fonts/SourceCodePro-regular.fntdata"/><Relationship Id="rId14" Type="http://schemas.openxmlformats.org/officeDocument/2006/relationships/slide" Target="slides/slide9.xml"/><Relationship Id="rId36" Type="http://schemas.openxmlformats.org/officeDocument/2006/relationships/font" Target="fonts/AmaticSC-bold.fntdata"/><Relationship Id="rId17" Type="http://schemas.openxmlformats.org/officeDocument/2006/relationships/slide" Target="slides/slide12.xml"/><Relationship Id="rId39" Type="http://schemas.openxmlformats.org/officeDocument/2006/relationships/font" Target="fonts/SourceCodePro-italic.fntdata"/><Relationship Id="rId16" Type="http://schemas.openxmlformats.org/officeDocument/2006/relationships/slide" Target="slides/slide11.xml"/><Relationship Id="rId38" Type="http://schemas.openxmlformats.org/officeDocument/2006/relationships/font" Target="fonts/SourceCodePr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cs.unc.edu/techreports/86-020.pdf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9fcd280a3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9fcd280a3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 About 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just highlights few technologies and languages I have </a:t>
            </a:r>
            <a:r>
              <a:rPr lang="en"/>
              <a:t>played across.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Programmed in languages - C, Python, Java, Go etc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Started from kernel stack, worked on frontend/backend, worked in openstack/kubernetes space as well.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 though I had to explore different technologies, I try to find common theme across.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9fcd280a3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9fcd280a3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9fcd280a3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9fcd280a3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9fcd280a3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9fcd280a3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have extracted few graphs from old book. These trends continue to thrive.</a:t>
            </a:r>
            <a:br>
              <a:rPr lang="en"/>
            </a:br>
            <a:br>
              <a:rPr lang="en"/>
            </a:br>
            <a:r>
              <a:rPr lang="en"/>
              <a:t>Total cost of one </a:t>
            </a:r>
            <a:r>
              <a:rPr lang="en"/>
              <a:t>million</a:t>
            </a:r>
            <a:r>
              <a:rPr lang="en"/>
              <a:t> compute operations over time</a:t>
            </a:r>
            <a:br>
              <a:rPr lang="en"/>
            </a:br>
            <a:r>
              <a:rPr lang="en"/>
              <a:t>- We have been </a:t>
            </a:r>
            <a:r>
              <a:rPr lang="en"/>
              <a:t>witnessing</a:t>
            </a:r>
            <a:r>
              <a:rPr lang="en"/>
              <a:t> these as we see mobile phones get more compute power in the same cost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9fcd280a3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9fcd280a3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cost in per </a:t>
            </a:r>
            <a:r>
              <a:rPr lang="en"/>
              <a:t>megabyte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trend we see as consumer we are able to see storage costs are going down. Same stands in cloud.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9fcd280a3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9fcd280a3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Consumed in watts in executing instruction on a computer.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recent advances in arm computing this has accelerated and we see focus more towards green computing.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9fcd280a3d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9fcd280a3d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Lindy effect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Lindy effect states that if something has existed for x years, it is more likely to exist in the future for x years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9fcd280a3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9fcd280a3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The Mythical Man-Month</a:t>
            </a:r>
            <a:endParaRPr b="1"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The book was published in 1974 By Fred Brooks Turing award winner.</a:t>
            </a:r>
            <a:endParaRPr b="1"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Many of thoughts expressed in book stand test of time.</a:t>
            </a:r>
            <a:endParaRPr b="1"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t/>
            </a:r>
            <a:endParaRPr b="1"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Brooks' Law states that "adding manpower to a late software project makes it later." This is because the new workers require training and communication with the existing team, which consumes more time.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How do we get software deliverables late by 1 year?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One day at a time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9fcd280a3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9fcd280a3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published in  </a:t>
            </a:r>
            <a:r>
              <a:rPr lang="en">
                <a:solidFill>
                  <a:schemeClr val="dk1"/>
                </a:solidFill>
              </a:rPr>
              <a:t>September 1986 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https://www.cs.unc.edu/techreports/86-020.pdf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states that </a:t>
            </a:r>
            <a:r>
              <a:rPr lang="en"/>
              <a:t>there</a:t>
            </a:r>
            <a:r>
              <a:rPr lang="en"/>
              <a:t> is </a:t>
            </a: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no single development, in either technology or management technique, which can guarantee significant improvement in art of delivering software.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fundamentally 4 points mentioned the paper.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Leverage third party services, software rather than building everything on your own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Build POCs and iterate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Agile we </a:t>
            </a:r>
            <a:r>
              <a:rPr lang="en"/>
              <a:t>talk</a:t>
            </a:r>
            <a:r>
              <a:rPr lang="en"/>
              <a:t> of todays world. Build small and composable modules. Ensure its usable , testable etc.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Investing in people. Build processes/standards and keep moving from poor to good.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 Additional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No Silver Bullet:</a:t>
            </a: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There is no single development, in either technology or management technique, which by itself promises even one order of magnitude (tenfold) improvement in productivity, in reliability, in simplicity.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Build One to Throw Away: You will anyway, so plan to. The idea is that system requirements will change during construction, so the first system built is barely usable, and it's best to plan for a rebuild.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Communication Overhead: As the team size increases, the number of communication channels increases exponentially, which significantly hampers the productivity.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9fcd280a3d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9fcd280a3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9fcd280a3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9fcd280a3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often focus on things which would be different from ten years from now ?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Rather if we focus on focus what would be same from 10 years from now 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9fcd280a3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9fcd280a3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9fcd280a3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9fcd280a3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9fcd280a3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9fcd280a3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Fundamentals like linux basics, bash familiarity, understanding of containers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Why we need json, yaml , what is DSL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How DNS works?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to have understanding of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Operating systems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Database systems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Programming languages (1 interpreted, 1 low level, 1 functional) would serve you in long term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a16a988f5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a16a988f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a16a988f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a16a988f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9fcd280a3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9fcd280a3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12121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“The most effective way to debug a program is let someone else do it”</a:t>
            </a:r>
            <a:br>
              <a:rPr lang="en" sz="1800">
                <a:solidFill>
                  <a:srgbClr val="212121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endParaRPr sz="1800">
              <a:solidFill>
                <a:srgbClr val="212121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12121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12121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“Debugging is like being the detective in crime movie where you are also a murderder”- Filipe Fortes</a:t>
            </a:r>
            <a:endParaRPr sz="1800">
              <a:solidFill>
                <a:srgbClr val="212121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212121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9fcd280a3d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9fcd280a3d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a16a988f5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a16a988f5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9fcd280a3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9fcd280a3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9fcd280a3d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9fcd280a3d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9fcd280a3d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9fcd280a3d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9fcd280a3d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9fcd280a3d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9fcd280a3d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9fcd280a3d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knosof.co.uk/ESEUR/ESEUR.pdf" TargetMode="External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As EveR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Sanket Sudake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 About ME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050125"/>
            <a:ext cx="8520600" cy="3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Graduation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-"/>
            </a:pPr>
            <a:r>
              <a:rPr lang="en" sz="1350"/>
              <a:t>Web development in Python</a:t>
            </a:r>
            <a:endParaRPr sz="1350"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-"/>
            </a:pPr>
            <a:r>
              <a:rPr lang="en" sz="1350"/>
              <a:t>Containers implementation in C for code execution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Started career as Linux Kernel Engineer(C)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Moved to Openstack, </a:t>
            </a:r>
            <a:r>
              <a:rPr lang="en"/>
              <a:t>contribute</a:t>
            </a:r>
            <a:r>
              <a:rPr lang="en"/>
              <a:t> to opensource project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between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Kubernetes controllers(Go), Unikernels(Go), crypto exchange(Java)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Lead few projects - Lingk(UI, backend), Tinkerbell Baremetal OSS(Go, baremetal)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SRE </a:t>
            </a:r>
            <a:r>
              <a:rPr lang="en"/>
              <a:t>world with Sunpower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CI/CD(Jenkins), SRE, Infra Automation(Terraform, Cloudformation)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Recent streaks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Fission, Nineops, NLG initiatives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Funnelstory - Backend, Databases, Integrations(Slack, Salesforce)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Recent Read</a:t>
            </a:r>
            <a:endParaRPr/>
          </a:p>
        </p:txBody>
      </p:sp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“Same As Ever” By Morgan Housel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950" y="352425"/>
            <a:ext cx="3597500" cy="44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CONSTANT TRENDS OVER PERIOD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606300" y="450900"/>
            <a:ext cx="8537700" cy="3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1055075" y="4879725"/>
            <a:ext cx="43302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3"/>
              </a:rPr>
              <a:t>http://www.knosof.co.uk/ESEUR/ESEUR.pdf</a:t>
            </a:r>
            <a:endParaRPr sz="1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325" y="152400"/>
            <a:ext cx="7641450" cy="466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825" y="246525"/>
            <a:ext cx="7982075" cy="465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750" y="84275"/>
            <a:ext cx="6971025" cy="49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LINDY EFFECT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50"/>
              <a:buFont typeface="Arial"/>
              <a:buChar char="❖"/>
            </a:pPr>
            <a:r>
              <a:rPr lang="en" sz="1650">
                <a:solidFill>
                  <a:srgbClr val="222222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The idea long something has existed, the longer it is likely to exist in future.</a:t>
            </a:r>
            <a:endParaRPr sz="1650">
              <a:solidFill>
                <a:srgbClr val="222222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222222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222222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50"/>
              <a:buFont typeface="Arial"/>
              <a:buChar char="❖"/>
            </a:pPr>
            <a:r>
              <a:rPr lang="en" sz="1650">
                <a:solidFill>
                  <a:srgbClr val="222222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Eg. If book has been in print for 50 years, effect suggests it would in print </a:t>
            </a:r>
            <a:r>
              <a:rPr lang="en" sz="1650">
                <a:solidFill>
                  <a:srgbClr val="222222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another next 50 years.</a:t>
            </a:r>
            <a:endParaRPr sz="1650">
              <a:solidFill>
                <a:srgbClr val="222222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50"/>
              <a:buFont typeface="Arial"/>
              <a:buChar char="❖"/>
            </a:pPr>
            <a:r>
              <a:rPr lang="en" sz="1650">
                <a:solidFill>
                  <a:srgbClr val="222222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If technology has been used for 20 years, it would be in use for another 20 years.</a:t>
            </a:r>
            <a:endParaRPr sz="1650">
              <a:solidFill>
                <a:srgbClr val="222222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222222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222222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50"/>
              <a:buFont typeface="Arial"/>
              <a:buChar char="❖"/>
            </a:pPr>
            <a:r>
              <a:rPr lang="en" sz="1650">
                <a:solidFill>
                  <a:srgbClr val="222222"/>
                </a:solidFill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Infosys still uses cobol in mainframe business units. One of top performing revenue unit.</a:t>
            </a:r>
            <a:endParaRPr sz="1650">
              <a:solidFill>
                <a:srgbClr val="222222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222222"/>
              </a:solidFill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Published in 1974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228675"/>
            <a:ext cx="55131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Brooks Law - Adding manpower to late software makes it later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Group communication formula - n(n-1)/2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50 developers give 1224 channels of communication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7750" y="320375"/>
            <a:ext cx="2871425" cy="42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350" y="3136225"/>
            <a:ext cx="4113650" cy="19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SILVER BULLET - BROOKS 1986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100" y="1228675"/>
            <a:ext cx="8038850" cy="36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ThouGhT </a:t>
            </a:r>
            <a:r>
              <a:rPr lang="en"/>
              <a:t>EXPERIMENTS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Thought Experiment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Thoughts</a:t>
            </a:r>
            <a:endParaRPr sz="24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often focus on things which would change (3-5 years)?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if we focus on things which would remain same(10 years) ?</a:t>
            </a:r>
            <a:endParaRPr/>
          </a:p>
          <a:p>
            <a:pPr indent="45720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Actions</a:t>
            </a:r>
            <a:endParaRPr sz="24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 analyzed all tech projects I have worked 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Synthesize </a:t>
            </a:r>
            <a:r>
              <a:rPr b="1" lang="en"/>
              <a:t>Constants</a:t>
            </a:r>
            <a:r>
              <a:rPr lang="en"/>
              <a:t> than </a:t>
            </a:r>
            <a:r>
              <a:rPr b="1" lang="en"/>
              <a:t>Variables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RATE</a:t>
            </a:r>
            <a:endParaRPr/>
          </a:p>
        </p:txBody>
      </p:sp>
      <p:sp>
        <p:nvSpPr>
          <p:cNvPr id="131" name="Google Shape;131;p2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“Civilization can only progress only when it invents the </a:t>
            </a:r>
            <a:r>
              <a:rPr lang="en"/>
              <a:t>method of invention, you can only progress when you learn the method of learning” -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Charlie Munger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THE LEARNING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228675"/>
            <a:ext cx="8520600" cy="3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Learning something new is challenge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P</a:t>
            </a:r>
            <a:r>
              <a:rPr lang="en" sz="2400"/>
              <a:t>henomenon</a:t>
            </a:r>
            <a:r>
              <a:rPr lang="en" sz="2400"/>
              <a:t> of learning always remains constant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Learning rate defines your productivity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You can always go </a:t>
            </a:r>
            <a:r>
              <a:rPr lang="en" sz="2400"/>
              <a:t>vertical</a:t>
            </a:r>
            <a:r>
              <a:rPr lang="en" sz="2400"/>
              <a:t> or horizontal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Target horizontal long term, vertical short term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are IMPORTANT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228675"/>
            <a:ext cx="8520600" cy="3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Everything is just abstraction on top of compute, storage, networking and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Software evolution is incremental, so the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Learn concepts/interfaces over implementations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You cannot understand x until you understand 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Virtualization - without how machine execute instructions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Containers - without how processes, networking and namespaces 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Kubernetes - without containers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“A person with good learning rate and absolute CS fundamentals would be do better in long term over person with ready skill sets and lacking the earlier.”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</a:t>
            </a:r>
            <a:r>
              <a:rPr lang="en"/>
              <a:t> WorlD - MEthoDS TO LEARN</a:t>
            </a:r>
            <a:endParaRPr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311700" y="1228675"/>
            <a:ext cx="8520600" cy="3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Scanning docs and compress in mind for utilization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Ability to read unfamiliar code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Bash tools - Grep/Find/Ack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Ctags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Github code 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Copilot GPT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Ability to build/run new project and get it running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First two computers can assist you now :-)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TroubleSHOOTING &amp; DEBUGGING</a:t>
            </a:r>
            <a:endParaRPr/>
          </a:p>
        </p:txBody>
      </p:sp>
      <p:sp>
        <p:nvSpPr>
          <p:cNvPr id="162" name="Google Shape;162;p30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“The most effective way to debug a program is let someone else do it”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“Debugging is like being the detective in crime movie where you are also a murderder”- Filipe Fortes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And TRoubleShooting</a:t>
            </a:r>
            <a:endParaRPr/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Early in my career, solved lot of stack traces, kernel panics and escalations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b="1" lang="en" sz="2400"/>
              <a:t>Attention to details</a:t>
            </a:r>
            <a:r>
              <a:rPr lang="en" sz="2400"/>
              <a:t> is key factor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When you are looking at crime scene you can’t miss important clues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Ability to logically dissect and address </a:t>
            </a:r>
            <a:r>
              <a:rPr lang="en" sz="2400"/>
              <a:t>complex </a:t>
            </a:r>
            <a:r>
              <a:rPr lang="en" sz="2400"/>
              <a:t>problems is vital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TroubleSHooting</a:t>
            </a:r>
            <a:endParaRPr/>
          </a:p>
        </p:txBody>
      </p:sp>
      <p:sp>
        <p:nvSpPr>
          <p:cNvPr id="175" name="Google Shape;175;p3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Scan through data (logs, metrics, dashboards, dumps)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Relate problem to code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b="1" lang="en" sz="2400"/>
              <a:t>Build theories</a:t>
            </a:r>
            <a:r>
              <a:rPr lang="en" sz="2400"/>
              <a:t> what could be going wrong and validate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Luckily</a:t>
            </a:r>
            <a:r>
              <a:rPr lang="en" sz="2400"/>
              <a:t> you can </a:t>
            </a:r>
            <a:r>
              <a:rPr b="1" lang="en" sz="2400"/>
              <a:t>reproduce</a:t>
            </a:r>
            <a:r>
              <a:rPr lang="en" sz="2400"/>
              <a:t> behaviours in software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Repeat and reproduce until you solve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Place yourself !</a:t>
            </a:r>
            <a:endParaRPr/>
          </a:p>
        </p:txBody>
      </p:sp>
      <p:sp>
        <p:nvSpPr>
          <p:cNvPr id="181" name="Google Shape;181;p33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Category 1: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am devops engineer excels in infra automation, CI/CD, monitoring, etc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3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Category 2: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am devops engineer excels in infra automation, CI/CD, monitoring, etc </a:t>
            </a:r>
            <a:r>
              <a:rPr lang="en" u="sng"/>
              <a:t>with troubleshooting and production support experience.</a:t>
            </a:r>
            <a:endParaRPr u="sng"/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We trust more in people from category 2(production experience).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Often people just want to deliver but don’t support(no skin in the game)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Being in production and being close to production makes your future code 5x better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You can’t be just in category 1 and make big stride in your career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</a:t>
            </a:r>
            <a:r>
              <a:rPr lang="en"/>
              <a:t> Collaboration and Communication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 &amp; Communication</a:t>
            </a:r>
            <a:endParaRPr/>
          </a:p>
        </p:txBody>
      </p:sp>
      <p:sp>
        <p:nvSpPr>
          <p:cNvPr id="193" name="Google Shape;193;p3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Software dev is not solo endeavor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b="1" lang="en" sz="2400"/>
              <a:t>Effective</a:t>
            </a:r>
            <a:r>
              <a:rPr lang="en" sz="2400"/>
              <a:t> ways</a:t>
            </a:r>
            <a:r>
              <a:rPr lang="en" sz="2400"/>
              <a:t> to communicate knowledge, ideas and progress are important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" sz="2400"/>
              <a:t>Knowing your role in a team and sticking to it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b="1" lang="en" sz="2400"/>
              <a:t>Empathy</a:t>
            </a:r>
            <a:r>
              <a:rPr lang="en" sz="2400"/>
              <a:t> is key factor in communication </a:t>
            </a:r>
            <a:endParaRPr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</a:t>
            </a:r>
            <a:endParaRPr/>
          </a:p>
        </p:txBody>
      </p:sp>
      <p:sp>
        <p:nvSpPr>
          <p:cNvPr id="199" name="Google Shape;199;p3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Reflect on your career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Identify which things are same backward and forward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Note them down in form</a:t>
            </a:r>
            <a:endParaRPr/>
          </a:p>
        </p:txBody>
      </p:sp>
      <p:sp>
        <p:nvSpPr>
          <p:cNvPr id="200" name="Google Shape;200;p36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highlight>
                  <a:schemeClr val="lt1"/>
                </a:highlight>
              </a:rPr>
              <a:t>Identify your “same as ever”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FeedbacK 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