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Play"/>
      <p:regular r:id="rId25"/>
      <p:bold r:id="rId26"/>
    </p:embeddedFont>
    <p:embeddedFont>
      <p:font typeface="Montserrat SemiBold"/>
      <p:regular r:id="rId27"/>
      <p:bold r:id="rId28"/>
      <p:italic r:id="rId29"/>
      <p:boldItalic r:id="rId30"/>
    </p:embeddedFont>
    <p:embeddedFont>
      <p:font typeface="Roboto"/>
      <p:regular r:id="rId31"/>
      <p:bold r:id="rId32"/>
      <p:italic r:id="rId33"/>
      <p:boldItalic r:id="rId34"/>
    </p:embeddedFont>
    <p:embeddedFont>
      <p:font typeface="Montserrat"/>
      <p:regular r:id="rId35"/>
      <p:bold r:id="rId36"/>
      <p:italic r:id="rId37"/>
      <p:boldItalic r:id="rId38"/>
    </p:embeddedFont>
    <p:embeddedFont>
      <p:font typeface="Inter"/>
      <p:regular r:id="rId39"/>
      <p:bold r:id="rId40"/>
      <p:italic r:id="rId41"/>
      <p:boldItalic r:id="rId42"/>
    </p:embeddedFont>
    <p:embeddedFont>
      <p:font typeface="Montserrat Medium"/>
      <p:regular r:id="rId43"/>
      <p:bold r:id="rId44"/>
      <p:italic r:id="rId45"/>
      <p:boldItalic r:id="rId46"/>
    </p:embeddedFont>
    <p:embeddedFont>
      <p:font typeface="Nunito Medium"/>
      <p:regular r:id="rId47"/>
      <p:bold r:id="rId48"/>
      <p:italic r:id="rId49"/>
      <p:boldItalic r:id="rId50"/>
    </p:embeddedFont>
    <p:embeddedFont>
      <p:font typeface="Montserrat ExtraBold"/>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42" Type="http://schemas.openxmlformats.org/officeDocument/2006/relationships/font" Target="fonts/Inter-boldItalic.fntdata"/><Relationship Id="rId41" Type="http://schemas.openxmlformats.org/officeDocument/2006/relationships/font" Target="fonts/Inter-italic.fntdata"/><Relationship Id="rId44" Type="http://schemas.openxmlformats.org/officeDocument/2006/relationships/font" Target="fonts/MontserratMedium-bold.fntdata"/><Relationship Id="rId43" Type="http://schemas.openxmlformats.org/officeDocument/2006/relationships/font" Target="fonts/MontserratMedium-regular.fntdata"/><Relationship Id="rId46" Type="http://schemas.openxmlformats.org/officeDocument/2006/relationships/font" Target="fonts/MontserratMedium-boldItalic.fntdata"/><Relationship Id="rId45" Type="http://schemas.openxmlformats.org/officeDocument/2006/relationships/font" Target="fonts/MontserratMedium-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NunitoMedium-bold.fntdata"/><Relationship Id="rId47" Type="http://schemas.openxmlformats.org/officeDocument/2006/relationships/font" Target="fonts/NunitoMedium-regular.fntdata"/><Relationship Id="rId49" Type="http://schemas.openxmlformats.org/officeDocument/2006/relationships/font" Target="fonts/NunitoMedium-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font" Target="fonts/MontserratSemiBold-boldItalic.fntdata"/><Relationship Id="rId33" Type="http://schemas.openxmlformats.org/officeDocument/2006/relationships/font" Target="fonts/Roboto-italic.fntdata"/><Relationship Id="rId32" Type="http://schemas.openxmlformats.org/officeDocument/2006/relationships/font" Target="fonts/Roboto-bold.fntdata"/><Relationship Id="rId35" Type="http://schemas.openxmlformats.org/officeDocument/2006/relationships/font" Target="fonts/Montserrat-regular.fntdata"/><Relationship Id="rId34" Type="http://schemas.openxmlformats.org/officeDocument/2006/relationships/font" Target="fonts/Roboto-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Inter-regular.fntdata"/><Relationship Id="rId38" Type="http://schemas.openxmlformats.org/officeDocument/2006/relationships/font" Target="fonts/Montserrat-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MontserratSemiBold-bold.fntdata"/><Relationship Id="rId27" Type="http://schemas.openxmlformats.org/officeDocument/2006/relationships/font" Target="fonts/MontserratSemiBold-regular.fntdata"/><Relationship Id="rId29" Type="http://schemas.openxmlformats.org/officeDocument/2006/relationships/font" Target="fonts/MontserratSemiBold-italic.fntdata"/><Relationship Id="rId51" Type="http://schemas.openxmlformats.org/officeDocument/2006/relationships/font" Target="fonts/MontserratExtraBold-bold.fntdata"/><Relationship Id="rId50" Type="http://schemas.openxmlformats.org/officeDocument/2006/relationships/font" Target="fonts/NunitoMedium-boldItalic.fntdata"/><Relationship Id="rId52" Type="http://schemas.openxmlformats.org/officeDocument/2006/relationships/font" Target="fonts/MontserratExtraBold-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ission.io/images/body-img-1.svg"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tia.gov/page/software-bill-material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lsa.dev/spec/v1.0/images/supply-chain-threats.sv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fission/fission/blob/main/go.mod" TargetMode="External"/><Relationship Id="rId3" Type="http://schemas.openxmlformats.org/officeDocument/2006/relationships/hyperlink" Target="https://github.com/fission/fission/blob/main/go.sum"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 name="Google Shape;5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cd1391523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About Me</a:t>
            </a:r>
            <a:endParaRPr/>
          </a:p>
          <a:p>
            <a:pPr indent="0" lvl="0" marL="0" rtl="0" algn="l">
              <a:lnSpc>
                <a:spcPct val="100000"/>
              </a:lnSpc>
              <a:spcBef>
                <a:spcPts val="0"/>
              </a:spcBef>
              <a:spcAft>
                <a:spcPts val="0"/>
              </a:spcAft>
              <a:buSzPts val="1100"/>
              <a:buNone/>
            </a:pPr>
            <a:r>
              <a:t/>
            </a:r>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Principal Engineer, InfraCloud </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Maintainer Fission - Serverless</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Interest Areas: Cloud/Containers, Distributed Systems</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Past: Started as Kernel Engineer </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Worked as Go developer, Openstack developer, SRE</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Open Sans"/>
              <a:buChar char="❖"/>
            </a:pPr>
            <a:r>
              <a:rPr lang="en-CA" sz="1800">
                <a:solidFill>
                  <a:schemeClr val="dk1"/>
                </a:solidFill>
              </a:rPr>
              <a:t>Loves tinker around Opensource projects</a:t>
            </a:r>
            <a:endParaRPr/>
          </a:p>
        </p:txBody>
      </p:sp>
      <p:sp>
        <p:nvSpPr>
          <p:cNvPr id="63" name="Google Shape;63;g31cd1391523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cd80c685f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Fission is a kubernetes -native serverless </a:t>
            </a:r>
            <a:r>
              <a:rPr lang="en-CA"/>
              <a:t>platform</a:t>
            </a:r>
            <a:r>
              <a:rPr lang="en-CA"/>
              <a:t>.  It can on CNCF compliant Kubernetes anywhere.</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Kubernetes Native Faas</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Any public cloud or on-prem </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Cloud-native platform with K8s base</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Wide Community Adoption</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8k+ Stars, 20+ Enterprise Users</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2000+ Monthly Installs</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K8s deployments with 200+ nodes</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Fast and Flexible</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100ms cold start with warm pool</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Easily Customizable and extensible</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Support different languages and strategies</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Languages &amp; Integrations</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Trigger: HTTP, MQ, Time triggers</a:t>
            </a:r>
            <a:endParaRPr sz="1000">
              <a:solidFill>
                <a:srgbClr val="595959"/>
              </a:solidFill>
              <a:latin typeface="Nunito Medium"/>
              <a:ea typeface="Nunito Medium"/>
              <a:cs typeface="Nunito Medium"/>
              <a:sym typeface="Nunito Medium"/>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Support all most of popular languages</a:t>
            </a:r>
            <a:endParaRPr sz="1000">
              <a:solidFill>
                <a:srgbClr val="595959"/>
              </a:solidFill>
              <a:latin typeface="Nunito Medium"/>
              <a:ea typeface="Nunito Medium"/>
              <a:cs typeface="Nunito Medium"/>
              <a:sym typeface="Nunito Medium"/>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Observability, Tracing support </a:t>
            </a:r>
            <a:endParaRPr sz="1000">
              <a:solidFill>
                <a:srgbClr val="595959"/>
              </a:solidFill>
              <a:latin typeface="Montserrat Medium"/>
              <a:ea typeface="Montserrat Medium"/>
              <a:cs typeface="Montserrat Medium"/>
              <a:sym typeface="Montserrat Medium"/>
            </a:endParaRPr>
          </a:p>
        </p:txBody>
      </p:sp>
      <p:sp>
        <p:nvSpPr>
          <p:cNvPr id="71" name="Google Shape;71;g31cd80c685f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1cd1391523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1cd139152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Fission</a:t>
            </a:r>
            <a:r>
              <a:rPr lang="en-CA"/>
              <a:t> provides </a:t>
            </a:r>
            <a:r>
              <a:rPr lang="en-CA"/>
              <a:t>support</a:t>
            </a:r>
            <a:r>
              <a:rPr lang="en-CA"/>
              <a:t> different languages like java, python, go, javascript etc.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Developers write functions and deploy them on Fission.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Fission also build source code .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Once function is deployed it can be triggered via trigger like HTTP, Message Queue, Timer.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have build integrations with message queues like Kafka, SQS, RabbitMQ, Redis etc.</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cd80c685f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cd80c685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Source </a:t>
            </a:r>
            <a:r>
              <a:rPr lang="en-CA" u="sng">
                <a:solidFill>
                  <a:schemeClr val="hlink"/>
                </a:solidFill>
                <a:hlinkClick r:id="rId2"/>
              </a:rPr>
              <a:t>https://fission.io/images/body-img-1.svg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Here is the example of simple Hello world around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create a simple function which follows javascript specification by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Most of functions just accept request payload and return </a:t>
            </a:r>
            <a:r>
              <a:rPr lang="en-CA"/>
              <a:t>response</a:t>
            </a:r>
            <a:r>
              <a:rPr lang="en-CA"/>
              <a:t>. Rest of things are handled by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Once function is created, we create a http route which handles all calls to the function.</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cd80c685f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Average cost of a software supply chain attack: US$4.63 million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Average time to identify and contain a software supply chain attack: 294 days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Share of data breaches originating from software supply chain attacks in 2023: 12%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Annual increase in software supply chain attacks over the past 3 years: 742% 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CA" sz="3200">
                <a:solidFill>
                  <a:srgbClr val="1C4587"/>
                </a:solidFill>
                <a:latin typeface="Montserrat"/>
                <a:ea typeface="Montserrat"/>
                <a:cs typeface="Montserrat"/>
                <a:sym typeface="Montserrat"/>
              </a:rPr>
              <a:t>SSDF strategy by NIST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Prepare Organization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Ensuring process, people, technology are ready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Continuous adoption of secure software development</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Produce Well-Secured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Software with minimum vulnerabilities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Less target attack surfaces</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Protect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Safeguarding software from software tampering and unauthorized Access</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900">
                <a:solidFill>
                  <a:srgbClr val="1155CC"/>
                </a:solidFill>
                <a:latin typeface="Montserrat"/>
                <a:ea typeface="Montserrat"/>
                <a:cs typeface="Montserrat"/>
                <a:sym typeface="Montserrat"/>
              </a:rPr>
              <a:t>Respond to Vulnerabilities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Identify vulns and address quickly</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Prevent similar instances in future</a:t>
            </a:r>
            <a:endParaRPr sz="1500">
              <a:solidFill>
                <a:srgbClr val="595959"/>
              </a:solidFill>
              <a:latin typeface="Montserrat Medium"/>
              <a:ea typeface="Montserrat Medium"/>
              <a:cs typeface="Montserrat Medium"/>
              <a:sym typeface="Montserrat Medium"/>
            </a:endParaRPr>
          </a:p>
        </p:txBody>
      </p:sp>
      <p:sp>
        <p:nvSpPr>
          <p:cNvPr id="162" name="Google Shape;162;g31cd80c685f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cd80c685f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OpenSSF Scorecard </a:t>
            </a:r>
            <a:endParaRPr/>
          </a:p>
          <a:p>
            <a:pPr indent="-298450" lvl="0" marL="457200" rtl="0" algn="l">
              <a:lnSpc>
                <a:spcPct val="100000"/>
              </a:lnSpc>
              <a:spcBef>
                <a:spcPts val="0"/>
              </a:spcBef>
              <a:spcAft>
                <a:spcPts val="0"/>
              </a:spcAft>
              <a:buSzPts val="1100"/>
              <a:buChar char="-"/>
            </a:pPr>
            <a:r>
              <a:rPr lang="en-CA"/>
              <a:t>Evaluate project security Risks</a:t>
            </a:r>
            <a:endParaRPr/>
          </a:p>
          <a:p>
            <a:pPr indent="-298450" lvl="0" marL="457200" rtl="0" algn="l">
              <a:lnSpc>
                <a:spcPct val="100000"/>
              </a:lnSpc>
              <a:spcBef>
                <a:spcPts val="0"/>
              </a:spcBef>
              <a:spcAft>
                <a:spcPts val="0"/>
              </a:spcAft>
              <a:buSzPts val="1100"/>
              <a:buChar char="-"/>
            </a:pPr>
            <a:r>
              <a:rPr lang="en-CA"/>
              <a:t>Actionable insights for security posture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CII Best Practices</a:t>
            </a:r>
            <a:endParaRPr/>
          </a:p>
          <a:p>
            <a:pPr indent="-298450" lvl="0" marL="457200" rtl="0" algn="l">
              <a:lnSpc>
                <a:spcPct val="100000"/>
              </a:lnSpc>
              <a:spcBef>
                <a:spcPts val="0"/>
              </a:spcBef>
              <a:spcAft>
                <a:spcPts val="0"/>
              </a:spcAft>
              <a:buSzPts val="1100"/>
              <a:buChar char="-"/>
            </a:pPr>
            <a:r>
              <a:rPr lang="en-CA"/>
              <a:t>Encourage community driven improvements</a:t>
            </a:r>
            <a:endParaRPr/>
          </a:p>
          <a:p>
            <a:pPr indent="-298450" lvl="0" marL="457200" rtl="0" algn="l">
              <a:lnSpc>
                <a:spcPct val="100000"/>
              </a:lnSpc>
              <a:spcBef>
                <a:spcPts val="0"/>
              </a:spcBef>
              <a:spcAft>
                <a:spcPts val="0"/>
              </a:spcAft>
              <a:buSzPts val="1100"/>
              <a:buChar char="-"/>
            </a:pPr>
            <a:r>
              <a:rPr lang="en-CA"/>
              <a:t>Focuses on project quality standards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SLSA Guidelines</a:t>
            </a:r>
            <a:endParaRPr/>
          </a:p>
          <a:p>
            <a:pPr indent="-298450" lvl="0" marL="457200" rtl="0" algn="l">
              <a:lnSpc>
                <a:spcPct val="100000"/>
              </a:lnSpc>
              <a:spcBef>
                <a:spcPts val="0"/>
              </a:spcBef>
              <a:spcAft>
                <a:spcPts val="0"/>
              </a:spcAft>
              <a:buSzPts val="1100"/>
              <a:buChar char="-"/>
            </a:pPr>
            <a:r>
              <a:rPr lang="en-CA"/>
              <a:t>Ensure secure software supply chain </a:t>
            </a:r>
            <a:endParaRPr/>
          </a:p>
          <a:p>
            <a:pPr indent="-298450" lvl="0" marL="457200" rtl="0" algn="l">
              <a:lnSpc>
                <a:spcPct val="100000"/>
              </a:lnSpc>
              <a:spcBef>
                <a:spcPts val="0"/>
              </a:spcBef>
              <a:spcAft>
                <a:spcPts val="0"/>
              </a:spcAft>
              <a:buSzPts val="1100"/>
              <a:buChar char="-"/>
            </a:pPr>
            <a:r>
              <a:rPr lang="en-CA"/>
              <a:t>Target end-to-end build integrity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Github Open Source Guides</a:t>
            </a:r>
            <a:endParaRPr/>
          </a:p>
          <a:p>
            <a:pPr indent="-298450" lvl="0" marL="457200" rtl="0" algn="l">
              <a:lnSpc>
                <a:spcPct val="100000"/>
              </a:lnSpc>
              <a:spcBef>
                <a:spcPts val="0"/>
              </a:spcBef>
              <a:spcAft>
                <a:spcPts val="0"/>
              </a:spcAft>
              <a:buSzPts val="1100"/>
              <a:buChar char="-"/>
            </a:pPr>
            <a:r>
              <a:rPr lang="en-CA"/>
              <a:t>Offers resources from maintainers</a:t>
            </a:r>
            <a:endParaRPr/>
          </a:p>
          <a:p>
            <a:pPr indent="-298450" lvl="0" marL="457200" rtl="0" algn="l">
              <a:lnSpc>
                <a:spcPct val="100000"/>
              </a:lnSpc>
              <a:spcBef>
                <a:spcPts val="0"/>
              </a:spcBef>
              <a:spcAft>
                <a:spcPts val="0"/>
              </a:spcAft>
              <a:buSzPts val="1100"/>
              <a:buChar char="-"/>
            </a:pPr>
            <a:r>
              <a:rPr lang="en-CA"/>
              <a:t>Integrated solution across GH platform</a:t>
            </a:r>
            <a:endParaRPr/>
          </a:p>
          <a:p>
            <a:pPr indent="0" lvl="0" marL="0" rtl="0" algn="l">
              <a:lnSpc>
                <a:spcPct val="100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CA" sz="1200">
                <a:solidFill>
                  <a:srgbClr val="102B2D"/>
                </a:solidFill>
                <a:latin typeface="Roboto"/>
                <a:ea typeface="Roboto"/>
                <a:cs typeface="Roboto"/>
                <a:sym typeface="Roboto"/>
              </a:rPr>
              <a:t>There has been a </a:t>
            </a:r>
            <a:r>
              <a:rPr lang="en-CA" sz="1200">
                <a:solidFill>
                  <a:srgbClr val="23907E"/>
                </a:solidFill>
                <a:uFill>
                  <a:noFill/>
                </a:uFill>
                <a:latin typeface="Roboto"/>
                <a:ea typeface="Roboto"/>
                <a:cs typeface="Roboto"/>
                <a:sym typeface="Roboto"/>
                <a:hlinkClick r:id="rId2">
                  <a:extLst>
                    <a:ext uri="{A12FA001-AC4F-418D-AE19-62706E023703}">
                      <ahyp:hlinkClr val="tx"/>
                    </a:ext>
                  </a:extLst>
                </a:hlinkClick>
              </a:rPr>
              <a:t>lot of discussion</a:t>
            </a:r>
            <a:r>
              <a:rPr lang="en-CA" sz="1200">
                <a:solidFill>
                  <a:srgbClr val="102B2D"/>
                </a:solidFill>
                <a:latin typeface="Roboto"/>
                <a:ea typeface="Roboto"/>
                <a:cs typeface="Roboto"/>
                <a:sym typeface="Roboto"/>
              </a:rPr>
              <a:t> about the need for “ingredient labels” for software—a “software bill of materials” (SBOM) that tells users what is in their software. Building off this analogy, SLSA can be thought of as all the food safety handling guidelines that make an ingredient list credible. From standards for clean factory environments so contaminants aren’t introduced in packaging plants, to the requirement for tamper-proof seals on lids that ensure nobody changes the contents of items sitting on grocery store shelves, the entire food safety framework ensures that consumers can trust that the ingredient list matches what’s actually in the package they buy.</a:t>
            </a:r>
            <a:endParaRPr sz="1200">
              <a:solidFill>
                <a:srgbClr val="102B2D"/>
              </a:solidFill>
              <a:latin typeface="Roboto"/>
              <a:ea typeface="Roboto"/>
              <a:cs typeface="Roboto"/>
              <a:sym typeface="Roboto"/>
            </a:endParaRPr>
          </a:p>
          <a:p>
            <a:pPr indent="0" lvl="0" marL="0" rtl="0" algn="l">
              <a:lnSpc>
                <a:spcPct val="115000"/>
              </a:lnSpc>
              <a:spcBef>
                <a:spcPts val="2400"/>
              </a:spcBef>
              <a:spcAft>
                <a:spcPts val="0"/>
              </a:spcAft>
              <a:buClr>
                <a:schemeClr val="dk1"/>
              </a:buClr>
              <a:buSzPts val="1100"/>
              <a:buFont typeface="Arial"/>
              <a:buNone/>
            </a:pPr>
            <a:r>
              <a:rPr lang="en-CA" sz="1200">
                <a:solidFill>
                  <a:srgbClr val="102B2D"/>
                </a:solidFill>
                <a:latin typeface="Roboto"/>
                <a:ea typeface="Roboto"/>
                <a:cs typeface="Roboto"/>
                <a:sym typeface="Roboto"/>
              </a:rPr>
              <a:t>Likewise, the SLSA framework provides this trust with guidelines and tamper-resistant evidence for securing each step of the software production process. That means you know not only that nothing unexpected was added to the software product, but also that the ingredient label itself wasn’t tampered with and accurately reflects the software contents. In this way, SLSA helps protect against the risk of:</a:t>
            </a:r>
            <a:endParaRPr sz="1200">
              <a:solidFill>
                <a:srgbClr val="102B2D"/>
              </a:solidFill>
              <a:latin typeface="Roboto"/>
              <a:ea typeface="Roboto"/>
              <a:cs typeface="Roboto"/>
              <a:sym typeface="Roboto"/>
            </a:endParaRPr>
          </a:p>
          <a:p>
            <a:pPr indent="-304800" lvl="0" marL="457200" rtl="0" algn="l">
              <a:lnSpc>
                <a:spcPct val="115000"/>
              </a:lnSpc>
              <a:spcBef>
                <a:spcPts val="240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Code modification (by adding a tamper-evident “seal” to code after source control)</a:t>
            </a:r>
            <a:endParaRPr sz="1200">
              <a:solidFill>
                <a:srgbClr val="2A343E"/>
              </a:solidFill>
              <a:latin typeface="Roboto"/>
              <a:ea typeface="Roboto"/>
              <a:cs typeface="Roboto"/>
              <a:sym typeface="Roboto"/>
            </a:endParaRPr>
          </a:p>
          <a:p>
            <a:pPr indent="-304800" lvl="0" marL="457200" rtl="0" algn="l">
              <a:lnSpc>
                <a:spcPct val="115000"/>
              </a:lnSpc>
              <a:spcBef>
                <a:spcPts val="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Uploaded artifacts that were not built by the expected CI/CD platform (by marking artifacts with a factory “stamp” that shows which build platform created it)</a:t>
            </a:r>
            <a:endParaRPr sz="1200">
              <a:solidFill>
                <a:srgbClr val="2A343E"/>
              </a:solidFill>
              <a:latin typeface="Roboto"/>
              <a:ea typeface="Roboto"/>
              <a:cs typeface="Roboto"/>
              <a:sym typeface="Roboto"/>
            </a:endParaRPr>
          </a:p>
          <a:p>
            <a:pPr indent="-304800" lvl="0" marL="457200" rtl="0" algn="l">
              <a:lnSpc>
                <a:spcPct val="115000"/>
              </a:lnSpc>
              <a:spcBef>
                <a:spcPts val="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Threats against the build platform (by providing “manufacturing facility” best practices for build platform services)</a:t>
            </a:r>
            <a:endParaRPr/>
          </a:p>
        </p:txBody>
      </p:sp>
      <p:sp>
        <p:nvSpPr>
          <p:cNvPr id="175" name="Google Shape;175;g31cd80c685f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d00c0134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1d00c013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u="sng">
                <a:solidFill>
                  <a:schemeClr val="hlink"/>
                </a:solidFill>
                <a:hlinkClick r:id="rId2"/>
              </a:rPr>
              <a:t>https://slsa.dev/spec/v1.0/images/supply-chain-threats.svg</a:t>
            </a:r>
            <a:r>
              <a:rPr lang="en-CA"/>
              <a:t> SLSA Threats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SLSA defined different threats possible at source, build, package and dependencies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Source</a:t>
            </a:r>
            <a:endParaRPr/>
          </a:p>
          <a:p>
            <a:pPr indent="-298450" lvl="0" marL="457200" rtl="0" algn="l">
              <a:spcBef>
                <a:spcPts val="0"/>
              </a:spcBef>
              <a:spcAft>
                <a:spcPts val="0"/>
              </a:spcAft>
              <a:buSzPts val="1100"/>
              <a:buChar char="-"/>
            </a:pPr>
            <a:r>
              <a:rPr lang="en-CA"/>
              <a:t>Submit unauthorized change</a:t>
            </a:r>
            <a:endParaRPr/>
          </a:p>
          <a:p>
            <a:pPr indent="-298450" lvl="0" marL="457200" rtl="0" algn="l">
              <a:spcBef>
                <a:spcPts val="0"/>
              </a:spcBef>
              <a:spcAft>
                <a:spcPts val="0"/>
              </a:spcAft>
              <a:buSzPts val="1100"/>
              <a:buChar char="-"/>
            </a:pPr>
            <a:r>
              <a:rPr lang="en-CA"/>
              <a:t>Compromised source repo </a:t>
            </a:r>
            <a:endParaRPr/>
          </a:p>
          <a:p>
            <a:pPr indent="-298450" lvl="0" marL="457200" rtl="0" algn="l">
              <a:spcBef>
                <a:spcPts val="0"/>
              </a:spcBef>
              <a:spcAft>
                <a:spcPts val="0"/>
              </a:spcAft>
              <a:buSzPts val="1100"/>
              <a:buChar char="-"/>
            </a:pPr>
            <a:r>
              <a:rPr lang="en-CA"/>
              <a:t>Build from modified source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Depencies </a:t>
            </a:r>
            <a:endParaRPr/>
          </a:p>
          <a:p>
            <a:pPr indent="-298450" lvl="0" marL="457200" rtl="0" algn="l">
              <a:spcBef>
                <a:spcPts val="0"/>
              </a:spcBef>
              <a:spcAft>
                <a:spcPts val="0"/>
              </a:spcAft>
              <a:buSzPts val="1100"/>
              <a:buChar char="-"/>
            </a:pPr>
            <a:r>
              <a:rPr lang="en-CA"/>
              <a:t>Compromised or vulnerable dependencies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Build threats</a:t>
            </a:r>
            <a:endParaRPr/>
          </a:p>
          <a:p>
            <a:pPr indent="-298450" lvl="0" marL="457200" rtl="0" algn="l">
              <a:spcBef>
                <a:spcPts val="0"/>
              </a:spcBef>
              <a:spcAft>
                <a:spcPts val="0"/>
              </a:spcAft>
              <a:buSzPts val="1100"/>
              <a:buChar char="-"/>
            </a:pPr>
            <a:r>
              <a:rPr lang="en-CA"/>
              <a:t>Compromise build process</a:t>
            </a:r>
            <a:endParaRPr/>
          </a:p>
          <a:p>
            <a:pPr indent="-298450" lvl="0" marL="457200" rtl="0" algn="l">
              <a:spcBef>
                <a:spcPts val="0"/>
              </a:spcBef>
              <a:spcAft>
                <a:spcPts val="0"/>
              </a:spcAft>
              <a:buSzPts val="1100"/>
              <a:buChar char="-"/>
            </a:pPr>
            <a:r>
              <a:rPr lang="en-CA"/>
              <a:t>Upload modified package</a:t>
            </a:r>
            <a:endParaRPr/>
          </a:p>
          <a:p>
            <a:pPr indent="-298450" lvl="0" marL="457200" rtl="0" algn="l">
              <a:spcBef>
                <a:spcPts val="0"/>
              </a:spcBef>
              <a:spcAft>
                <a:spcPts val="0"/>
              </a:spcAft>
              <a:buSzPts val="1100"/>
              <a:buChar char="-"/>
            </a:pPr>
            <a:r>
              <a:rPr lang="en-CA"/>
              <a:t>Compromise package registry</a:t>
            </a:r>
            <a:endParaRPr/>
          </a:p>
          <a:p>
            <a:pPr indent="-298450" lvl="0" marL="457200" rtl="0" algn="l">
              <a:spcBef>
                <a:spcPts val="0"/>
              </a:spcBef>
              <a:spcAft>
                <a:spcPts val="0"/>
              </a:spcAft>
              <a:buSzPts val="1100"/>
              <a:buChar char="-"/>
            </a:pPr>
            <a:r>
              <a:rPr lang="en-CA"/>
              <a:t>Use compromised package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Lets understand quickly </a:t>
            </a:r>
            <a:r>
              <a:rPr lang="en-CA"/>
              <a:t>what all things we have in fission in terms of </a:t>
            </a:r>
            <a:endParaRPr/>
          </a:p>
          <a:p>
            <a:pPr indent="0" lvl="0" marL="0" rtl="0" algn="l">
              <a:lnSpc>
                <a:spcPct val="100000"/>
              </a:lnSpc>
              <a:spcBef>
                <a:spcPts val="0"/>
              </a:spcBef>
              <a:spcAft>
                <a:spcPts val="0"/>
              </a:spcAft>
              <a:buSzPts val="1100"/>
              <a:buNone/>
            </a:pPr>
            <a:r>
              <a:rPr lang="en-CA"/>
              <a:t>Sources, dependencies and artifacts for target attacks.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Sources</a:t>
            </a:r>
            <a:endParaRPr/>
          </a:p>
          <a:p>
            <a:pPr indent="-298450" lvl="0" marL="457200" rtl="0" algn="l">
              <a:lnSpc>
                <a:spcPct val="100000"/>
              </a:lnSpc>
              <a:spcBef>
                <a:spcPts val="0"/>
              </a:spcBef>
              <a:spcAft>
                <a:spcPts val="0"/>
              </a:spcAft>
              <a:buSzPts val="1100"/>
              <a:buChar char="-"/>
            </a:pPr>
            <a:r>
              <a:rPr lang="en-CA"/>
              <a:t>Dockerfile</a:t>
            </a:r>
            <a:endParaRPr/>
          </a:p>
          <a:p>
            <a:pPr indent="-298450" lvl="0" marL="457200" rtl="0" algn="l">
              <a:lnSpc>
                <a:spcPct val="100000"/>
              </a:lnSpc>
              <a:spcBef>
                <a:spcPts val="0"/>
              </a:spcBef>
              <a:spcAft>
                <a:spcPts val="0"/>
              </a:spcAft>
              <a:buSzPts val="1100"/>
              <a:buChar char="-"/>
            </a:pPr>
            <a:r>
              <a:rPr lang="en-CA"/>
              <a:t>Helm Templates</a:t>
            </a:r>
            <a:endParaRPr/>
          </a:p>
          <a:p>
            <a:pPr indent="-298450" lvl="0" marL="457200" rtl="0" algn="l">
              <a:lnSpc>
                <a:spcPct val="100000"/>
              </a:lnSpc>
              <a:spcBef>
                <a:spcPts val="0"/>
              </a:spcBef>
              <a:spcAft>
                <a:spcPts val="0"/>
              </a:spcAft>
              <a:buSzPts val="1100"/>
              <a:buChar char="-"/>
            </a:pPr>
            <a:r>
              <a:rPr lang="en-CA"/>
              <a:t>Github workflows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Dependencies</a:t>
            </a:r>
            <a:endParaRPr/>
          </a:p>
          <a:p>
            <a:pPr indent="-298450" lvl="0" marL="457200" rtl="0" algn="l">
              <a:lnSpc>
                <a:spcPct val="100000"/>
              </a:lnSpc>
              <a:spcBef>
                <a:spcPts val="0"/>
              </a:spcBef>
              <a:spcAft>
                <a:spcPts val="0"/>
              </a:spcAft>
              <a:buSzPts val="1100"/>
              <a:buChar char="-"/>
            </a:pPr>
            <a:r>
              <a:rPr lang="en-CA"/>
              <a:t>Build tools</a:t>
            </a:r>
            <a:endParaRPr/>
          </a:p>
          <a:p>
            <a:pPr indent="-298450" lvl="0" marL="457200" rtl="0" algn="l">
              <a:lnSpc>
                <a:spcPct val="100000"/>
              </a:lnSpc>
              <a:spcBef>
                <a:spcPts val="0"/>
              </a:spcBef>
              <a:spcAft>
                <a:spcPts val="0"/>
              </a:spcAft>
              <a:buSzPts val="1100"/>
              <a:buChar char="-"/>
            </a:pPr>
            <a:r>
              <a:rPr lang="en-CA"/>
              <a:t>External Github actions</a:t>
            </a:r>
            <a:endParaRPr/>
          </a:p>
          <a:p>
            <a:pPr indent="-298450" lvl="0" marL="457200" rtl="0" algn="l">
              <a:lnSpc>
                <a:spcPct val="100000"/>
              </a:lnSpc>
              <a:spcBef>
                <a:spcPts val="0"/>
              </a:spcBef>
              <a:spcAft>
                <a:spcPts val="0"/>
              </a:spcAft>
              <a:buSzPts val="1100"/>
              <a:buChar char="-"/>
            </a:pPr>
            <a:r>
              <a:rPr lang="en-CA"/>
              <a:t>Cotnainer Base images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Artifacts</a:t>
            </a:r>
            <a:endParaRPr/>
          </a:p>
          <a:p>
            <a:pPr indent="-298450" lvl="0" marL="457200" rtl="0" algn="l">
              <a:lnSpc>
                <a:spcPct val="100000"/>
              </a:lnSpc>
              <a:spcBef>
                <a:spcPts val="0"/>
              </a:spcBef>
              <a:spcAft>
                <a:spcPts val="0"/>
              </a:spcAft>
              <a:buSzPts val="1100"/>
              <a:buChar char="-"/>
            </a:pPr>
            <a:r>
              <a:rPr lang="en-CA"/>
              <a:t>Container images Around 7-8 iamges</a:t>
            </a:r>
            <a:endParaRPr/>
          </a:p>
          <a:p>
            <a:pPr indent="-298450" lvl="0" marL="457200" rtl="0" algn="l">
              <a:lnSpc>
                <a:spcPct val="100000"/>
              </a:lnSpc>
              <a:spcBef>
                <a:spcPts val="0"/>
              </a:spcBef>
              <a:spcAft>
                <a:spcPts val="0"/>
              </a:spcAft>
              <a:buSzPts val="1100"/>
              <a:buChar char="-"/>
            </a:pPr>
            <a:r>
              <a:rPr lang="en-CA"/>
              <a:t>Helm charts</a:t>
            </a:r>
            <a:endParaRPr/>
          </a:p>
          <a:p>
            <a:pPr indent="-298450" lvl="0" marL="457200" rtl="0" algn="l">
              <a:lnSpc>
                <a:spcPct val="100000"/>
              </a:lnSpc>
              <a:spcBef>
                <a:spcPts val="0"/>
              </a:spcBef>
              <a:spcAft>
                <a:spcPts val="0"/>
              </a:spcAft>
              <a:buSzPts val="1100"/>
              <a:buChar char="-"/>
            </a:pPr>
            <a:r>
              <a:rPr lang="en-CA"/>
              <a:t>Environments Runtimes - </a:t>
            </a:r>
            <a:endParaRPr/>
          </a:p>
          <a:p>
            <a:pPr indent="-298450" lvl="0" marL="457200" rtl="0" algn="l">
              <a:lnSpc>
                <a:spcPct val="100000"/>
              </a:lnSpc>
              <a:spcBef>
                <a:spcPts val="0"/>
              </a:spcBef>
              <a:spcAft>
                <a:spcPts val="0"/>
              </a:spcAft>
              <a:buSzPts val="1100"/>
              <a:buChar char="-"/>
            </a:pPr>
            <a:r>
              <a:rPr lang="en-CA"/>
              <a:t>Fission CLI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Now we have understood our fission source mappings, we wil go through how we accept changes.</a:t>
            </a:r>
            <a:endParaRPr/>
          </a:p>
        </p:txBody>
      </p:sp>
      <p:sp>
        <p:nvSpPr>
          <p:cNvPr id="195" name="Google Shape;19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cd80c685f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Source life of PR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Accept contributions wide variety of contributors. SOme of them are frequent and some of them new.</a:t>
            </a:r>
            <a:endParaRPr/>
          </a:p>
          <a:p>
            <a:pPr indent="0" lvl="0" marL="0" rtl="0" algn="l">
              <a:lnSpc>
                <a:spcPct val="100000"/>
              </a:lnSpc>
              <a:spcBef>
                <a:spcPts val="0"/>
              </a:spcBef>
              <a:spcAft>
                <a:spcPts val="0"/>
              </a:spcAft>
              <a:buSzPts val="1100"/>
              <a:buNone/>
            </a:pPr>
            <a:r>
              <a:rPr lang="en-CA"/>
              <a:t>We request for signed commits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Once PR is made, </a:t>
            </a:r>
            <a:endParaRPr/>
          </a:p>
          <a:p>
            <a:pPr indent="0" lvl="0" marL="0" rtl="0" algn="l">
              <a:lnSpc>
                <a:spcPct val="100000"/>
              </a:lnSpc>
              <a:spcBef>
                <a:spcPts val="0"/>
              </a:spcBef>
              <a:spcAft>
                <a:spcPts val="0"/>
              </a:spcAft>
              <a:buSzPts val="1100"/>
              <a:buNone/>
            </a:pPr>
            <a:r>
              <a:rPr lang="en-CA"/>
              <a:t>It goes through different CI jobs</a:t>
            </a:r>
            <a:endParaRPr/>
          </a:p>
          <a:p>
            <a:pPr indent="-298450" lvl="0" marL="457200" rtl="0" algn="l">
              <a:lnSpc>
                <a:spcPct val="100000"/>
              </a:lnSpc>
              <a:spcBef>
                <a:spcPts val="0"/>
              </a:spcBef>
              <a:spcAft>
                <a:spcPts val="0"/>
              </a:spcAft>
              <a:buSzPts val="1100"/>
              <a:buChar char="-"/>
            </a:pPr>
            <a:r>
              <a:rPr lang="en-CA"/>
              <a:t>Lint and unit</a:t>
            </a:r>
            <a:endParaRPr/>
          </a:p>
          <a:p>
            <a:pPr indent="-298450" lvl="0" marL="457200" rtl="0" algn="l">
              <a:lnSpc>
                <a:spcPct val="100000"/>
              </a:lnSpc>
              <a:spcBef>
                <a:spcPts val="0"/>
              </a:spcBef>
              <a:spcAft>
                <a:spcPts val="0"/>
              </a:spcAft>
              <a:buSzPts val="1100"/>
              <a:buChar char="-"/>
            </a:pPr>
            <a:r>
              <a:rPr lang="en-CA"/>
              <a:t>CI tests</a:t>
            </a:r>
            <a:endParaRPr/>
          </a:p>
          <a:p>
            <a:pPr indent="-298450" lvl="0" marL="457200" rtl="0" algn="l">
              <a:lnSpc>
                <a:spcPct val="100000"/>
              </a:lnSpc>
              <a:spcBef>
                <a:spcPts val="0"/>
              </a:spcBef>
              <a:spcAft>
                <a:spcPts val="0"/>
              </a:spcAft>
              <a:buSzPts val="1100"/>
              <a:buChar char="-"/>
            </a:pPr>
            <a:r>
              <a:rPr lang="en-CA"/>
              <a:t>Upgrade tests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For static code analysis we use codeql to identify if any new vulnerabilities are being introduced in the PR.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We also check for dependency and secret scans. Dependabot will inform if any dependencies with vulnerabilities are being </a:t>
            </a:r>
            <a:r>
              <a:rPr lang="en-CA"/>
              <a:t>introduced</a:t>
            </a:r>
            <a:r>
              <a:rPr lang="en-CA"/>
              <a: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Once all checks are good reviews changes. Post merge openssf scorecard scans run, which identifies if any standards are not being followed.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We try to shift left as possible to avoid late findings. </a:t>
            </a:r>
            <a:endParaRPr/>
          </a:p>
        </p:txBody>
      </p:sp>
      <p:sp>
        <p:nvSpPr>
          <p:cNvPr id="209" name="Google Shape;209;g31cd80c685f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1cd80c685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Scans</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Weekly</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Each PR</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Pinning</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 Runs on Dependency Changes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Dependabot for keeping deps upto update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Ensure known vulnerabilities are fixed quickly</a:t>
            </a:r>
            <a:endParaRPr/>
          </a:p>
        </p:txBody>
      </p:sp>
      <p:sp>
        <p:nvSpPr>
          <p:cNvPr id="247" name="Google Shape;247;g31cd80c685f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1d00c01341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CA" sz="800">
                <a:latin typeface="Montserrat"/>
                <a:ea typeface="Montserrat"/>
                <a:cs typeface="Montserrat"/>
                <a:sym typeface="Montserrat"/>
              </a:rPr>
              <a:t>Pining github action dependencies in actions</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rPr b="1" lang="en-CA" sz="800">
                <a:latin typeface="Montserrat"/>
                <a:ea typeface="Montserrat"/>
                <a:cs typeface="Montserrat"/>
                <a:sym typeface="Montserrat"/>
              </a:rPr>
              <a:t>Earlier:</a:t>
            </a:r>
            <a:br>
              <a:rPr lang="en-CA" sz="800">
                <a:latin typeface="Montserrat"/>
                <a:ea typeface="Montserrat"/>
                <a:cs typeface="Montserrat"/>
                <a:sym typeface="Montserrat"/>
              </a:rPr>
            </a:br>
            <a:r>
              <a:rPr lang="en-CA" sz="800">
                <a:solidFill>
                  <a:srgbClr val="188038"/>
                </a:solidFill>
                <a:latin typeface="Montserrat"/>
                <a:ea typeface="Montserrat"/>
                <a:cs typeface="Montserrat"/>
                <a:sym typeface="Montserrat"/>
              </a:rPr>
              <a:t>steps:</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Check</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out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code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actions/checkout@v4</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fetch-depth:</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Setup</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actions/setup-go@v4</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go-version-file: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"go.mod"</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cache: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true</a:t>
            </a:r>
            <a:br>
              <a:rPr lang="en-CA" sz="800">
                <a:solidFill>
                  <a:srgbClr val="188038"/>
                </a:solidFill>
                <a:latin typeface="Montserrat"/>
                <a:ea typeface="Montserrat"/>
                <a:cs typeface="Montserrat"/>
                <a:sym typeface="Montserrat"/>
              </a:rPr>
            </a:br>
            <a:br>
              <a:rPr lang="en-CA" sz="800">
                <a:solidFill>
                  <a:srgbClr val="188038"/>
                </a:solidFill>
                <a:latin typeface="Montserrat"/>
                <a:ea typeface="Montserrat"/>
                <a:cs typeface="Montserrat"/>
                <a:sym typeface="Montserrat"/>
              </a:rPr>
            </a:br>
            <a:r>
              <a:rPr b="1" lang="en-CA" sz="800">
                <a:latin typeface="Montserrat"/>
                <a:ea typeface="Montserrat"/>
                <a:cs typeface="Montserrat"/>
                <a:sym typeface="Montserrat"/>
              </a:rPr>
              <a:t>Current:</a:t>
            </a:r>
            <a:br>
              <a:rPr lang="en-CA" sz="800">
                <a:solidFill>
                  <a:srgbClr val="188038"/>
                </a:solidFill>
                <a:latin typeface="Montserrat"/>
                <a:ea typeface="Montserrat"/>
                <a:cs typeface="Montserrat"/>
                <a:sym typeface="Montserrat"/>
              </a:rPr>
            </a:br>
            <a:r>
              <a:rPr lang="en-CA" sz="800">
                <a:solidFill>
                  <a:srgbClr val="188038"/>
                </a:solidFill>
                <a:latin typeface="Montserrat"/>
                <a:ea typeface="Montserrat"/>
                <a:cs typeface="Montserrat"/>
                <a:sym typeface="Montserrat"/>
              </a:rPr>
              <a:t>steps:</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Check</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out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code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actions/checkout@b4ffde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v4.1.1</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fetch-depth:</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Setup</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actions/setup-go@93397be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v4.1.0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go-version-file: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"go.mod"</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cache: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true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800">
              <a:solidFill>
                <a:srgbClr val="188038"/>
              </a:solidFill>
              <a:latin typeface="Montserrat"/>
              <a:ea typeface="Montserrat"/>
              <a:cs typeface="Montserrat"/>
              <a:sym typeface="Montserrat"/>
            </a:endParaRPr>
          </a:p>
        </p:txBody>
      </p:sp>
      <p:sp>
        <p:nvSpPr>
          <p:cNvPr id="256" name="Google Shape;256;g31d00c01341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d00c01341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1d00c0134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Pinning docker 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To make builds are reproducible and ensure your builds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Earlier we used to alpine image to pack our fission Go binaries. </a:t>
            </a:r>
            <a:endParaRPr/>
          </a:p>
          <a:p>
            <a:pPr indent="0" lvl="0" marL="0" rtl="0" algn="l">
              <a:spcBef>
                <a:spcPts val="0"/>
              </a:spcBef>
              <a:spcAft>
                <a:spcPts val="0"/>
              </a:spcAft>
              <a:buNone/>
            </a:pPr>
            <a:r>
              <a:rPr lang="en-CA"/>
              <a:t>But we </a:t>
            </a:r>
            <a:r>
              <a:rPr lang="en-CA"/>
              <a:t>needed</a:t>
            </a:r>
            <a:r>
              <a:rPr lang="en-CA"/>
              <a:t> frequent updates as vulnerabilities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1d00c01341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1d00c0134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u="sng">
                <a:solidFill>
                  <a:schemeClr val="hlink"/>
                </a:solidFill>
                <a:hlinkClick r:id="rId2"/>
              </a:rPr>
              <a:t>https://github.com/fission/fission/blob/main/go.mod</a:t>
            </a:r>
            <a:endParaRPr/>
          </a:p>
          <a:p>
            <a:pPr indent="0" lvl="0" marL="0" rtl="0" algn="l">
              <a:spcBef>
                <a:spcPts val="0"/>
              </a:spcBef>
              <a:spcAft>
                <a:spcPts val="0"/>
              </a:spcAft>
              <a:buNone/>
            </a:pPr>
            <a:r>
              <a:rPr lang="en-CA" u="sng">
                <a:solidFill>
                  <a:schemeClr val="hlink"/>
                </a:solidFill>
                <a:hlinkClick r:id="rId3"/>
              </a:rPr>
              <a:t>https://github.com/fission/fission/blob/main/go.sum</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All Go dependences are managed via go modules it go.mod</a:t>
            </a:r>
            <a:endParaRPr/>
          </a:p>
          <a:p>
            <a:pPr indent="0" lvl="0" marL="0" rtl="0" algn="l">
              <a:spcBef>
                <a:spcPts val="0"/>
              </a:spcBef>
              <a:spcAft>
                <a:spcPts val="0"/>
              </a:spcAft>
              <a:buNone/>
            </a:pPr>
            <a:r>
              <a:rPr lang="en-CA"/>
              <a:t>Go builds are pretty much reproducible now, Thanks to go maintenance team in putting lot of efforts.</a:t>
            </a:r>
            <a:endParaRPr/>
          </a:p>
          <a:p>
            <a:pPr indent="0" lvl="0" marL="0" rtl="0" algn="l">
              <a:spcBef>
                <a:spcPts val="0"/>
              </a:spcBef>
              <a:spcAft>
                <a:spcPts val="0"/>
              </a:spcAft>
              <a:buNone/>
            </a:pPr>
            <a:r>
              <a:rPr lang="en-CA"/>
              <a:t>Go SBOM are also embedded in the Go binary. User can query all go modules info in the binary.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1cd80c685f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Release workflow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Whenever we are ready for release we create a git tag on repository with semantic versioning. </a:t>
            </a:r>
            <a:endParaRPr/>
          </a:p>
          <a:p>
            <a:pPr indent="0" lvl="0" marL="0" rtl="0" algn="l">
              <a:lnSpc>
                <a:spcPct val="100000"/>
              </a:lnSpc>
              <a:spcBef>
                <a:spcPts val="0"/>
              </a:spcBef>
              <a:spcAft>
                <a:spcPts val="0"/>
              </a:spcAft>
              <a:buSzPts val="1100"/>
              <a:buNone/>
            </a:pPr>
            <a:r>
              <a:rPr lang="en-CA"/>
              <a:t>It triggers release workflow. </a:t>
            </a:r>
            <a:endParaRPr/>
          </a:p>
          <a:p>
            <a:pPr indent="0" lvl="0" marL="0" rtl="0" algn="l">
              <a:lnSpc>
                <a:spcPct val="100000"/>
              </a:lnSpc>
              <a:spcBef>
                <a:spcPts val="0"/>
              </a:spcBef>
              <a:spcAft>
                <a:spcPts val="0"/>
              </a:spcAft>
              <a:buSzPts val="1100"/>
              <a:buNone/>
            </a:pPr>
            <a:r>
              <a:rPr lang="en-CA"/>
              <a:t>We use goreleaser to build binaries. There are some CLI and </a:t>
            </a:r>
            <a:r>
              <a:rPr lang="en-CA"/>
              <a:t>docker</a:t>
            </a:r>
            <a:r>
              <a:rPr lang="en-CA"/>
              <a:t> images. </a:t>
            </a:r>
            <a:endParaRPr/>
          </a:p>
          <a:p>
            <a:pPr indent="0" lvl="0" marL="0" rtl="0" algn="l">
              <a:lnSpc>
                <a:spcPct val="100000"/>
              </a:lnSpc>
              <a:spcBef>
                <a:spcPts val="0"/>
              </a:spcBef>
              <a:spcAft>
                <a:spcPts val="0"/>
              </a:spcAft>
              <a:buSzPts val="1100"/>
              <a:buNone/>
            </a:pPr>
            <a:r>
              <a:rPr lang="en-CA"/>
              <a:t>For docker images, we build go binary first and just wrap them inside container images. </a:t>
            </a:r>
            <a:endParaRPr/>
          </a:p>
          <a:p>
            <a:pPr indent="0" lvl="0" marL="0" rtl="0" algn="l">
              <a:lnSpc>
                <a:spcPct val="100000"/>
              </a:lnSpc>
              <a:spcBef>
                <a:spcPts val="0"/>
              </a:spcBef>
              <a:spcAft>
                <a:spcPts val="0"/>
              </a:spcAft>
              <a:buSzPts val="1100"/>
              <a:buNone/>
            </a:pPr>
            <a:r>
              <a:rPr lang="en-CA"/>
              <a:t>We use cosign to sign binaries as well as container images and manifests. </a:t>
            </a:r>
            <a:endParaRPr/>
          </a:p>
          <a:p>
            <a:pPr indent="0" lvl="0" marL="0" rtl="0" algn="l">
              <a:lnSpc>
                <a:spcPct val="100000"/>
              </a:lnSpc>
              <a:spcBef>
                <a:spcPts val="0"/>
              </a:spcBef>
              <a:spcAft>
                <a:spcPts val="0"/>
              </a:spcAft>
              <a:buSzPts val="1100"/>
              <a:buNone/>
            </a:pPr>
            <a:r>
              <a:rPr lang="en-CA"/>
              <a:t>Post build all this process SLSA provenance is generated so that user can be verify build provenance at a later stage.</a:t>
            </a:r>
            <a:endParaRPr/>
          </a:p>
          <a:p>
            <a:pPr indent="0" lvl="0" marL="0" rtl="0" algn="l">
              <a:lnSpc>
                <a:spcPct val="100000"/>
              </a:lnSpc>
              <a:spcBef>
                <a:spcPts val="0"/>
              </a:spcBef>
              <a:spcAft>
                <a:spcPts val="0"/>
              </a:spcAft>
              <a:buSzPts val="1100"/>
              <a:buNone/>
            </a:pPr>
            <a:r>
              <a:rPr lang="en-CA"/>
              <a:t>SLSA provenance briefs more how build was built and give a way to verify if build is valid or does it have any contamination.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We also </a:t>
            </a:r>
            <a:r>
              <a:rPr lang="en-CA"/>
              <a:t>supply</a:t>
            </a:r>
            <a:r>
              <a:rPr lang="en-CA"/>
              <a:t> helm charts use are used to deploy all </a:t>
            </a:r>
            <a:r>
              <a:rPr lang="en-CA"/>
              <a:t>fission</a:t>
            </a:r>
            <a:r>
              <a:rPr lang="en-CA"/>
              <a:t> services on kubernetes platform.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Tools used</a:t>
            </a:r>
            <a:endParaRPr/>
          </a:p>
          <a:p>
            <a:pPr indent="-298450" lvl="0" marL="457200" rtl="0" algn="l">
              <a:lnSpc>
                <a:spcPct val="100000"/>
              </a:lnSpc>
              <a:spcBef>
                <a:spcPts val="0"/>
              </a:spcBef>
              <a:spcAft>
                <a:spcPts val="0"/>
              </a:spcAft>
              <a:buSzPts val="1100"/>
              <a:buChar char="-"/>
            </a:pPr>
            <a:r>
              <a:rPr lang="en-CA"/>
              <a:t>Goreleaser to build binaries ford</a:t>
            </a:r>
            <a:endParaRPr/>
          </a:p>
          <a:p>
            <a:pPr indent="-298450" lvl="0" marL="457200" rtl="0" algn="l">
              <a:lnSpc>
                <a:spcPct val="100000"/>
              </a:lnSpc>
              <a:spcBef>
                <a:spcPts val="0"/>
              </a:spcBef>
              <a:spcAft>
                <a:spcPts val="0"/>
              </a:spcAft>
              <a:buSzPts val="1100"/>
              <a:buChar char="-"/>
            </a:pPr>
            <a:r>
              <a:rPr lang="en-CA"/>
              <a:t>Goreeaser to build cross platform docker images </a:t>
            </a:r>
            <a:endParaRPr/>
          </a:p>
          <a:p>
            <a:pPr indent="-298450" lvl="0" marL="457200" rtl="0" algn="l">
              <a:lnSpc>
                <a:spcPct val="100000"/>
              </a:lnSpc>
              <a:spcBef>
                <a:spcPts val="0"/>
              </a:spcBef>
              <a:spcAft>
                <a:spcPts val="0"/>
              </a:spcAft>
              <a:buSzPts val="1100"/>
              <a:buChar char="-"/>
            </a:pPr>
            <a:r>
              <a:rPr lang="en-CA"/>
              <a:t>Sign image with cosign</a:t>
            </a:r>
            <a:endParaRPr/>
          </a:p>
          <a:p>
            <a:pPr indent="-298450" lvl="0" marL="457200" rtl="0" algn="l">
              <a:lnSpc>
                <a:spcPct val="100000"/>
              </a:lnSpc>
              <a:spcBef>
                <a:spcPts val="0"/>
              </a:spcBef>
              <a:spcAft>
                <a:spcPts val="0"/>
              </a:spcAft>
              <a:buSzPts val="1100"/>
              <a:buChar char="-"/>
            </a:pPr>
            <a:r>
              <a:rPr lang="en-CA"/>
              <a:t>SLSA provenance Generator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87" name="Google Shape;287;g31cd80c685f_0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d2239d35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d2239d3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solidFill>
                  <a:schemeClr val="dk1"/>
                </a:solidFill>
              </a:rPr>
              <a:t>Generating provenance for binaries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1d2239d35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1d2239d35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Provenance Generation and Verification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1f335a7ee4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CII Best Practices Gold Batch</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SLSA L3 Level Completion</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Image Provenance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Better Response on Known/Unknown Vulnerabilities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Improvements on OpenSSF score</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800"/>
              </a:spcBef>
              <a:spcAft>
                <a:spcPts val="500"/>
              </a:spcAft>
              <a:buClr>
                <a:schemeClr val="dk1"/>
              </a:buClr>
              <a:buSzPts val="2000"/>
              <a:buFont typeface="Montserrat Medium"/>
              <a:buChar char="○"/>
            </a:pPr>
            <a:r>
              <a:rPr lang="en-CA" sz="2000">
                <a:solidFill>
                  <a:schemeClr val="dk1"/>
                </a:solidFill>
                <a:latin typeface="Montserrat Medium"/>
                <a:ea typeface="Montserrat Medium"/>
                <a:cs typeface="Montserrat Medium"/>
                <a:sym typeface="Montserrat Medium"/>
              </a:rPr>
              <a:t>Enable Fuzzing</a:t>
            </a:r>
            <a:endParaRPr/>
          </a:p>
        </p:txBody>
      </p:sp>
      <p:sp>
        <p:nvSpPr>
          <p:cNvPr id="337" name="Google Shape;337;g31f335a7ee4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1d00c01341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1d00c0134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3">
            <a:alphaModFix/>
          </a:blip>
          <a:srcRect b="0" l="0" r="0" t="0"/>
          <a:stretch/>
        </p:blipFill>
        <p:spPr>
          <a:xfrm>
            <a:off x="1396877" y="626987"/>
            <a:ext cx="6350244" cy="38895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494472" y="1581635"/>
            <a:ext cx="8167500" cy="2139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
          <p:cNvSpPr txBox="1"/>
          <p:nvPr>
            <p:ph idx="1" type="body"/>
          </p:nvPr>
        </p:nvSpPr>
        <p:spPr>
          <a:xfrm>
            <a:off x="494472" y="3757724"/>
            <a:ext cx="8167500" cy="6411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sz="1800">
                <a:solidFill>
                  <a:schemeClr val="lt1"/>
                </a:solidFill>
                <a:latin typeface="Play"/>
                <a:ea typeface="Play"/>
                <a:cs typeface="Play"/>
                <a:sym typeface="Play"/>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pic>
        <p:nvPicPr>
          <p:cNvPr id="16" name="Google Shape;16;p3"/>
          <p:cNvPicPr preferRelativeResize="0"/>
          <p:nvPr/>
        </p:nvPicPr>
        <p:blipFill rotWithShape="1">
          <a:blip r:embed="rId3">
            <a:alphaModFix/>
          </a:blip>
          <a:srcRect b="20269" l="0" r="0" t="20275"/>
          <a:stretch/>
        </p:blipFill>
        <p:spPr>
          <a:xfrm>
            <a:off x="430718" y="355577"/>
            <a:ext cx="3209296" cy="11687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88260" y="2185014"/>
            <a:ext cx="8167500" cy="7734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9" name="Google Shape;19;p4"/>
          <p:cNvPicPr preferRelativeResize="0"/>
          <p:nvPr/>
        </p:nvPicPr>
        <p:blipFill rotWithShape="1">
          <a:blip r:embed="rId3">
            <a:alphaModFix/>
          </a:blip>
          <a:srcRect b="20269" l="0" r="0" t="20275"/>
          <a:stretch/>
        </p:blipFill>
        <p:spPr>
          <a:xfrm>
            <a:off x="410935" y="4180231"/>
            <a:ext cx="2123956" cy="77347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1">
  <p:cSld name="1_Section Header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88260" y="2185014"/>
            <a:ext cx="8167500" cy="7734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5"/>
          <p:cNvSpPr/>
          <p:nvPr/>
        </p:nvSpPr>
        <p:spPr>
          <a:xfrm>
            <a:off x="0" y="-25"/>
            <a:ext cx="9144000" cy="5143500"/>
          </a:xfrm>
          <a:prstGeom prst="rect">
            <a:avLst/>
          </a:prstGeom>
          <a:solidFill>
            <a:srgbClr val="12075F">
              <a:alpha val="797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5"/>
          <p:cNvPicPr preferRelativeResize="0"/>
          <p:nvPr/>
        </p:nvPicPr>
        <p:blipFill rotWithShape="1">
          <a:blip r:embed="rId3">
            <a:alphaModFix/>
          </a:blip>
          <a:srcRect b="20269" l="0" r="0" t="20275"/>
          <a:stretch/>
        </p:blipFill>
        <p:spPr>
          <a:xfrm>
            <a:off x="410935" y="4180231"/>
            <a:ext cx="2123956" cy="77347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4" name="Shape 24"/>
        <p:cNvGrpSpPr/>
        <p:nvPr/>
      </p:nvGrpSpPr>
      <p:grpSpPr>
        <a:xfrm>
          <a:off x="0" y="0"/>
          <a:ext cx="0" cy="0"/>
          <a:chOff x="0" y="0"/>
          <a:chExt cx="0" cy="0"/>
        </a:xfrm>
      </p:grpSpPr>
      <p:sp>
        <p:nvSpPr>
          <p:cNvPr id="25" name="Google Shape;2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27" name="Google Shape;27;p6"/>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7"/>
          <p:cNvSpPr txBox="1"/>
          <p:nvPr>
            <p:ph idx="1" type="body"/>
          </p:nvPr>
        </p:nvSpPr>
        <p:spPr>
          <a:xfrm>
            <a:off x="628650" y="1369219"/>
            <a:ext cx="38862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 name="Google Shape;31;p7"/>
          <p:cNvSpPr txBox="1"/>
          <p:nvPr>
            <p:ph idx="2" type="body"/>
          </p:nvPr>
        </p:nvSpPr>
        <p:spPr>
          <a:xfrm>
            <a:off x="4629150" y="1369219"/>
            <a:ext cx="38862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Google Shape;32;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33" name="Google Shape;33;p7"/>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 name="Google Shape;36;p8"/>
          <p:cNvSpPr/>
          <p:nvPr/>
        </p:nvSpPr>
        <p:spPr>
          <a:xfrm>
            <a:off x="0" y="4887652"/>
            <a:ext cx="9144000" cy="5700"/>
          </a:xfrm>
          <a:prstGeom prst="rect">
            <a:avLst/>
          </a:prstGeom>
          <a:solidFill>
            <a:srgbClr val="12075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8"/>
          <p:cNvSpPr/>
          <p:nvPr/>
        </p:nvSpPr>
        <p:spPr>
          <a:xfrm>
            <a:off x="279000" y="4631634"/>
            <a:ext cx="1437300" cy="467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 name="Google Shape;38;p8"/>
          <p:cNvPicPr preferRelativeResize="0"/>
          <p:nvPr/>
        </p:nvPicPr>
        <p:blipFill rotWithShape="1">
          <a:blip r:embed="rId2">
            <a:alphaModFix/>
          </a:blip>
          <a:srcRect b="19534" l="0" r="0" t="20304"/>
          <a:stretch/>
        </p:blipFill>
        <p:spPr>
          <a:xfrm>
            <a:off x="407788" y="4641909"/>
            <a:ext cx="1179724" cy="4347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1" name="Shape 41"/>
        <p:cNvGrpSpPr/>
        <p:nvPr/>
      </p:nvGrpSpPr>
      <p:grpSpPr>
        <a:xfrm>
          <a:off x="0" y="0"/>
          <a:ext cx="0" cy="0"/>
          <a:chOff x="0" y="0"/>
          <a:chExt cx="0" cy="0"/>
        </a:xfrm>
      </p:grpSpPr>
      <p:sp>
        <p:nvSpPr>
          <p:cNvPr id="42" name="Google Shape;42;p1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10"/>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4" name="Google Shape;44;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45" name="Shape 45"/>
        <p:cNvGrpSpPr/>
        <p:nvPr/>
      </p:nvGrpSpPr>
      <p:grpSpPr>
        <a:xfrm>
          <a:off x="0" y="0"/>
          <a:ext cx="0" cy="0"/>
          <a:chOff x="0" y="0"/>
          <a:chExt cx="0" cy="0"/>
        </a:xfrm>
      </p:grpSpPr>
      <p:sp>
        <p:nvSpPr>
          <p:cNvPr id="46" name="Google Shape;46;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11"/>
          <p:cNvSpPr txBox="1"/>
          <p:nvPr>
            <p:ph idx="1" type="body"/>
          </p:nvPr>
        </p:nvSpPr>
        <p:spPr>
          <a:xfrm>
            <a:off x="628650" y="1369219"/>
            <a:ext cx="78867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49" name="Google Shape;49;p11"/>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0090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image" Target="../media/image29.png"/><Relationship Id="rId22" Type="http://schemas.openxmlformats.org/officeDocument/2006/relationships/image" Target="../media/image32.png"/><Relationship Id="rId21" Type="http://schemas.openxmlformats.org/officeDocument/2006/relationships/image" Target="../media/image23.png"/><Relationship Id="rId24" Type="http://schemas.openxmlformats.org/officeDocument/2006/relationships/image" Target="../media/image28.png"/><Relationship Id="rId23" Type="http://schemas.openxmlformats.org/officeDocument/2006/relationships/image" Target="../media/image34.png"/><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21.png"/><Relationship Id="rId26" Type="http://schemas.openxmlformats.org/officeDocument/2006/relationships/image" Target="../media/image41.png"/><Relationship Id="rId25" Type="http://schemas.openxmlformats.org/officeDocument/2006/relationships/image" Target="../media/image42.jpg"/><Relationship Id="rId28" Type="http://schemas.openxmlformats.org/officeDocument/2006/relationships/image" Target="../media/image31.png"/><Relationship Id="rId27"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14.png"/><Relationship Id="rId29" Type="http://schemas.openxmlformats.org/officeDocument/2006/relationships/image" Target="../media/image27.png"/><Relationship Id="rId7" Type="http://schemas.openxmlformats.org/officeDocument/2006/relationships/image" Target="../media/image4.png"/><Relationship Id="rId8" Type="http://schemas.openxmlformats.org/officeDocument/2006/relationships/image" Target="../media/image7.png"/><Relationship Id="rId31" Type="http://schemas.openxmlformats.org/officeDocument/2006/relationships/image" Target="../media/image25.png"/><Relationship Id="rId30" Type="http://schemas.openxmlformats.org/officeDocument/2006/relationships/image" Target="../media/image24.png"/><Relationship Id="rId11" Type="http://schemas.openxmlformats.org/officeDocument/2006/relationships/image" Target="../media/image15.png"/><Relationship Id="rId33" Type="http://schemas.openxmlformats.org/officeDocument/2006/relationships/image" Target="../media/image38.png"/><Relationship Id="rId10" Type="http://schemas.openxmlformats.org/officeDocument/2006/relationships/image" Target="../media/image10.png"/><Relationship Id="rId32" Type="http://schemas.openxmlformats.org/officeDocument/2006/relationships/image" Target="../media/image36.png"/><Relationship Id="rId13" Type="http://schemas.openxmlformats.org/officeDocument/2006/relationships/image" Target="../media/image11.png"/><Relationship Id="rId12" Type="http://schemas.openxmlformats.org/officeDocument/2006/relationships/image" Target="../media/image17.png"/><Relationship Id="rId34" Type="http://schemas.openxmlformats.org/officeDocument/2006/relationships/image" Target="../media/image39.png"/><Relationship Id="rId15" Type="http://schemas.openxmlformats.org/officeDocument/2006/relationships/image" Target="../media/image19.png"/><Relationship Id="rId14" Type="http://schemas.openxmlformats.org/officeDocument/2006/relationships/image" Target="../media/image18.png"/><Relationship Id="rId17" Type="http://schemas.openxmlformats.org/officeDocument/2006/relationships/image" Target="../media/image20.png"/><Relationship Id="rId16" Type="http://schemas.openxmlformats.org/officeDocument/2006/relationships/image" Target="../media/image35.png"/><Relationship Id="rId19" Type="http://schemas.openxmlformats.org/officeDocument/2006/relationships/image" Target="../media/image16.png"/><Relationship Id="rId1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hyperlink" Target="https://slsa.dev/" TargetMode="Externa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49.png"/><Relationship Id="rId5"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5.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title"/>
          </p:nvPr>
        </p:nvSpPr>
        <p:spPr>
          <a:xfrm>
            <a:off x="488260" y="2185014"/>
            <a:ext cx="8167500" cy="7734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Clr>
                <a:schemeClr val="lt1"/>
              </a:buClr>
              <a:buSzPct val="180000"/>
              <a:buFont typeface="Play"/>
              <a:buNone/>
            </a:pPr>
            <a:r>
              <a:rPr lang="en-CA" sz="2500">
                <a:latin typeface="Montserrat Medium"/>
                <a:ea typeface="Montserrat Medium"/>
                <a:cs typeface="Montserrat Medium"/>
                <a:sym typeface="Montserrat Medium"/>
              </a:rPr>
              <a:t>How We Adopted</a:t>
            </a:r>
            <a:br>
              <a:rPr lang="en-CA"/>
            </a:br>
            <a:r>
              <a:rPr b="1" lang="en-CA" sz="3833">
                <a:latin typeface="Montserrat"/>
                <a:ea typeface="Montserrat"/>
                <a:cs typeface="Montserrat"/>
                <a:sym typeface="Montserrat"/>
              </a:rPr>
              <a:t>Secure Software Delivery</a:t>
            </a:r>
            <a:r>
              <a:rPr b="1" lang="en-CA" sz="3833">
                <a:latin typeface="Montserrat"/>
                <a:ea typeface="Montserrat"/>
                <a:cs typeface="Montserrat"/>
                <a:sym typeface="Montserrat"/>
              </a:rPr>
              <a:t> </a:t>
            </a:r>
            <a:r>
              <a:rPr b="1" lang="en-CA" sz="3833">
                <a:latin typeface="Montserrat"/>
                <a:ea typeface="Montserrat"/>
                <a:cs typeface="Montserrat"/>
                <a:sym typeface="Montserrat"/>
              </a:rPr>
              <a:t>Practices</a:t>
            </a:r>
            <a:r>
              <a:rPr lang="en-CA"/>
              <a:t> </a:t>
            </a:r>
            <a:r>
              <a:rPr lang="en-CA" sz="2000">
                <a:latin typeface="Montserrat Medium"/>
                <a:ea typeface="Montserrat Medium"/>
                <a:cs typeface="Montserrat Medium"/>
                <a:sym typeface="Montserrat Medium"/>
              </a:rPr>
              <a:t>for</a:t>
            </a:r>
            <a:r>
              <a:rPr lang="en-CA"/>
              <a:t> </a:t>
            </a:r>
            <a:r>
              <a:rPr b="1" lang="en-CA" sz="3750">
                <a:latin typeface="Montserrat"/>
                <a:ea typeface="Montserrat"/>
                <a:cs typeface="Montserrat"/>
                <a:sym typeface="Montserrat"/>
              </a:rPr>
              <a:t>Fission OSS</a:t>
            </a:r>
            <a:r>
              <a:rPr lang="en-CA"/>
              <a:t> </a:t>
            </a:r>
            <a:r>
              <a:rPr lang="en-CA" sz="2000">
                <a:latin typeface="Nunito Medium"/>
                <a:ea typeface="Nunito Medium"/>
                <a:cs typeface="Nunito Medium"/>
                <a:sym typeface="Nunito Medium"/>
              </a:rPr>
              <a:t>Serverless Platform</a:t>
            </a:r>
            <a:endParaRPr sz="2000">
              <a:latin typeface="Nunito Medium"/>
              <a:ea typeface="Nunito Medium"/>
              <a:cs typeface="Nunito Medium"/>
              <a:sym typeface="Nunito Medium"/>
            </a:endParaRPr>
          </a:p>
        </p:txBody>
      </p:sp>
      <p:pic>
        <p:nvPicPr>
          <p:cNvPr id="59" name="Google Shape;59;p13"/>
          <p:cNvPicPr preferRelativeResize="0"/>
          <p:nvPr/>
        </p:nvPicPr>
        <p:blipFill>
          <a:blip r:embed="rId3">
            <a:alphaModFix/>
          </a:blip>
          <a:stretch>
            <a:fillRect/>
          </a:stretch>
        </p:blipFill>
        <p:spPr>
          <a:xfrm>
            <a:off x="3119934" y="442431"/>
            <a:ext cx="2904131" cy="975788"/>
          </a:xfrm>
          <a:prstGeom prst="rect">
            <a:avLst/>
          </a:prstGeom>
          <a:noFill/>
          <a:ln>
            <a:noFill/>
          </a:ln>
        </p:spPr>
      </p:pic>
      <p:sp>
        <p:nvSpPr>
          <p:cNvPr id="60" name="Google Shape;60;p13"/>
          <p:cNvSpPr txBox="1"/>
          <p:nvPr/>
        </p:nvSpPr>
        <p:spPr>
          <a:xfrm>
            <a:off x="6446550" y="4281075"/>
            <a:ext cx="22092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CA" sz="2000">
                <a:solidFill>
                  <a:schemeClr val="lt1"/>
                </a:solidFill>
                <a:latin typeface="Montserrat"/>
                <a:ea typeface="Montserrat"/>
                <a:cs typeface="Montserrat"/>
                <a:sym typeface="Montserrat"/>
              </a:rPr>
              <a:t>Sanket Sudake</a:t>
            </a:r>
            <a:endParaRPr b="1" sz="2000">
              <a:solidFill>
                <a:schemeClr val="lt1"/>
              </a:solidFill>
              <a:latin typeface="Montserrat"/>
              <a:ea typeface="Montserrat"/>
              <a:cs typeface="Montserrat"/>
              <a:sym typeface="Montserrat"/>
            </a:endParaRPr>
          </a:p>
          <a:p>
            <a:pPr indent="0" lvl="0" marL="0" rtl="0" algn="l">
              <a:lnSpc>
                <a:spcPct val="90000"/>
              </a:lnSpc>
              <a:spcBef>
                <a:spcPts val="0"/>
              </a:spcBef>
              <a:spcAft>
                <a:spcPts val="0"/>
              </a:spcAft>
              <a:buNone/>
            </a:pPr>
            <a:r>
              <a:rPr lang="en-CA" sz="1600">
                <a:solidFill>
                  <a:schemeClr val="lt1"/>
                </a:solidFill>
                <a:latin typeface="Montserrat Medium"/>
                <a:ea typeface="Montserrat Medium"/>
                <a:cs typeface="Montserrat Medium"/>
                <a:sym typeface="Montserrat Medium"/>
              </a:rPr>
              <a:t>10th Dec, 2024</a:t>
            </a:r>
            <a:endParaRPr sz="16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601819" y="236944"/>
            <a:ext cx="7984500" cy="784500"/>
          </a:xfrm>
          <a:prstGeom prst="rect">
            <a:avLst/>
          </a:prstGeom>
          <a:noFill/>
          <a:ln>
            <a:noFill/>
          </a:ln>
        </p:spPr>
        <p:txBody>
          <a:bodyPr anchorCtr="0" anchor="b" bIns="68575" lIns="68575" spcFirstLastPara="1" rIns="68575" wrap="square" tIns="68575">
            <a:normAutofit/>
          </a:bodyPr>
          <a:lstStyle/>
          <a:p>
            <a:pPr indent="0" lvl="0" marL="0" rtl="0" algn="l">
              <a:spcBef>
                <a:spcPts val="0"/>
              </a:spcBef>
              <a:spcAft>
                <a:spcPts val="0"/>
              </a:spcAft>
              <a:buNone/>
            </a:pPr>
            <a:r>
              <a:rPr b="1" lang="en-CA" sz="3200">
                <a:solidFill>
                  <a:srgbClr val="1C4587"/>
                </a:solidFill>
                <a:latin typeface="Montserrat"/>
                <a:ea typeface="Montserrat"/>
                <a:cs typeface="Montserrat"/>
                <a:sym typeface="Montserrat"/>
              </a:rPr>
              <a:t>About Me</a:t>
            </a:r>
            <a:endParaRPr b="1" sz="3200">
              <a:solidFill>
                <a:srgbClr val="1C4587"/>
              </a:solidFill>
              <a:latin typeface="Montserrat"/>
              <a:ea typeface="Montserrat"/>
              <a:cs typeface="Montserrat"/>
              <a:sym typeface="Montserrat"/>
            </a:endParaRPr>
          </a:p>
        </p:txBody>
      </p:sp>
      <p:sp>
        <p:nvSpPr>
          <p:cNvPr id="66" name="Google Shape;66;p14"/>
          <p:cNvSpPr txBox="1"/>
          <p:nvPr/>
        </p:nvSpPr>
        <p:spPr>
          <a:xfrm>
            <a:off x="3782859" y="1021450"/>
            <a:ext cx="4753500" cy="3165000"/>
          </a:xfrm>
          <a:prstGeom prst="rect">
            <a:avLst/>
          </a:prstGeom>
          <a:noFill/>
          <a:ln>
            <a:noFill/>
          </a:ln>
        </p:spPr>
        <p:txBody>
          <a:bodyPr anchorCtr="0" anchor="t" bIns="68575" lIns="68575" spcFirstLastPara="1" rIns="68575" wrap="square" tIns="68575">
            <a:noAutofit/>
          </a:bodyPr>
          <a:lstStyle/>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Principal Engineer, InfraCloud </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Maintainer Fission - Serverless</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Interest Areas: Cloud/Containers, Distributed Systems</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Past: Started as Kernel Engineer </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Worked as Go developer, Openstack developer, SRE</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Loves tinkering around Opensource projects</a:t>
            </a:r>
            <a:endParaRPr sz="1800">
              <a:solidFill>
                <a:schemeClr val="dk1"/>
              </a:solidFill>
              <a:latin typeface="Montserrat Medium"/>
              <a:ea typeface="Montserrat Medium"/>
              <a:cs typeface="Montserrat Medium"/>
              <a:sym typeface="Montserrat Medium"/>
            </a:endParaRPr>
          </a:p>
        </p:txBody>
      </p:sp>
      <p:pic>
        <p:nvPicPr>
          <p:cNvPr id="67" name="Google Shape;67;p14"/>
          <p:cNvPicPr preferRelativeResize="0"/>
          <p:nvPr/>
        </p:nvPicPr>
        <p:blipFill rotWithShape="1">
          <a:blip r:embed="rId3">
            <a:alphaModFix/>
          </a:blip>
          <a:srcRect b="0" l="12725" r="12732" t="0"/>
          <a:stretch/>
        </p:blipFill>
        <p:spPr>
          <a:xfrm>
            <a:off x="716533" y="1293300"/>
            <a:ext cx="2113200" cy="2556900"/>
          </a:xfrm>
          <a:prstGeom prst="roundRect">
            <a:avLst>
              <a:gd fmla="val 4092" name="adj"/>
            </a:avLst>
          </a:prstGeom>
          <a:noFill/>
          <a:ln>
            <a:noFill/>
          </a:ln>
          <a:effectLst>
            <a:outerShdw blurRad="214313" rotWithShape="0" algn="bl" dir="5400000" dist="19050">
              <a:srgbClr val="666666">
                <a:alpha val="50000"/>
              </a:srgbClr>
            </a:outerShdw>
          </a:effectLst>
        </p:spPr>
      </p:pic>
      <p:sp>
        <p:nvSpPr>
          <p:cNvPr id="68" name="Google Shape;68;p14"/>
          <p:cNvSpPr txBox="1"/>
          <p:nvPr/>
        </p:nvSpPr>
        <p:spPr>
          <a:xfrm>
            <a:off x="6008475" y="4515350"/>
            <a:ext cx="2527800" cy="64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CA" sz="2200">
                <a:solidFill>
                  <a:srgbClr val="1155CC"/>
                </a:solidFill>
                <a:latin typeface="Montserrat SemiBold"/>
                <a:ea typeface="Montserrat SemiBold"/>
                <a:cs typeface="Montserrat SemiBold"/>
                <a:sym typeface="Montserrat SemiBold"/>
              </a:rPr>
              <a:t>@sanketsudake</a:t>
            </a:r>
            <a:endParaRPr sz="2200">
              <a:solidFill>
                <a:srgbClr val="1155CC"/>
              </a:solidFill>
              <a:latin typeface="Montserrat SemiBold"/>
              <a:ea typeface="Montserrat SemiBold"/>
              <a:cs typeface="Montserrat SemiBold"/>
              <a:sym typeface="Montserrat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628650" y="45244"/>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About Fission</a:t>
            </a:r>
            <a:endParaRPr b="1" sz="3200">
              <a:solidFill>
                <a:srgbClr val="1C4587"/>
              </a:solidFill>
              <a:latin typeface="Montserrat"/>
              <a:ea typeface="Montserrat"/>
              <a:cs typeface="Montserrat"/>
              <a:sym typeface="Montserrat"/>
            </a:endParaRPr>
          </a:p>
        </p:txBody>
      </p:sp>
      <p:sp>
        <p:nvSpPr>
          <p:cNvPr id="74" name="Google Shape;74;p15"/>
          <p:cNvSpPr/>
          <p:nvPr/>
        </p:nvSpPr>
        <p:spPr>
          <a:xfrm>
            <a:off x="427850" y="941286"/>
            <a:ext cx="4055700" cy="1522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Kubernetes Native Faas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Any public cloud or on-prem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Cloud-native platform with K8s base</a:t>
            </a:r>
            <a:endParaRPr sz="1500">
              <a:solidFill>
                <a:srgbClr val="595959"/>
              </a:solidFill>
              <a:latin typeface="Montserrat Medium"/>
              <a:ea typeface="Montserrat Medium"/>
              <a:cs typeface="Montserrat Medium"/>
              <a:sym typeface="Montserrat Medium"/>
            </a:endParaRPr>
          </a:p>
        </p:txBody>
      </p:sp>
      <p:sp>
        <p:nvSpPr>
          <p:cNvPr id="75" name="Google Shape;75;p15"/>
          <p:cNvSpPr/>
          <p:nvPr/>
        </p:nvSpPr>
        <p:spPr>
          <a:xfrm>
            <a:off x="427850" y="2812986"/>
            <a:ext cx="4055700" cy="1558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Fast and Flexible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100ms cold start with warm pool</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Easily Customizable and </a:t>
            </a:r>
            <a:r>
              <a:rPr lang="en-CA" sz="1500">
                <a:solidFill>
                  <a:srgbClr val="595959"/>
                </a:solidFill>
                <a:latin typeface="Montserrat Medium"/>
                <a:ea typeface="Montserrat Medium"/>
                <a:cs typeface="Montserrat Medium"/>
                <a:sym typeface="Montserrat Medium"/>
              </a:rPr>
              <a:t>extensible</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Support different languages and strategies</a:t>
            </a:r>
            <a:endParaRPr sz="1500">
              <a:solidFill>
                <a:srgbClr val="595959"/>
              </a:solidFill>
              <a:latin typeface="Montserrat Medium"/>
              <a:ea typeface="Montserrat Medium"/>
              <a:cs typeface="Montserrat Medium"/>
              <a:sym typeface="Montserrat Medium"/>
            </a:endParaRPr>
          </a:p>
        </p:txBody>
      </p:sp>
      <p:sp>
        <p:nvSpPr>
          <p:cNvPr id="76" name="Google Shape;76;p15"/>
          <p:cNvSpPr/>
          <p:nvPr/>
        </p:nvSpPr>
        <p:spPr>
          <a:xfrm>
            <a:off x="4794950" y="941286"/>
            <a:ext cx="4055700" cy="1522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Wide Community Adoption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8k+ Stars, 20+ Enterprise Users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2000+ Monthly Installs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K8s deployments with 200+ nodes</a:t>
            </a:r>
            <a:endParaRPr sz="1500">
              <a:solidFill>
                <a:srgbClr val="595959"/>
              </a:solidFill>
              <a:latin typeface="Montserrat Medium"/>
              <a:ea typeface="Montserrat Medium"/>
              <a:cs typeface="Montserrat Medium"/>
              <a:sym typeface="Montserrat Medium"/>
            </a:endParaRPr>
          </a:p>
        </p:txBody>
      </p:sp>
      <p:sp>
        <p:nvSpPr>
          <p:cNvPr id="77" name="Google Shape;77;p15"/>
          <p:cNvSpPr/>
          <p:nvPr/>
        </p:nvSpPr>
        <p:spPr>
          <a:xfrm>
            <a:off x="4794962" y="933211"/>
            <a:ext cx="59400" cy="1522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rgbClr val="3C78D8"/>
              </a:solidFill>
              <a:latin typeface="Inter"/>
              <a:ea typeface="Inter"/>
              <a:cs typeface="Inter"/>
              <a:sym typeface="Inter"/>
            </a:endParaRPr>
          </a:p>
        </p:txBody>
      </p:sp>
      <p:sp>
        <p:nvSpPr>
          <p:cNvPr id="78" name="Google Shape;78;p15"/>
          <p:cNvSpPr/>
          <p:nvPr/>
        </p:nvSpPr>
        <p:spPr>
          <a:xfrm>
            <a:off x="4794950" y="2812986"/>
            <a:ext cx="4055700" cy="1558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Languages &amp; Integrations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Trigger: HTTP, MQ, Time triggers</a:t>
            </a:r>
            <a:endParaRPr sz="1500">
              <a:solidFill>
                <a:srgbClr val="595959"/>
              </a:solidFill>
              <a:latin typeface="Nunito Medium"/>
              <a:ea typeface="Nunito Medium"/>
              <a:cs typeface="Nunito Medium"/>
              <a:sym typeface="Nunito Medium"/>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Support all most of popular languages</a:t>
            </a:r>
            <a:endParaRPr sz="1500">
              <a:solidFill>
                <a:srgbClr val="595959"/>
              </a:solidFill>
              <a:latin typeface="Nunito Medium"/>
              <a:ea typeface="Nunito Medium"/>
              <a:cs typeface="Nunito Medium"/>
              <a:sym typeface="Nunito Medium"/>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Observability, Tracing support </a:t>
            </a:r>
            <a:endParaRPr sz="1500">
              <a:solidFill>
                <a:srgbClr val="595959"/>
              </a:solidFill>
              <a:latin typeface="Nunito Medium"/>
              <a:ea typeface="Nunito Medium"/>
              <a:cs typeface="Nunito Medium"/>
              <a:sym typeface="Nunito Medium"/>
            </a:endParaRPr>
          </a:p>
        </p:txBody>
      </p:sp>
      <p:sp>
        <p:nvSpPr>
          <p:cNvPr id="79" name="Google Shape;79;p15"/>
          <p:cNvSpPr/>
          <p:nvPr/>
        </p:nvSpPr>
        <p:spPr>
          <a:xfrm>
            <a:off x="4794962" y="2812979"/>
            <a:ext cx="59400" cy="1558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0" name="Google Shape;80;p15"/>
          <p:cNvSpPr/>
          <p:nvPr/>
        </p:nvSpPr>
        <p:spPr>
          <a:xfrm>
            <a:off x="427850" y="941286"/>
            <a:ext cx="59400" cy="1522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rgbClr val="3C78D8"/>
              </a:solidFill>
              <a:latin typeface="Inter"/>
              <a:ea typeface="Inter"/>
              <a:cs typeface="Inter"/>
              <a:sym typeface="Inter"/>
            </a:endParaRPr>
          </a:p>
        </p:txBody>
      </p:sp>
      <p:sp>
        <p:nvSpPr>
          <p:cNvPr id="81" name="Google Shape;81;p15"/>
          <p:cNvSpPr/>
          <p:nvPr/>
        </p:nvSpPr>
        <p:spPr>
          <a:xfrm>
            <a:off x="427850" y="2812979"/>
            <a:ext cx="59400" cy="1558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6"/>
          <p:cNvPicPr preferRelativeResize="0"/>
          <p:nvPr/>
        </p:nvPicPr>
        <p:blipFill>
          <a:blip r:embed="rId3">
            <a:alphaModFix/>
          </a:blip>
          <a:stretch>
            <a:fillRect/>
          </a:stretch>
        </p:blipFill>
        <p:spPr>
          <a:xfrm>
            <a:off x="7578096" y="1493368"/>
            <a:ext cx="628140" cy="212228"/>
          </a:xfrm>
          <a:prstGeom prst="rect">
            <a:avLst/>
          </a:prstGeom>
          <a:noFill/>
          <a:ln>
            <a:noFill/>
          </a:ln>
        </p:spPr>
      </p:pic>
      <p:pic>
        <p:nvPicPr>
          <p:cNvPr id="87" name="Google Shape;87;p16"/>
          <p:cNvPicPr preferRelativeResize="0"/>
          <p:nvPr/>
        </p:nvPicPr>
        <p:blipFill rotWithShape="1">
          <a:blip r:embed="rId4">
            <a:alphaModFix/>
          </a:blip>
          <a:srcRect b="27939" l="0" r="0" t="25395"/>
          <a:stretch/>
        </p:blipFill>
        <p:spPr>
          <a:xfrm>
            <a:off x="6473075" y="4002375"/>
            <a:ext cx="589625" cy="274925"/>
          </a:xfrm>
          <a:prstGeom prst="rect">
            <a:avLst/>
          </a:prstGeom>
          <a:noFill/>
          <a:ln>
            <a:noFill/>
          </a:ln>
        </p:spPr>
      </p:pic>
      <p:pic>
        <p:nvPicPr>
          <p:cNvPr id="88" name="Google Shape;88;p16"/>
          <p:cNvPicPr preferRelativeResize="0"/>
          <p:nvPr/>
        </p:nvPicPr>
        <p:blipFill>
          <a:blip r:embed="rId5">
            <a:alphaModFix/>
          </a:blip>
          <a:stretch>
            <a:fillRect/>
          </a:stretch>
        </p:blipFill>
        <p:spPr>
          <a:xfrm>
            <a:off x="7985925" y="1762815"/>
            <a:ext cx="540600" cy="221784"/>
          </a:xfrm>
          <a:prstGeom prst="rect">
            <a:avLst/>
          </a:prstGeom>
          <a:noFill/>
          <a:ln>
            <a:noFill/>
          </a:ln>
        </p:spPr>
      </p:pic>
      <p:pic>
        <p:nvPicPr>
          <p:cNvPr id="89" name="Google Shape;89;p16"/>
          <p:cNvPicPr preferRelativeResize="0"/>
          <p:nvPr/>
        </p:nvPicPr>
        <p:blipFill>
          <a:blip r:embed="rId6">
            <a:alphaModFix/>
          </a:blip>
          <a:stretch>
            <a:fillRect/>
          </a:stretch>
        </p:blipFill>
        <p:spPr>
          <a:xfrm>
            <a:off x="8087550" y="2086925"/>
            <a:ext cx="589600" cy="326050"/>
          </a:xfrm>
          <a:prstGeom prst="rect">
            <a:avLst/>
          </a:prstGeom>
          <a:noFill/>
          <a:ln>
            <a:noFill/>
          </a:ln>
        </p:spPr>
      </p:pic>
      <p:pic>
        <p:nvPicPr>
          <p:cNvPr id="90" name="Google Shape;90;p16"/>
          <p:cNvPicPr preferRelativeResize="0"/>
          <p:nvPr/>
        </p:nvPicPr>
        <p:blipFill rotWithShape="1">
          <a:blip r:embed="rId7">
            <a:alphaModFix/>
          </a:blip>
          <a:srcRect b="15925" l="7207" r="54804" t="27198"/>
          <a:stretch/>
        </p:blipFill>
        <p:spPr>
          <a:xfrm>
            <a:off x="7540026" y="3294956"/>
            <a:ext cx="304081" cy="340153"/>
          </a:xfrm>
          <a:prstGeom prst="rect">
            <a:avLst/>
          </a:prstGeom>
          <a:noFill/>
          <a:ln>
            <a:noFill/>
          </a:ln>
        </p:spPr>
      </p:pic>
      <p:pic>
        <p:nvPicPr>
          <p:cNvPr id="91" name="Google Shape;91;p16"/>
          <p:cNvPicPr preferRelativeResize="0"/>
          <p:nvPr/>
        </p:nvPicPr>
        <p:blipFill rotWithShape="1">
          <a:blip r:embed="rId8">
            <a:alphaModFix/>
          </a:blip>
          <a:srcRect b="15926" l="5831" r="6878" t="5815"/>
          <a:stretch/>
        </p:blipFill>
        <p:spPr>
          <a:xfrm>
            <a:off x="7888947" y="3142884"/>
            <a:ext cx="392447" cy="418934"/>
          </a:xfrm>
          <a:prstGeom prst="rect">
            <a:avLst/>
          </a:prstGeom>
          <a:noFill/>
          <a:ln>
            <a:noFill/>
          </a:ln>
        </p:spPr>
      </p:pic>
      <p:pic>
        <p:nvPicPr>
          <p:cNvPr id="92" name="Google Shape;92;p16"/>
          <p:cNvPicPr preferRelativeResize="0"/>
          <p:nvPr/>
        </p:nvPicPr>
        <p:blipFill>
          <a:blip r:embed="rId9">
            <a:alphaModFix/>
          </a:blip>
          <a:stretch>
            <a:fillRect/>
          </a:stretch>
        </p:blipFill>
        <p:spPr>
          <a:xfrm>
            <a:off x="6983175" y="3913662"/>
            <a:ext cx="497100" cy="177325"/>
          </a:xfrm>
          <a:prstGeom prst="rect">
            <a:avLst/>
          </a:prstGeom>
          <a:noFill/>
          <a:ln>
            <a:noFill/>
          </a:ln>
        </p:spPr>
      </p:pic>
      <p:pic>
        <p:nvPicPr>
          <p:cNvPr id="93" name="Google Shape;93;p16"/>
          <p:cNvPicPr preferRelativeResize="0"/>
          <p:nvPr/>
        </p:nvPicPr>
        <p:blipFill rotWithShape="1">
          <a:blip r:embed="rId10">
            <a:alphaModFix/>
          </a:blip>
          <a:srcRect b="7937" l="7978" r="7505" t="7361"/>
          <a:stretch/>
        </p:blipFill>
        <p:spPr>
          <a:xfrm>
            <a:off x="7399346" y="3618900"/>
            <a:ext cx="336454" cy="337800"/>
          </a:xfrm>
          <a:prstGeom prst="rect">
            <a:avLst/>
          </a:prstGeom>
          <a:noFill/>
          <a:ln>
            <a:noFill/>
          </a:ln>
        </p:spPr>
      </p:pic>
      <p:pic>
        <p:nvPicPr>
          <p:cNvPr id="94" name="Google Shape;94;p16"/>
          <p:cNvPicPr preferRelativeResize="0"/>
          <p:nvPr/>
        </p:nvPicPr>
        <p:blipFill>
          <a:blip r:embed="rId11">
            <a:alphaModFix/>
          </a:blip>
          <a:stretch>
            <a:fillRect/>
          </a:stretch>
        </p:blipFill>
        <p:spPr>
          <a:xfrm>
            <a:off x="7111045" y="836630"/>
            <a:ext cx="589614" cy="417426"/>
          </a:xfrm>
          <a:prstGeom prst="rect">
            <a:avLst/>
          </a:prstGeom>
          <a:noFill/>
          <a:ln>
            <a:noFill/>
          </a:ln>
        </p:spPr>
      </p:pic>
      <p:pic>
        <p:nvPicPr>
          <p:cNvPr id="95" name="Google Shape;95;p16"/>
          <p:cNvPicPr preferRelativeResize="0"/>
          <p:nvPr/>
        </p:nvPicPr>
        <p:blipFill>
          <a:blip r:embed="rId12">
            <a:alphaModFix/>
          </a:blip>
          <a:stretch>
            <a:fillRect/>
          </a:stretch>
        </p:blipFill>
        <p:spPr>
          <a:xfrm>
            <a:off x="8066200" y="2745375"/>
            <a:ext cx="628150" cy="345000"/>
          </a:xfrm>
          <a:prstGeom prst="rect">
            <a:avLst/>
          </a:prstGeom>
          <a:noFill/>
          <a:ln>
            <a:noFill/>
          </a:ln>
        </p:spPr>
      </p:pic>
      <p:pic>
        <p:nvPicPr>
          <p:cNvPr id="96" name="Google Shape;96;p16"/>
          <p:cNvPicPr preferRelativeResize="0"/>
          <p:nvPr/>
        </p:nvPicPr>
        <p:blipFill>
          <a:blip r:embed="rId13">
            <a:alphaModFix/>
          </a:blip>
          <a:stretch>
            <a:fillRect/>
          </a:stretch>
        </p:blipFill>
        <p:spPr>
          <a:xfrm>
            <a:off x="7909550" y="2532000"/>
            <a:ext cx="888625" cy="194387"/>
          </a:xfrm>
          <a:prstGeom prst="rect">
            <a:avLst/>
          </a:prstGeom>
          <a:noFill/>
          <a:ln>
            <a:noFill/>
          </a:ln>
        </p:spPr>
      </p:pic>
      <p:pic>
        <p:nvPicPr>
          <p:cNvPr id="97" name="Google Shape;97;p16"/>
          <p:cNvPicPr preferRelativeResize="0"/>
          <p:nvPr/>
        </p:nvPicPr>
        <p:blipFill>
          <a:blip r:embed="rId14">
            <a:alphaModFix/>
          </a:blip>
          <a:stretch>
            <a:fillRect/>
          </a:stretch>
        </p:blipFill>
        <p:spPr>
          <a:xfrm>
            <a:off x="7475916" y="1190277"/>
            <a:ext cx="247667" cy="299191"/>
          </a:xfrm>
          <a:prstGeom prst="rect">
            <a:avLst/>
          </a:prstGeom>
          <a:noFill/>
          <a:ln>
            <a:noFill/>
          </a:ln>
        </p:spPr>
      </p:pic>
      <p:pic>
        <p:nvPicPr>
          <p:cNvPr id="98" name="Google Shape;98;p16"/>
          <p:cNvPicPr preferRelativeResize="0"/>
          <p:nvPr/>
        </p:nvPicPr>
        <p:blipFill rotWithShape="1">
          <a:blip r:embed="rId15">
            <a:alphaModFix/>
          </a:blip>
          <a:srcRect b="0" l="27570" r="33577" t="0"/>
          <a:stretch/>
        </p:blipFill>
        <p:spPr>
          <a:xfrm>
            <a:off x="6839598" y="638932"/>
            <a:ext cx="304082" cy="428190"/>
          </a:xfrm>
          <a:prstGeom prst="rect">
            <a:avLst/>
          </a:prstGeom>
          <a:noFill/>
          <a:ln>
            <a:noFill/>
          </a:ln>
        </p:spPr>
      </p:pic>
      <p:cxnSp>
        <p:nvCxnSpPr>
          <p:cNvPr id="99" name="Google Shape;99;p16"/>
          <p:cNvCxnSpPr>
            <a:stCxn id="100" idx="3"/>
            <a:endCxn id="89" idx="1"/>
          </p:cNvCxnSpPr>
          <p:nvPr/>
        </p:nvCxnSpPr>
        <p:spPr>
          <a:xfrm flipH="1" rot="10800000">
            <a:off x="5669477" y="2250081"/>
            <a:ext cx="2418000" cy="442800"/>
          </a:xfrm>
          <a:prstGeom prst="curvedConnector3">
            <a:avLst>
              <a:gd fmla="val 50002" name="adj1"/>
            </a:avLst>
          </a:prstGeom>
          <a:noFill/>
          <a:ln cap="flat" cmpd="sng" w="9525">
            <a:solidFill>
              <a:srgbClr val="674EA7"/>
            </a:solidFill>
            <a:prstDash val="solid"/>
            <a:round/>
            <a:headEnd len="med" w="med" type="none"/>
            <a:tailEnd len="med" w="med" type="none"/>
          </a:ln>
        </p:spPr>
      </p:cxnSp>
      <p:cxnSp>
        <p:nvCxnSpPr>
          <p:cNvPr id="101" name="Google Shape;101;p16"/>
          <p:cNvCxnSpPr>
            <a:stCxn id="100" idx="3"/>
            <a:endCxn id="96" idx="1"/>
          </p:cNvCxnSpPr>
          <p:nvPr/>
        </p:nvCxnSpPr>
        <p:spPr>
          <a:xfrm flipH="1" rot="10800000">
            <a:off x="5669477" y="2629281"/>
            <a:ext cx="2240100" cy="63600"/>
          </a:xfrm>
          <a:prstGeom prst="curvedConnector3">
            <a:avLst>
              <a:gd fmla="val 49999" name="adj1"/>
            </a:avLst>
          </a:prstGeom>
          <a:noFill/>
          <a:ln cap="flat" cmpd="sng" w="9525">
            <a:solidFill>
              <a:srgbClr val="674EA7"/>
            </a:solidFill>
            <a:prstDash val="solid"/>
            <a:round/>
            <a:headEnd len="med" w="med" type="none"/>
            <a:tailEnd len="med" w="med" type="none"/>
          </a:ln>
        </p:spPr>
      </p:cxnSp>
      <p:cxnSp>
        <p:nvCxnSpPr>
          <p:cNvPr id="102" name="Google Shape;102;p16"/>
          <p:cNvCxnSpPr>
            <a:stCxn id="100" idx="3"/>
            <a:endCxn id="95" idx="1"/>
          </p:cNvCxnSpPr>
          <p:nvPr/>
        </p:nvCxnSpPr>
        <p:spPr>
          <a:xfrm>
            <a:off x="5669477" y="2692881"/>
            <a:ext cx="2396700" cy="2250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3" name="Google Shape;103;p16"/>
          <p:cNvCxnSpPr>
            <a:stCxn id="100" idx="3"/>
          </p:cNvCxnSpPr>
          <p:nvPr/>
        </p:nvCxnSpPr>
        <p:spPr>
          <a:xfrm>
            <a:off x="5669477" y="2692881"/>
            <a:ext cx="2231700" cy="5940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4" name="Google Shape;104;p16"/>
          <p:cNvCxnSpPr>
            <a:stCxn id="100" idx="3"/>
            <a:endCxn id="90" idx="1"/>
          </p:cNvCxnSpPr>
          <p:nvPr/>
        </p:nvCxnSpPr>
        <p:spPr>
          <a:xfrm>
            <a:off x="5669477" y="2692881"/>
            <a:ext cx="1870500" cy="772200"/>
          </a:xfrm>
          <a:prstGeom prst="curvedConnector3">
            <a:avLst>
              <a:gd fmla="val 50001" name="adj1"/>
            </a:avLst>
          </a:prstGeom>
          <a:noFill/>
          <a:ln cap="flat" cmpd="sng" w="9525">
            <a:solidFill>
              <a:srgbClr val="674EA7"/>
            </a:solidFill>
            <a:prstDash val="solid"/>
            <a:round/>
            <a:headEnd len="med" w="med" type="none"/>
            <a:tailEnd len="med" w="med" type="none"/>
          </a:ln>
        </p:spPr>
      </p:cxnSp>
      <p:cxnSp>
        <p:nvCxnSpPr>
          <p:cNvPr id="105" name="Google Shape;105;p16"/>
          <p:cNvCxnSpPr>
            <a:stCxn id="100" idx="3"/>
            <a:endCxn id="93" idx="1"/>
          </p:cNvCxnSpPr>
          <p:nvPr/>
        </p:nvCxnSpPr>
        <p:spPr>
          <a:xfrm>
            <a:off x="5669477" y="2692881"/>
            <a:ext cx="1729800" cy="1095000"/>
          </a:xfrm>
          <a:prstGeom prst="curvedConnector3">
            <a:avLst>
              <a:gd fmla="val 50002" name="adj1"/>
            </a:avLst>
          </a:prstGeom>
          <a:noFill/>
          <a:ln cap="flat" cmpd="sng" w="9525">
            <a:solidFill>
              <a:srgbClr val="674EA7"/>
            </a:solidFill>
            <a:prstDash val="solid"/>
            <a:round/>
            <a:headEnd len="med" w="med" type="none"/>
            <a:tailEnd len="med" w="med" type="none"/>
          </a:ln>
        </p:spPr>
      </p:cxnSp>
      <p:cxnSp>
        <p:nvCxnSpPr>
          <p:cNvPr id="106" name="Google Shape;106;p16"/>
          <p:cNvCxnSpPr>
            <a:stCxn id="100" idx="3"/>
            <a:endCxn id="92" idx="1"/>
          </p:cNvCxnSpPr>
          <p:nvPr/>
        </p:nvCxnSpPr>
        <p:spPr>
          <a:xfrm>
            <a:off x="5669477" y="2692881"/>
            <a:ext cx="1313700" cy="13095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7" name="Google Shape;107;p16"/>
          <p:cNvCxnSpPr>
            <a:stCxn id="100" idx="3"/>
            <a:endCxn id="87" idx="1"/>
          </p:cNvCxnSpPr>
          <p:nvPr/>
        </p:nvCxnSpPr>
        <p:spPr>
          <a:xfrm>
            <a:off x="5669477" y="2692881"/>
            <a:ext cx="803700" cy="1446900"/>
          </a:xfrm>
          <a:prstGeom prst="curvedConnector3">
            <a:avLst>
              <a:gd fmla="val 49994" name="adj1"/>
            </a:avLst>
          </a:prstGeom>
          <a:noFill/>
          <a:ln cap="flat" cmpd="sng" w="9525">
            <a:solidFill>
              <a:srgbClr val="674EA7"/>
            </a:solidFill>
            <a:prstDash val="solid"/>
            <a:round/>
            <a:headEnd len="med" w="med" type="none"/>
            <a:tailEnd len="med" w="med" type="none"/>
          </a:ln>
        </p:spPr>
      </p:cxnSp>
      <p:cxnSp>
        <p:nvCxnSpPr>
          <p:cNvPr id="108" name="Google Shape;108;p16"/>
          <p:cNvCxnSpPr>
            <a:stCxn id="100" idx="3"/>
            <a:endCxn id="88" idx="1"/>
          </p:cNvCxnSpPr>
          <p:nvPr/>
        </p:nvCxnSpPr>
        <p:spPr>
          <a:xfrm flipH="1" rot="10800000">
            <a:off x="5669477" y="1873581"/>
            <a:ext cx="2316300" cy="819300"/>
          </a:xfrm>
          <a:prstGeom prst="curvedConnector3">
            <a:avLst>
              <a:gd fmla="val 50003" name="adj1"/>
            </a:avLst>
          </a:prstGeom>
          <a:noFill/>
          <a:ln cap="flat" cmpd="sng" w="9525">
            <a:solidFill>
              <a:srgbClr val="674EA7"/>
            </a:solidFill>
            <a:prstDash val="solid"/>
            <a:round/>
            <a:headEnd len="med" w="med" type="none"/>
            <a:tailEnd len="med" w="med" type="none"/>
          </a:ln>
        </p:spPr>
      </p:cxnSp>
      <p:cxnSp>
        <p:nvCxnSpPr>
          <p:cNvPr id="109" name="Google Shape;109;p16"/>
          <p:cNvCxnSpPr>
            <a:stCxn id="100" idx="3"/>
            <a:endCxn id="86" idx="1"/>
          </p:cNvCxnSpPr>
          <p:nvPr/>
        </p:nvCxnSpPr>
        <p:spPr>
          <a:xfrm flipH="1" rot="10800000">
            <a:off x="5669477" y="1599381"/>
            <a:ext cx="1908600" cy="1093500"/>
          </a:xfrm>
          <a:prstGeom prst="curvedConnector3">
            <a:avLst>
              <a:gd fmla="val 49996" name="adj1"/>
            </a:avLst>
          </a:prstGeom>
          <a:noFill/>
          <a:ln cap="flat" cmpd="sng" w="9525">
            <a:solidFill>
              <a:srgbClr val="674EA7"/>
            </a:solidFill>
            <a:prstDash val="solid"/>
            <a:round/>
            <a:headEnd len="med" w="med" type="none"/>
            <a:tailEnd len="med" w="med" type="none"/>
          </a:ln>
        </p:spPr>
      </p:cxnSp>
      <p:cxnSp>
        <p:nvCxnSpPr>
          <p:cNvPr id="110" name="Google Shape;110;p16"/>
          <p:cNvCxnSpPr>
            <a:stCxn id="100" idx="3"/>
            <a:endCxn id="97" idx="1"/>
          </p:cNvCxnSpPr>
          <p:nvPr/>
        </p:nvCxnSpPr>
        <p:spPr>
          <a:xfrm flipH="1" rot="10800000">
            <a:off x="5669477" y="1339881"/>
            <a:ext cx="1806300" cy="1353000"/>
          </a:xfrm>
          <a:prstGeom prst="curvedConnector3">
            <a:avLst>
              <a:gd fmla="val 50004" name="adj1"/>
            </a:avLst>
          </a:prstGeom>
          <a:noFill/>
          <a:ln cap="flat" cmpd="sng" w="9525">
            <a:solidFill>
              <a:srgbClr val="674EA7"/>
            </a:solidFill>
            <a:prstDash val="solid"/>
            <a:round/>
            <a:headEnd len="med" w="med" type="none"/>
            <a:tailEnd len="med" w="med" type="none"/>
          </a:ln>
        </p:spPr>
      </p:cxnSp>
      <p:cxnSp>
        <p:nvCxnSpPr>
          <p:cNvPr id="111" name="Google Shape;111;p16"/>
          <p:cNvCxnSpPr>
            <a:stCxn id="100" idx="3"/>
            <a:endCxn id="94" idx="1"/>
          </p:cNvCxnSpPr>
          <p:nvPr/>
        </p:nvCxnSpPr>
        <p:spPr>
          <a:xfrm flipH="1" rot="10800000">
            <a:off x="5669477" y="1045281"/>
            <a:ext cx="1441500" cy="1647600"/>
          </a:xfrm>
          <a:prstGeom prst="curvedConnector3">
            <a:avLst>
              <a:gd fmla="val 50005" name="adj1"/>
            </a:avLst>
          </a:prstGeom>
          <a:noFill/>
          <a:ln cap="flat" cmpd="sng" w="9525">
            <a:solidFill>
              <a:srgbClr val="674EA7"/>
            </a:solidFill>
            <a:prstDash val="solid"/>
            <a:round/>
            <a:headEnd len="med" w="med" type="none"/>
            <a:tailEnd len="med" w="med" type="none"/>
          </a:ln>
        </p:spPr>
      </p:cxnSp>
      <p:cxnSp>
        <p:nvCxnSpPr>
          <p:cNvPr id="112" name="Google Shape;112;p16"/>
          <p:cNvCxnSpPr>
            <a:stCxn id="100" idx="3"/>
            <a:endCxn id="98" idx="1"/>
          </p:cNvCxnSpPr>
          <p:nvPr/>
        </p:nvCxnSpPr>
        <p:spPr>
          <a:xfrm flipH="1" rot="10800000">
            <a:off x="5669477" y="852981"/>
            <a:ext cx="1170000" cy="1839900"/>
          </a:xfrm>
          <a:prstGeom prst="curvedConnector3">
            <a:avLst>
              <a:gd fmla="val 50006" name="adj1"/>
            </a:avLst>
          </a:prstGeom>
          <a:noFill/>
          <a:ln cap="flat" cmpd="sng" w="9525">
            <a:solidFill>
              <a:srgbClr val="674EA7"/>
            </a:solidFill>
            <a:prstDash val="solid"/>
            <a:round/>
            <a:headEnd len="med" w="med" type="none"/>
            <a:tailEnd len="med" w="med" type="none"/>
          </a:ln>
        </p:spPr>
      </p:cxnSp>
      <p:grpSp>
        <p:nvGrpSpPr>
          <p:cNvPr id="113" name="Google Shape;113;p16"/>
          <p:cNvGrpSpPr/>
          <p:nvPr/>
        </p:nvGrpSpPr>
        <p:grpSpPr>
          <a:xfrm>
            <a:off x="501453" y="832047"/>
            <a:ext cx="1885365" cy="3502970"/>
            <a:chOff x="679389" y="1281509"/>
            <a:chExt cx="1844961" cy="3087678"/>
          </a:xfrm>
        </p:grpSpPr>
        <p:pic>
          <p:nvPicPr>
            <p:cNvPr id="114" name="Google Shape;114;p16"/>
            <p:cNvPicPr preferRelativeResize="0"/>
            <p:nvPr/>
          </p:nvPicPr>
          <p:blipFill>
            <a:blip r:embed="rId16">
              <a:alphaModFix/>
            </a:blip>
            <a:stretch>
              <a:fillRect/>
            </a:stretch>
          </p:blipFill>
          <p:spPr>
            <a:xfrm>
              <a:off x="1159147" y="3370826"/>
              <a:ext cx="246900" cy="246921"/>
            </a:xfrm>
            <a:prstGeom prst="rect">
              <a:avLst/>
            </a:prstGeom>
            <a:noFill/>
            <a:ln>
              <a:noFill/>
            </a:ln>
          </p:spPr>
        </p:pic>
        <p:pic>
          <p:nvPicPr>
            <p:cNvPr id="115" name="Google Shape;115;p16"/>
            <p:cNvPicPr preferRelativeResize="0"/>
            <p:nvPr/>
          </p:nvPicPr>
          <p:blipFill rotWithShape="1">
            <a:blip r:embed="rId17">
              <a:alphaModFix/>
            </a:blip>
            <a:srcRect b="1503" l="0" r="0" t="1503"/>
            <a:stretch/>
          </p:blipFill>
          <p:spPr>
            <a:xfrm>
              <a:off x="914944" y="1281509"/>
              <a:ext cx="529022" cy="296257"/>
            </a:xfrm>
            <a:prstGeom prst="rect">
              <a:avLst/>
            </a:prstGeom>
            <a:noFill/>
            <a:ln>
              <a:noFill/>
            </a:ln>
          </p:spPr>
        </p:pic>
        <p:pic>
          <p:nvPicPr>
            <p:cNvPr id="116" name="Google Shape;116;p16"/>
            <p:cNvPicPr preferRelativeResize="0"/>
            <p:nvPr/>
          </p:nvPicPr>
          <p:blipFill>
            <a:blip r:embed="rId18">
              <a:alphaModFix/>
            </a:blip>
            <a:stretch>
              <a:fillRect/>
            </a:stretch>
          </p:blipFill>
          <p:spPr>
            <a:xfrm>
              <a:off x="1284718" y="1797440"/>
              <a:ext cx="160918" cy="219275"/>
            </a:xfrm>
            <a:prstGeom prst="rect">
              <a:avLst/>
            </a:prstGeom>
            <a:noFill/>
            <a:ln>
              <a:noFill/>
            </a:ln>
          </p:spPr>
        </p:pic>
        <p:pic>
          <p:nvPicPr>
            <p:cNvPr id="117" name="Google Shape;117;p16"/>
            <p:cNvPicPr preferRelativeResize="0"/>
            <p:nvPr/>
          </p:nvPicPr>
          <p:blipFill>
            <a:blip r:embed="rId19">
              <a:alphaModFix/>
            </a:blip>
            <a:stretch>
              <a:fillRect/>
            </a:stretch>
          </p:blipFill>
          <p:spPr>
            <a:xfrm>
              <a:off x="1007761" y="2183165"/>
              <a:ext cx="463800" cy="170068"/>
            </a:xfrm>
            <a:prstGeom prst="rect">
              <a:avLst/>
            </a:prstGeom>
            <a:noFill/>
            <a:ln>
              <a:noFill/>
            </a:ln>
          </p:spPr>
        </p:pic>
        <p:pic>
          <p:nvPicPr>
            <p:cNvPr id="118" name="Google Shape;118;p16"/>
            <p:cNvPicPr preferRelativeResize="0"/>
            <p:nvPr/>
          </p:nvPicPr>
          <p:blipFill>
            <a:blip r:embed="rId20">
              <a:alphaModFix/>
            </a:blip>
            <a:stretch>
              <a:fillRect/>
            </a:stretch>
          </p:blipFill>
          <p:spPr>
            <a:xfrm>
              <a:off x="899526" y="2535765"/>
              <a:ext cx="577000" cy="288500"/>
            </a:xfrm>
            <a:prstGeom prst="rect">
              <a:avLst/>
            </a:prstGeom>
            <a:noFill/>
            <a:ln>
              <a:noFill/>
            </a:ln>
          </p:spPr>
        </p:pic>
        <p:pic>
          <p:nvPicPr>
            <p:cNvPr id="119" name="Google Shape;119;p16"/>
            <p:cNvPicPr preferRelativeResize="0"/>
            <p:nvPr/>
          </p:nvPicPr>
          <p:blipFill>
            <a:blip r:embed="rId21">
              <a:alphaModFix/>
            </a:blip>
            <a:stretch>
              <a:fillRect/>
            </a:stretch>
          </p:blipFill>
          <p:spPr>
            <a:xfrm>
              <a:off x="1070674" y="3000336"/>
              <a:ext cx="351974" cy="189997"/>
            </a:xfrm>
            <a:prstGeom prst="rect">
              <a:avLst/>
            </a:prstGeom>
            <a:noFill/>
            <a:ln>
              <a:noFill/>
            </a:ln>
          </p:spPr>
        </p:pic>
        <p:pic>
          <p:nvPicPr>
            <p:cNvPr id="120" name="Google Shape;120;p16"/>
            <p:cNvPicPr preferRelativeResize="0"/>
            <p:nvPr/>
          </p:nvPicPr>
          <p:blipFill>
            <a:blip r:embed="rId22">
              <a:alphaModFix/>
            </a:blip>
            <a:stretch>
              <a:fillRect/>
            </a:stretch>
          </p:blipFill>
          <p:spPr>
            <a:xfrm>
              <a:off x="938963" y="3798267"/>
              <a:ext cx="463799" cy="225091"/>
            </a:xfrm>
            <a:prstGeom prst="rect">
              <a:avLst/>
            </a:prstGeom>
            <a:noFill/>
            <a:ln>
              <a:noFill/>
            </a:ln>
          </p:spPr>
        </p:pic>
        <p:pic>
          <p:nvPicPr>
            <p:cNvPr id="121" name="Google Shape;121;p16"/>
            <p:cNvPicPr preferRelativeResize="0"/>
            <p:nvPr/>
          </p:nvPicPr>
          <p:blipFill>
            <a:blip r:embed="rId23">
              <a:alphaModFix/>
            </a:blip>
            <a:stretch>
              <a:fillRect/>
            </a:stretch>
          </p:blipFill>
          <p:spPr>
            <a:xfrm>
              <a:off x="679389" y="4187113"/>
              <a:ext cx="754199" cy="182074"/>
            </a:xfrm>
            <a:prstGeom prst="rect">
              <a:avLst/>
            </a:prstGeom>
            <a:noFill/>
            <a:ln>
              <a:noFill/>
            </a:ln>
          </p:spPr>
        </p:pic>
        <p:cxnSp>
          <p:nvCxnSpPr>
            <p:cNvPr id="122" name="Google Shape;122;p16"/>
            <p:cNvCxnSpPr/>
            <p:nvPr/>
          </p:nvCxnSpPr>
          <p:spPr>
            <a:xfrm flipH="1" rot="10800000">
              <a:off x="2163750" y="2913275"/>
              <a:ext cx="360600" cy="24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23" name="Google Shape;123;p16"/>
            <p:cNvCxnSpPr/>
            <p:nvPr/>
          </p:nvCxnSpPr>
          <p:spPr>
            <a:xfrm>
              <a:off x="2172200" y="1451175"/>
              <a:ext cx="0" cy="2841900"/>
            </a:xfrm>
            <a:prstGeom prst="straightConnector1">
              <a:avLst/>
            </a:prstGeom>
            <a:noFill/>
            <a:ln cap="flat" cmpd="sng" w="9525">
              <a:solidFill>
                <a:srgbClr val="674EA7"/>
              </a:solidFill>
              <a:prstDash val="solid"/>
              <a:round/>
              <a:headEnd len="med" w="med" type="none"/>
              <a:tailEnd len="med" w="med" type="none"/>
            </a:ln>
          </p:spPr>
        </p:cxnSp>
        <p:cxnSp>
          <p:nvCxnSpPr>
            <p:cNvPr id="124" name="Google Shape;124;p16"/>
            <p:cNvCxnSpPr/>
            <p:nvPr/>
          </p:nvCxnSpPr>
          <p:spPr>
            <a:xfrm>
              <a:off x="1485248" y="4281587"/>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5" name="Google Shape;125;p16"/>
            <p:cNvCxnSpPr/>
            <p:nvPr/>
          </p:nvCxnSpPr>
          <p:spPr>
            <a:xfrm>
              <a:off x="1485248" y="1448040"/>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6" name="Google Shape;126;p16"/>
            <p:cNvCxnSpPr/>
            <p:nvPr/>
          </p:nvCxnSpPr>
          <p:spPr>
            <a:xfrm>
              <a:off x="1522000" y="1907625"/>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27" name="Google Shape;127;p16"/>
            <p:cNvCxnSpPr/>
            <p:nvPr/>
          </p:nvCxnSpPr>
          <p:spPr>
            <a:xfrm>
              <a:off x="1485248" y="3493237"/>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8" name="Google Shape;128;p16"/>
            <p:cNvCxnSpPr/>
            <p:nvPr/>
          </p:nvCxnSpPr>
          <p:spPr>
            <a:xfrm>
              <a:off x="1485198" y="3089925"/>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9" name="Google Shape;129;p16"/>
            <p:cNvCxnSpPr/>
            <p:nvPr/>
          </p:nvCxnSpPr>
          <p:spPr>
            <a:xfrm>
              <a:off x="1522000" y="2682550"/>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30" name="Google Shape;130;p16"/>
            <p:cNvCxnSpPr/>
            <p:nvPr/>
          </p:nvCxnSpPr>
          <p:spPr>
            <a:xfrm>
              <a:off x="1520600" y="2286725"/>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31" name="Google Shape;131;p16"/>
            <p:cNvCxnSpPr/>
            <p:nvPr/>
          </p:nvCxnSpPr>
          <p:spPr>
            <a:xfrm>
              <a:off x="1485248" y="3914062"/>
              <a:ext cx="687000" cy="0"/>
            </a:xfrm>
            <a:prstGeom prst="straightConnector1">
              <a:avLst/>
            </a:prstGeom>
            <a:noFill/>
            <a:ln cap="flat" cmpd="sng" w="9525">
              <a:solidFill>
                <a:srgbClr val="674EA7"/>
              </a:solidFill>
              <a:prstDash val="solid"/>
              <a:round/>
              <a:headEnd len="med" w="med" type="oval"/>
              <a:tailEnd len="med" w="med" type="none"/>
            </a:ln>
          </p:spPr>
        </p:cxnSp>
      </p:grpSp>
      <p:grpSp>
        <p:nvGrpSpPr>
          <p:cNvPr id="132" name="Google Shape;132;p16"/>
          <p:cNvGrpSpPr/>
          <p:nvPr/>
        </p:nvGrpSpPr>
        <p:grpSpPr>
          <a:xfrm>
            <a:off x="2291404" y="1168558"/>
            <a:ext cx="763053" cy="3029455"/>
            <a:chOff x="2524350" y="1578125"/>
            <a:chExt cx="746700" cy="2670300"/>
          </a:xfrm>
        </p:grpSpPr>
        <p:sp>
          <p:nvSpPr>
            <p:cNvPr id="133" name="Google Shape;133;p16"/>
            <p:cNvSpPr/>
            <p:nvPr/>
          </p:nvSpPr>
          <p:spPr>
            <a:xfrm>
              <a:off x="2524350" y="1578125"/>
              <a:ext cx="746700" cy="2670300"/>
            </a:xfrm>
            <a:prstGeom prst="rect">
              <a:avLst/>
            </a:prstGeom>
            <a:solidFill>
              <a:srgbClr val="FFFFFF"/>
            </a:solidFill>
            <a:ln>
              <a:noFill/>
            </a:ln>
            <a:effectLst>
              <a:outerShdw blurRad="57150" rotWithShape="0" algn="bl" dir="3120000" dist="19050">
                <a:srgbClr val="000000">
                  <a:alpha val="220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34" name="Google Shape;134;p16"/>
            <p:cNvPicPr preferRelativeResize="0"/>
            <p:nvPr/>
          </p:nvPicPr>
          <p:blipFill>
            <a:blip r:embed="rId24">
              <a:alphaModFix/>
            </a:blip>
            <a:stretch>
              <a:fillRect/>
            </a:stretch>
          </p:blipFill>
          <p:spPr>
            <a:xfrm>
              <a:off x="2684360" y="1692300"/>
              <a:ext cx="351960" cy="351960"/>
            </a:xfrm>
            <a:prstGeom prst="rect">
              <a:avLst/>
            </a:prstGeom>
            <a:noFill/>
            <a:ln>
              <a:noFill/>
            </a:ln>
          </p:spPr>
        </p:pic>
        <p:pic>
          <p:nvPicPr>
            <p:cNvPr id="135" name="Google Shape;135;p16"/>
            <p:cNvPicPr preferRelativeResize="0"/>
            <p:nvPr/>
          </p:nvPicPr>
          <p:blipFill>
            <a:blip r:embed="rId25">
              <a:alphaModFix/>
            </a:blip>
            <a:stretch>
              <a:fillRect/>
            </a:stretch>
          </p:blipFill>
          <p:spPr>
            <a:xfrm>
              <a:off x="2582462" y="3209713"/>
              <a:ext cx="625711" cy="351960"/>
            </a:xfrm>
            <a:prstGeom prst="rect">
              <a:avLst/>
            </a:prstGeom>
            <a:noFill/>
            <a:ln>
              <a:noFill/>
            </a:ln>
          </p:spPr>
        </p:pic>
        <p:pic>
          <p:nvPicPr>
            <p:cNvPr id="136" name="Google Shape;136;p16"/>
            <p:cNvPicPr preferRelativeResize="0"/>
            <p:nvPr/>
          </p:nvPicPr>
          <p:blipFill>
            <a:blip r:embed="rId26">
              <a:alphaModFix/>
            </a:blip>
            <a:stretch>
              <a:fillRect/>
            </a:stretch>
          </p:blipFill>
          <p:spPr>
            <a:xfrm>
              <a:off x="2604475" y="2190011"/>
              <a:ext cx="558999" cy="833674"/>
            </a:xfrm>
            <a:prstGeom prst="rect">
              <a:avLst/>
            </a:prstGeom>
            <a:noFill/>
            <a:ln>
              <a:noFill/>
            </a:ln>
          </p:spPr>
        </p:pic>
        <p:pic>
          <p:nvPicPr>
            <p:cNvPr id="137" name="Google Shape;137;p16"/>
            <p:cNvPicPr preferRelativeResize="0"/>
            <p:nvPr/>
          </p:nvPicPr>
          <p:blipFill rotWithShape="1">
            <a:blip r:embed="rId27">
              <a:alphaModFix/>
            </a:blip>
            <a:srcRect b="-13751" l="-9269" r="-164" t="-7081"/>
            <a:stretch/>
          </p:blipFill>
          <p:spPr>
            <a:xfrm>
              <a:off x="2595899" y="3682665"/>
              <a:ext cx="559000" cy="515850"/>
            </a:xfrm>
            <a:prstGeom prst="rect">
              <a:avLst/>
            </a:prstGeom>
            <a:noFill/>
            <a:ln>
              <a:noFill/>
            </a:ln>
          </p:spPr>
        </p:pic>
      </p:grpSp>
      <p:sp>
        <p:nvSpPr>
          <p:cNvPr id="100" name="Google Shape;100;p16"/>
          <p:cNvSpPr/>
          <p:nvPr/>
        </p:nvSpPr>
        <p:spPr>
          <a:xfrm>
            <a:off x="3702377" y="2365131"/>
            <a:ext cx="1967100" cy="655500"/>
          </a:xfrm>
          <a:prstGeom prst="roundRect">
            <a:avLst>
              <a:gd fmla="val 8570" name="adj"/>
            </a:avLst>
          </a:prstGeom>
          <a:noFill/>
          <a:ln cap="flat" cmpd="sng" w="9525">
            <a:solidFill>
              <a:srgbClr val="674EA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38" name="Google Shape;138;p16"/>
          <p:cNvPicPr preferRelativeResize="0"/>
          <p:nvPr/>
        </p:nvPicPr>
        <p:blipFill>
          <a:blip r:embed="rId28">
            <a:alphaModFix/>
          </a:blip>
          <a:stretch>
            <a:fillRect/>
          </a:stretch>
        </p:blipFill>
        <p:spPr>
          <a:xfrm>
            <a:off x="4522675" y="2880025"/>
            <a:ext cx="274925" cy="274925"/>
          </a:xfrm>
          <a:prstGeom prst="rect">
            <a:avLst/>
          </a:prstGeom>
          <a:noFill/>
          <a:ln>
            <a:noFill/>
          </a:ln>
        </p:spPr>
      </p:pic>
      <p:pic>
        <p:nvPicPr>
          <p:cNvPr id="139" name="Google Shape;139;p16"/>
          <p:cNvPicPr preferRelativeResize="0"/>
          <p:nvPr/>
        </p:nvPicPr>
        <p:blipFill>
          <a:blip r:embed="rId29">
            <a:alphaModFix/>
          </a:blip>
          <a:stretch>
            <a:fillRect/>
          </a:stretch>
        </p:blipFill>
        <p:spPr>
          <a:xfrm>
            <a:off x="5234053" y="2532000"/>
            <a:ext cx="304091" cy="337811"/>
          </a:xfrm>
          <a:prstGeom prst="rect">
            <a:avLst/>
          </a:prstGeom>
          <a:noFill/>
          <a:ln>
            <a:noFill/>
          </a:ln>
        </p:spPr>
      </p:pic>
      <p:pic>
        <p:nvPicPr>
          <p:cNvPr id="140" name="Google Shape;140;p16"/>
          <p:cNvPicPr preferRelativeResize="0"/>
          <p:nvPr/>
        </p:nvPicPr>
        <p:blipFill>
          <a:blip r:embed="rId30">
            <a:alphaModFix/>
          </a:blip>
          <a:stretch>
            <a:fillRect/>
          </a:stretch>
        </p:blipFill>
        <p:spPr>
          <a:xfrm>
            <a:off x="3829414" y="2491403"/>
            <a:ext cx="1266603" cy="428188"/>
          </a:xfrm>
          <a:prstGeom prst="rect">
            <a:avLst/>
          </a:prstGeom>
          <a:noFill/>
          <a:ln>
            <a:noFill/>
          </a:ln>
        </p:spPr>
      </p:pic>
      <p:sp>
        <p:nvSpPr>
          <p:cNvPr id="141" name="Google Shape;141;p16"/>
          <p:cNvSpPr/>
          <p:nvPr/>
        </p:nvSpPr>
        <p:spPr>
          <a:xfrm>
            <a:off x="3262979" y="1103980"/>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HTTP</a:t>
            </a:r>
            <a:endParaRPr sz="700">
              <a:solidFill>
                <a:srgbClr val="FFFFFF"/>
              </a:solidFill>
              <a:latin typeface="Montserrat Medium"/>
              <a:ea typeface="Montserrat Medium"/>
              <a:cs typeface="Montserrat Medium"/>
              <a:sym typeface="Montserrat Medium"/>
            </a:endParaRPr>
          </a:p>
        </p:txBody>
      </p:sp>
      <p:sp>
        <p:nvSpPr>
          <p:cNvPr id="142" name="Google Shape;142;p16"/>
          <p:cNvSpPr/>
          <p:nvPr/>
        </p:nvSpPr>
        <p:spPr>
          <a:xfrm>
            <a:off x="4249544" y="1101526"/>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Cron</a:t>
            </a:r>
            <a:endParaRPr sz="700">
              <a:solidFill>
                <a:srgbClr val="FFFFFF"/>
              </a:solidFill>
              <a:latin typeface="Montserrat Medium"/>
              <a:ea typeface="Montserrat Medium"/>
              <a:cs typeface="Montserrat Medium"/>
              <a:sym typeface="Montserrat Medium"/>
            </a:endParaRPr>
          </a:p>
        </p:txBody>
      </p:sp>
      <p:sp>
        <p:nvSpPr>
          <p:cNvPr id="143" name="Google Shape;143;p16"/>
          <p:cNvSpPr/>
          <p:nvPr/>
        </p:nvSpPr>
        <p:spPr>
          <a:xfrm>
            <a:off x="5210208" y="1101537"/>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MQ</a:t>
            </a:r>
            <a:endParaRPr sz="700">
              <a:solidFill>
                <a:srgbClr val="FFFFFF"/>
              </a:solidFill>
              <a:latin typeface="Montserrat Medium"/>
              <a:ea typeface="Montserrat Medium"/>
              <a:cs typeface="Montserrat Medium"/>
              <a:sym typeface="Montserrat Medium"/>
            </a:endParaRPr>
          </a:p>
        </p:txBody>
      </p:sp>
      <p:pic>
        <p:nvPicPr>
          <p:cNvPr id="144" name="Google Shape;144;p16"/>
          <p:cNvPicPr preferRelativeResize="0"/>
          <p:nvPr/>
        </p:nvPicPr>
        <p:blipFill>
          <a:blip r:embed="rId31">
            <a:alphaModFix/>
          </a:blip>
          <a:stretch>
            <a:fillRect/>
          </a:stretch>
        </p:blipFill>
        <p:spPr>
          <a:xfrm>
            <a:off x="3779463" y="3315205"/>
            <a:ext cx="763121" cy="423592"/>
          </a:xfrm>
          <a:prstGeom prst="rect">
            <a:avLst/>
          </a:prstGeom>
          <a:noFill/>
          <a:ln>
            <a:noFill/>
          </a:ln>
        </p:spPr>
      </p:pic>
      <p:pic>
        <p:nvPicPr>
          <p:cNvPr id="145" name="Google Shape;145;p16"/>
          <p:cNvPicPr preferRelativeResize="0"/>
          <p:nvPr/>
        </p:nvPicPr>
        <p:blipFill>
          <a:blip r:embed="rId32">
            <a:alphaModFix/>
          </a:blip>
          <a:stretch>
            <a:fillRect/>
          </a:stretch>
        </p:blipFill>
        <p:spPr>
          <a:xfrm>
            <a:off x="3803304" y="3839304"/>
            <a:ext cx="904021" cy="326044"/>
          </a:xfrm>
          <a:prstGeom prst="rect">
            <a:avLst/>
          </a:prstGeom>
          <a:noFill/>
          <a:ln>
            <a:noFill/>
          </a:ln>
        </p:spPr>
      </p:pic>
      <p:pic>
        <p:nvPicPr>
          <p:cNvPr id="146" name="Google Shape;146;p16"/>
          <p:cNvPicPr preferRelativeResize="0"/>
          <p:nvPr/>
        </p:nvPicPr>
        <p:blipFill>
          <a:blip r:embed="rId33">
            <a:alphaModFix/>
          </a:blip>
          <a:stretch>
            <a:fillRect/>
          </a:stretch>
        </p:blipFill>
        <p:spPr>
          <a:xfrm>
            <a:off x="4795265" y="3325238"/>
            <a:ext cx="869847" cy="363481"/>
          </a:xfrm>
          <a:prstGeom prst="rect">
            <a:avLst/>
          </a:prstGeom>
          <a:noFill/>
          <a:ln>
            <a:noFill/>
          </a:ln>
        </p:spPr>
      </p:pic>
      <p:pic>
        <p:nvPicPr>
          <p:cNvPr id="147" name="Google Shape;147;p16"/>
          <p:cNvPicPr preferRelativeResize="0"/>
          <p:nvPr/>
        </p:nvPicPr>
        <p:blipFill rotWithShape="1">
          <a:blip r:embed="rId34">
            <a:alphaModFix/>
          </a:blip>
          <a:srcRect b="27335" l="0" r="0" t="29049"/>
          <a:stretch/>
        </p:blipFill>
        <p:spPr>
          <a:xfrm>
            <a:off x="4902025" y="3866150"/>
            <a:ext cx="763100" cy="272350"/>
          </a:xfrm>
          <a:prstGeom prst="rect">
            <a:avLst/>
          </a:prstGeom>
          <a:noFill/>
          <a:ln>
            <a:noFill/>
          </a:ln>
        </p:spPr>
      </p:pic>
      <p:cxnSp>
        <p:nvCxnSpPr>
          <p:cNvPr id="148" name="Google Shape;148;p16"/>
          <p:cNvCxnSpPr>
            <a:stCxn id="100" idx="1"/>
          </p:cNvCxnSpPr>
          <p:nvPr/>
        </p:nvCxnSpPr>
        <p:spPr>
          <a:xfrm rot="10800000">
            <a:off x="3076877" y="2692881"/>
            <a:ext cx="625500" cy="0"/>
          </a:xfrm>
          <a:prstGeom prst="straightConnector1">
            <a:avLst/>
          </a:prstGeom>
          <a:noFill/>
          <a:ln cap="flat" cmpd="sng" w="9525">
            <a:solidFill>
              <a:srgbClr val="674EA7"/>
            </a:solidFill>
            <a:prstDash val="solid"/>
            <a:round/>
            <a:headEnd len="med" w="med" type="none"/>
            <a:tailEnd len="med" w="med" type="none"/>
          </a:ln>
        </p:spPr>
      </p:cxnSp>
      <p:cxnSp>
        <p:nvCxnSpPr>
          <p:cNvPr id="149" name="Google Shape;149;p16"/>
          <p:cNvCxnSpPr/>
          <p:nvPr/>
        </p:nvCxnSpPr>
        <p:spPr>
          <a:xfrm rot="10800000">
            <a:off x="3662014" y="2004569"/>
            <a:ext cx="1947600" cy="0"/>
          </a:xfrm>
          <a:prstGeom prst="straightConnector1">
            <a:avLst/>
          </a:prstGeom>
          <a:noFill/>
          <a:ln cap="flat" cmpd="sng" w="9525">
            <a:solidFill>
              <a:srgbClr val="674EA7"/>
            </a:solidFill>
            <a:prstDash val="solid"/>
            <a:round/>
            <a:headEnd len="med" w="med" type="none"/>
            <a:tailEnd len="med" w="med" type="none"/>
          </a:ln>
        </p:spPr>
      </p:cxnSp>
      <p:cxnSp>
        <p:nvCxnSpPr>
          <p:cNvPr id="150" name="Google Shape;150;p16"/>
          <p:cNvCxnSpPr/>
          <p:nvPr/>
        </p:nvCxnSpPr>
        <p:spPr>
          <a:xfrm rot="10800000">
            <a:off x="3670466"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51" name="Google Shape;151;p16"/>
          <p:cNvCxnSpPr/>
          <p:nvPr/>
        </p:nvCxnSpPr>
        <p:spPr>
          <a:xfrm rot="10800000">
            <a:off x="5609614"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52" name="Google Shape;152;p16"/>
          <p:cNvCxnSpPr/>
          <p:nvPr/>
        </p:nvCxnSpPr>
        <p:spPr>
          <a:xfrm rot="10800000">
            <a:off x="4670760"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53" name="Google Shape;153;p16"/>
          <p:cNvCxnSpPr/>
          <p:nvPr/>
        </p:nvCxnSpPr>
        <p:spPr>
          <a:xfrm rot="10800000">
            <a:off x="4670760" y="2014813"/>
            <a:ext cx="0" cy="345000"/>
          </a:xfrm>
          <a:prstGeom prst="straightConnector1">
            <a:avLst/>
          </a:prstGeom>
          <a:noFill/>
          <a:ln cap="flat" cmpd="sng" w="9525">
            <a:solidFill>
              <a:srgbClr val="674EA7"/>
            </a:solidFill>
            <a:prstDash val="solid"/>
            <a:round/>
            <a:headEnd len="med" w="med" type="none"/>
            <a:tailEnd len="med" w="med" type="none"/>
          </a:ln>
        </p:spPr>
      </p:cxnSp>
      <p:sp>
        <p:nvSpPr>
          <p:cNvPr id="154" name="Google Shape;154;p16"/>
          <p:cNvSpPr txBox="1"/>
          <p:nvPr>
            <p:ph type="title"/>
          </p:nvPr>
        </p:nvSpPr>
        <p:spPr>
          <a:xfrm>
            <a:off x="628650" y="-55379"/>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Fission Landscape</a:t>
            </a:r>
            <a:endParaRPr b="1" sz="3200">
              <a:solidFill>
                <a:srgbClr val="1C4587"/>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7"/>
          <p:cNvPicPr preferRelativeResize="0"/>
          <p:nvPr/>
        </p:nvPicPr>
        <p:blipFill rotWithShape="1">
          <a:blip r:embed="rId3">
            <a:alphaModFix/>
          </a:blip>
          <a:srcRect b="4834" l="0" r="0" t="0"/>
          <a:stretch/>
        </p:blipFill>
        <p:spPr>
          <a:xfrm>
            <a:off x="1199500" y="152400"/>
            <a:ext cx="6745000" cy="4605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SSDF strategy by NIST</a:t>
            </a:r>
            <a:endParaRPr b="1" sz="3200">
              <a:solidFill>
                <a:srgbClr val="1C4587"/>
              </a:solidFill>
              <a:latin typeface="Montserrat"/>
              <a:ea typeface="Montserrat"/>
              <a:cs typeface="Montserrat"/>
              <a:sym typeface="Montserrat"/>
            </a:endParaRPr>
          </a:p>
        </p:txBody>
      </p:sp>
      <p:sp>
        <p:nvSpPr>
          <p:cNvPr id="165" name="Google Shape;165;p18"/>
          <p:cNvSpPr/>
          <p:nvPr/>
        </p:nvSpPr>
        <p:spPr>
          <a:xfrm>
            <a:off x="427850" y="882800"/>
            <a:ext cx="4057200" cy="1594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Prepare Organization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Ensuring process, people, </a:t>
            </a:r>
            <a:r>
              <a:rPr lang="en-CA" sz="1500">
                <a:solidFill>
                  <a:srgbClr val="595959"/>
                </a:solidFill>
                <a:latin typeface="Montserrat Medium"/>
                <a:ea typeface="Montserrat Medium"/>
                <a:cs typeface="Montserrat Medium"/>
                <a:sym typeface="Montserrat Medium"/>
              </a:rPr>
              <a:t>technology</a:t>
            </a:r>
            <a:r>
              <a:rPr lang="en-CA" sz="1500">
                <a:solidFill>
                  <a:srgbClr val="595959"/>
                </a:solidFill>
                <a:latin typeface="Montserrat Medium"/>
                <a:ea typeface="Montserrat Medium"/>
                <a:cs typeface="Montserrat Medium"/>
                <a:sym typeface="Montserrat Medium"/>
              </a:rPr>
              <a:t> are ready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Continuous</a:t>
            </a:r>
            <a:r>
              <a:rPr lang="en-CA" sz="1500">
                <a:solidFill>
                  <a:srgbClr val="595959"/>
                </a:solidFill>
                <a:latin typeface="Montserrat Medium"/>
                <a:ea typeface="Montserrat Medium"/>
                <a:cs typeface="Montserrat Medium"/>
                <a:sym typeface="Montserrat Medium"/>
              </a:rPr>
              <a:t> adoption of secure software development</a:t>
            </a:r>
            <a:endParaRPr sz="1500">
              <a:solidFill>
                <a:srgbClr val="595959"/>
              </a:solidFill>
              <a:latin typeface="Montserrat Medium"/>
              <a:ea typeface="Montserrat Medium"/>
              <a:cs typeface="Montserrat Medium"/>
              <a:sym typeface="Montserrat Medium"/>
            </a:endParaRPr>
          </a:p>
        </p:txBody>
      </p:sp>
      <p:sp>
        <p:nvSpPr>
          <p:cNvPr id="166" name="Google Shape;166;p18"/>
          <p:cNvSpPr/>
          <p:nvPr/>
        </p:nvSpPr>
        <p:spPr>
          <a:xfrm>
            <a:off x="4794975" y="882810"/>
            <a:ext cx="4057200" cy="1594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Produce Well-Secured</a:t>
            </a:r>
            <a:r>
              <a:rPr b="1" lang="en-CA" sz="2000">
                <a:solidFill>
                  <a:srgbClr val="1155CC"/>
                </a:solidFill>
                <a:latin typeface="Montserrat"/>
                <a:ea typeface="Montserrat"/>
                <a:cs typeface="Montserrat"/>
                <a:sym typeface="Montserrat"/>
              </a:rPr>
              <a:t> </a:t>
            </a:r>
            <a:r>
              <a:rPr b="1" lang="en-CA" sz="2000">
                <a:solidFill>
                  <a:srgbClr val="1155CC"/>
                </a:solidFill>
                <a:latin typeface="Montserrat"/>
                <a:ea typeface="Montserrat"/>
                <a:cs typeface="Montserrat"/>
                <a:sym typeface="Montserrat"/>
              </a:rPr>
              <a:t>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Software with minimum vulnerabilities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Less target attack surfaces</a:t>
            </a:r>
            <a:endParaRPr sz="1500">
              <a:solidFill>
                <a:srgbClr val="595959"/>
              </a:solidFill>
              <a:latin typeface="Montserrat Medium"/>
              <a:ea typeface="Montserrat Medium"/>
              <a:cs typeface="Montserrat Medium"/>
              <a:sym typeface="Montserrat Medium"/>
            </a:endParaRPr>
          </a:p>
        </p:txBody>
      </p:sp>
      <p:sp>
        <p:nvSpPr>
          <p:cNvPr id="167" name="Google Shape;167;p18"/>
          <p:cNvSpPr/>
          <p:nvPr/>
        </p:nvSpPr>
        <p:spPr>
          <a:xfrm>
            <a:off x="427850" y="2874550"/>
            <a:ext cx="4057200" cy="1486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Protect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Safeguarding software from software tampering and unauthorized </a:t>
            </a:r>
            <a:r>
              <a:rPr lang="en-CA" sz="1500">
                <a:solidFill>
                  <a:srgbClr val="595959"/>
                </a:solidFill>
                <a:latin typeface="Montserrat Medium"/>
                <a:ea typeface="Montserrat Medium"/>
                <a:cs typeface="Montserrat Medium"/>
                <a:sym typeface="Montserrat Medium"/>
              </a:rPr>
              <a:t>Access</a:t>
            </a:r>
            <a:endParaRPr sz="1500">
              <a:solidFill>
                <a:srgbClr val="595959"/>
              </a:solidFill>
              <a:latin typeface="Montserrat Medium"/>
              <a:ea typeface="Montserrat Medium"/>
              <a:cs typeface="Montserrat Medium"/>
              <a:sym typeface="Montserrat Medium"/>
            </a:endParaRPr>
          </a:p>
        </p:txBody>
      </p:sp>
      <p:sp>
        <p:nvSpPr>
          <p:cNvPr id="168" name="Google Shape;168;p18"/>
          <p:cNvSpPr/>
          <p:nvPr/>
        </p:nvSpPr>
        <p:spPr>
          <a:xfrm>
            <a:off x="4794959" y="882800"/>
            <a:ext cx="59400" cy="1594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169" name="Google Shape;169;p18"/>
          <p:cNvSpPr/>
          <p:nvPr/>
        </p:nvSpPr>
        <p:spPr>
          <a:xfrm>
            <a:off x="4794974" y="2874548"/>
            <a:ext cx="4057200" cy="1486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1900">
                <a:solidFill>
                  <a:srgbClr val="1155CC"/>
                </a:solidFill>
                <a:latin typeface="Montserrat"/>
                <a:ea typeface="Montserrat"/>
                <a:cs typeface="Montserrat"/>
                <a:sym typeface="Montserrat"/>
              </a:rPr>
              <a:t>Respond to Vulnerabilities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Identify vulns and address quickly</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Prevent similar instances in future</a:t>
            </a:r>
            <a:endParaRPr sz="1500">
              <a:solidFill>
                <a:srgbClr val="595959"/>
              </a:solidFill>
              <a:latin typeface="Montserrat Medium"/>
              <a:ea typeface="Montserrat Medium"/>
              <a:cs typeface="Montserrat Medium"/>
              <a:sym typeface="Montserrat Medium"/>
            </a:endParaRPr>
          </a:p>
        </p:txBody>
      </p:sp>
      <p:sp>
        <p:nvSpPr>
          <p:cNvPr id="170" name="Google Shape;170;p18"/>
          <p:cNvSpPr/>
          <p:nvPr/>
        </p:nvSpPr>
        <p:spPr>
          <a:xfrm>
            <a:off x="4794962" y="2874543"/>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 name="Google Shape;171;p18"/>
          <p:cNvSpPr/>
          <p:nvPr/>
        </p:nvSpPr>
        <p:spPr>
          <a:xfrm>
            <a:off x="427850" y="882800"/>
            <a:ext cx="59400" cy="1594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2" name="Google Shape;172;p18"/>
          <p:cNvSpPr/>
          <p:nvPr/>
        </p:nvSpPr>
        <p:spPr>
          <a:xfrm>
            <a:off x="427850" y="2874543"/>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Standards in Consideration</a:t>
            </a:r>
            <a:endParaRPr b="1" sz="3200">
              <a:solidFill>
                <a:srgbClr val="1C4587"/>
              </a:solidFill>
              <a:latin typeface="Montserrat"/>
              <a:ea typeface="Montserrat"/>
              <a:cs typeface="Montserrat"/>
              <a:sym typeface="Montserrat"/>
            </a:endParaRPr>
          </a:p>
        </p:txBody>
      </p:sp>
      <p:sp>
        <p:nvSpPr>
          <p:cNvPr id="178" name="Google Shape;178;p19"/>
          <p:cNvSpPr/>
          <p:nvPr/>
        </p:nvSpPr>
        <p:spPr>
          <a:xfrm>
            <a:off x="427850" y="959000"/>
            <a:ext cx="4057200" cy="1486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OpenSSF Scorecard</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Evaluate project security Risks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Actionable insights for security posture</a:t>
            </a:r>
            <a:endParaRPr sz="1500">
              <a:solidFill>
                <a:srgbClr val="595959"/>
              </a:solidFill>
              <a:latin typeface="Montserrat Medium"/>
              <a:ea typeface="Montserrat Medium"/>
              <a:cs typeface="Montserrat Medium"/>
              <a:sym typeface="Montserrat Medium"/>
            </a:endParaRPr>
          </a:p>
        </p:txBody>
      </p:sp>
      <p:sp>
        <p:nvSpPr>
          <p:cNvPr id="179" name="Google Shape;179;p19"/>
          <p:cNvSpPr/>
          <p:nvPr/>
        </p:nvSpPr>
        <p:spPr>
          <a:xfrm>
            <a:off x="427850" y="2866425"/>
            <a:ext cx="4057200" cy="1486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CII Best Practices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Encourage community driven improvements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Focuses project quality standards</a:t>
            </a:r>
            <a:endParaRPr sz="1500">
              <a:solidFill>
                <a:srgbClr val="595959"/>
              </a:solidFill>
              <a:latin typeface="Montserrat Medium"/>
              <a:ea typeface="Montserrat Medium"/>
              <a:cs typeface="Montserrat Medium"/>
              <a:sym typeface="Montserrat Medium"/>
            </a:endParaRPr>
          </a:p>
        </p:txBody>
      </p:sp>
      <p:sp>
        <p:nvSpPr>
          <p:cNvPr id="180" name="Google Shape;180;p19"/>
          <p:cNvSpPr/>
          <p:nvPr/>
        </p:nvSpPr>
        <p:spPr>
          <a:xfrm>
            <a:off x="4794975" y="959000"/>
            <a:ext cx="4057200" cy="1486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SLSA Guidelines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Ensure Secure Software Supply Chain</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Targets end-to-end build integrity</a:t>
            </a:r>
            <a:endParaRPr sz="1500">
              <a:solidFill>
                <a:srgbClr val="595959"/>
              </a:solidFill>
              <a:latin typeface="Montserrat Medium"/>
              <a:ea typeface="Montserrat Medium"/>
              <a:cs typeface="Montserrat Medium"/>
              <a:sym typeface="Montserrat Medium"/>
            </a:endParaRPr>
          </a:p>
        </p:txBody>
      </p:sp>
      <p:sp>
        <p:nvSpPr>
          <p:cNvPr id="181" name="Google Shape;181;p19"/>
          <p:cNvSpPr/>
          <p:nvPr/>
        </p:nvSpPr>
        <p:spPr>
          <a:xfrm>
            <a:off x="4794962" y="959000"/>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182" name="Google Shape;182;p19"/>
          <p:cNvSpPr/>
          <p:nvPr/>
        </p:nvSpPr>
        <p:spPr>
          <a:xfrm>
            <a:off x="4794974" y="2866423"/>
            <a:ext cx="4057200" cy="1486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1900">
                <a:solidFill>
                  <a:srgbClr val="1155CC"/>
                </a:solidFill>
                <a:latin typeface="Montserrat"/>
                <a:ea typeface="Montserrat"/>
                <a:cs typeface="Montserrat"/>
                <a:sym typeface="Montserrat"/>
              </a:rPr>
              <a:t>Github Open Source Guides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Offers resources for maintainers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Integrated solutions across GH platform</a:t>
            </a:r>
            <a:endParaRPr sz="1500">
              <a:solidFill>
                <a:srgbClr val="595959"/>
              </a:solidFill>
              <a:latin typeface="Montserrat Medium"/>
              <a:ea typeface="Montserrat Medium"/>
              <a:cs typeface="Montserrat Medium"/>
              <a:sym typeface="Montserrat Medium"/>
            </a:endParaRPr>
          </a:p>
        </p:txBody>
      </p:sp>
      <p:sp>
        <p:nvSpPr>
          <p:cNvPr id="183" name="Google Shape;183;p19"/>
          <p:cNvSpPr/>
          <p:nvPr/>
        </p:nvSpPr>
        <p:spPr>
          <a:xfrm>
            <a:off x="4794962" y="2866418"/>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4" name="Google Shape;184;p19"/>
          <p:cNvSpPr/>
          <p:nvPr/>
        </p:nvSpPr>
        <p:spPr>
          <a:xfrm>
            <a:off x="427850" y="958700"/>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 name="Google Shape;185;p19"/>
          <p:cNvSpPr/>
          <p:nvPr/>
        </p:nvSpPr>
        <p:spPr>
          <a:xfrm>
            <a:off x="427850" y="2866425"/>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nvSpPr>
        <p:spPr>
          <a:xfrm>
            <a:off x="7526425" y="4735650"/>
            <a:ext cx="1427100" cy="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200">
                <a:solidFill>
                  <a:srgbClr val="666666"/>
                </a:solidFill>
                <a:latin typeface="Montserrat Medium"/>
                <a:ea typeface="Montserrat Medium"/>
                <a:cs typeface="Montserrat Medium"/>
                <a:sym typeface="Montserrat Medium"/>
              </a:rPr>
              <a:t>Source:</a:t>
            </a:r>
            <a:r>
              <a:rPr lang="en-CA" sz="1200">
                <a:solidFill>
                  <a:schemeClr val="dk1"/>
                </a:solidFill>
                <a:latin typeface="Montserrat Medium"/>
                <a:ea typeface="Montserrat Medium"/>
                <a:cs typeface="Montserrat Medium"/>
                <a:sym typeface="Montserrat Medium"/>
              </a:rPr>
              <a:t> </a:t>
            </a:r>
            <a:r>
              <a:rPr lang="en-CA" sz="1200" u="sng">
                <a:solidFill>
                  <a:srgbClr val="3C78D8"/>
                </a:solidFill>
                <a:latin typeface="Montserrat Medium"/>
                <a:ea typeface="Montserrat Medium"/>
                <a:cs typeface="Montserrat Medium"/>
                <a:sym typeface="Montserrat Medium"/>
                <a:hlinkClick r:id="rId3">
                  <a:extLst>
                    <a:ext uri="{A12FA001-AC4F-418D-AE19-62706E023703}">
                      <ahyp:hlinkClr val="tx"/>
                    </a:ext>
                  </a:extLst>
                </a:hlinkClick>
              </a:rPr>
              <a:t>slsa.dev</a:t>
            </a:r>
            <a:endParaRPr sz="1200">
              <a:solidFill>
                <a:srgbClr val="3C78D8"/>
              </a:solidFill>
              <a:latin typeface="Montserrat Medium"/>
              <a:ea typeface="Montserrat Medium"/>
              <a:cs typeface="Montserrat Medium"/>
              <a:sym typeface="Montserrat Medium"/>
            </a:endParaRPr>
          </a:p>
        </p:txBody>
      </p:sp>
      <p:pic>
        <p:nvPicPr>
          <p:cNvPr id="191" name="Google Shape;191;p20"/>
          <p:cNvPicPr preferRelativeResize="0"/>
          <p:nvPr/>
        </p:nvPicPr>
        <p:blipFill>
          <a:blip r:embed="rId4">
            <a:alphaModFix/>
          </a:blip>
          <a:stretch>
            <a:fillRect/>
          </a:stretch>
        </p:blipFill>
        <p:spPr>
          <a:xfrm>
            <a:off x="1236976" y="116084"/>
            <a:ext cx="6670049" cy="4577151"/>
          </a:xfrm>
          <a:prstGeom prst="rect">
            <a:avLst/>
          </a:prstGeom>
          <a:noFill/>
          <a:ln>
            <a:noFill/>
          </a:ln>
        </p:spPr>
      </p:pic>
      <p:sp>
        <p:nvSpPr>
          <p:cNvPr id="192" name="Google Shape;192;p20"/>
          <p:cNvSpPr txBox="1"/>
          <p:nvPr>
            <p:ph idx="4294967295" type="title"/>
          </p:nvPr>
        </p:nvSpPr>
        <p:spPr>
          <a:xfrm>
            <a:off x="3507150" y="4636350"/>
            <a:ext cx="2129700" cy="4119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2200">
                <a:solidFill>
                  <a:srgbClr val="1C4587"/>
                </a:solidFill>
                <a:latin typeface="Montserrat"/>
                <a:ea typeface="Montserrat"/>
                <a:cs typeface="Montserrat"/>
                <a:sym typeface="Montserrat"/>
              </a:rPr>
              <a:t>SLSA Threats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Fission Sources</a:t>
            </a:r>
            <a:endParaRPr b="1" sz="3200">
              <a:solidFill>
                <a:srgbClr val="1C4587"/>
              </a:solidFill>
              <a:latin typeface="Montserrat"/>
              <a:ea typeface="Montserrat"/>
              <a:cs typeface="Montserrat"/>
              <a:sym typeface="Montserrat"/>
            </a:endParaRPr>
          </a:p>
        </p:txBody>
      </p:sp>
      <p:sp>
        <p:nvSpPr>
          <p:cNvPr id="198" name="Google Shape;198;p21"/>
          <p:cNvSpPr/>
          <p:nvPr/>
        </p:nvSpPr>
        <p:spPr>
          <a:xfrm>
            <a:off x="70060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Go </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Dockerfile</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Helm Templates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Github Workflows</a:t>
            </a:r>
            <a:endParaRPr sz="1800">
              <a:solidFill>
                <a:srgbClr val="595959"/>
              </a:solidFill>
              <a:latin typeface="Montserrat Medium"/>
              <a:ea typeface="Montserrat Medium"/>
              <a:cs typeface="Montserrat Medium"/>
              <a:sym typeface="Montserrat Medium"/>
            </a:endParaRPr>
          </a:p>
          <a:p>
            <a:pPr indent="0" lvl="0" marL="0" rtl="0" algn="l">
              <a:lnSpc>
                <a:spcPct val="100000"/>
              </a:lnSpc>
              <a:spcBef>
                <a:spcPts val="0"/>
              </a:spcBef>
              <a:spcAft>
                <a:spcPts val="0"/>
              </a:spcAft>
              <a:buNone/>
            </a:pPr>
            <a:r>
              <a:t/>
            </a:r>
            <a:endParaRPr sz="1100">
              <a:solidFill>
                <a:srgbClr val="595959"/>
              </a:solidFill>
              <a:latin typeface="Inter"/>
              <a:ea typeface="Inter"/>
              <a:cs typeface="Inter"/>
              <a:sym typeface="Inter"/>
            </a:endParaRPr>
          </a:p>
          <a:p>
            <a:pPr indent="0" lvl="0" marL="0" rtl="0" algn="l">
              <a:lnSpc>
                <a:spcPct val="100000"/>
              </a:lnSpc>
              <a:spcBef>
                <a:spcPts val="0"/>
              </a:spcBef>
              <a:spcAft>
                <a:spcPts val="0"/>
              </a:spcAft>
              <a:buNone/>
            </a:pPr>
            <a:r>
              <a:t/>
            </a:r>
            <a:endParaRPr sz="1100">
              <a:solidFill>
                <a:srgbClr val="595959"/>
              </a:solidFill>
              <a:latin typeface="Inter"/>
              <a:ea typeface="Inter"/>
              <a:cs typeface="Inter"/>
              <a:sym typeface="Inter"/>
            </a:endParaRPr>
          </a:p>
        </p:txBody>
      </p:sp>
      <p:sp>
        <p:nvSpPr>
          <p:cNvPr id="199" name="Google Shape;199;p21"/>
          <p:cNvSpPr/>
          <p:nvPr/>
        </p:nvSpPr>
        <p:spPr>
          <a:xfrm rot="5400000">
            <a:off x="1968849"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200" name="Google Shape;200;p21"/>
          <p:cNvSpPr/>
          <p:nvPr/>
        </p:nvSpPr>
        <p:spPr>
          <a:xfrm>
            <a:off x="347005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Go Modules</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Build Tools</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External Github Actions </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Container Base Images</a:t>
            </a:r>
            <a:endParaRPr sz="1800">
              <a:solidFill>
                <a:srgbClr val="595959"/>
              </a:solidFill>
              <a:latin typeface="Montserrat Medium"/>
              <a:ea typeface="Montserrat Medium"/>
              <a:cs typeface="Montserrat Medium"/>
              <a:sym typeface="Montserrat Medium"/>
            </a:endParaRPr>
          </a:p>
        </p:txBody>
      </p:sp>
      <p:sp>
        <p:nvSpPr>
          <p:cNvPr id="201" name="Google Shape;201;p21"/>
          <p:cNvSpPr/>
          <p:nvPr/>
        </p:nvSpPr>
        <p:spPr>
          <a:xfrm>
            <a:off x="623950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Fission CLI</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Container Images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Fission CLI</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Helm Charts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Environment</a:t>
            </a:r>
            <a:r>
              <a:rPr lang="en-CA" sz="1800">
                <a:solidFill>
                  <a:srgbClr val="595959"/>
                </a:solidFill>
                <a:latin typeface="Montserrat Medium"/>
                <a:ea typeface="Montserrat Medium"/>
                <a:cs typeface="Montserrat Medium"/>
                <a:sym typeface="Montserrat Medium"/>
              </a:rPr>
              <a:t> Runtimes</a:t>
            </a:r>
            <a:endParaRPr sz="1100">
              <a:solidFill>
                <a:srgbClr val="595959"/>
              </a:solidFill>
              <a:latin typeface="Montserrat Medium"/>
              <a:ea typeface="Montserrat Medium"/>
              <a:cs typeface="Montserrat Medium"/>
              <a:sym typeface="Montserrat Medium"/>
            </a:endParaRPr>
          </a:p>
        </p:txBody>
      </p:sp>
      <p:sp>
        <p:nvSpPr>
          <p:cNvPr id="202" name="Google Shape;202;p21"/>
          <p:cNvSpPr/>
          <p:nvPr/>
        </p:nvSpPr>
        <p:spPr>
          <a:xfrm rot="5400000">
            <a:off x="4738351"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203" name="Google Shape;203;p21"/>
          <p:cNvSpPr/>
          <p:nvPr/>
        </p:nvSpPr>
        <p:spPr>
          <a:xfrm rot="5400000">
            <a:off x="7507854"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204" name="Google Shape;204;p21"/>
          <p:cNvSpPr/>
          <p:nvPr/>
        </p:nvSpPr>
        <p:spPr>
          <a:xfrm>
            <a:off x="700600" y="1021548"/>
            <a:ext cx="2592000" cy="664800"/>
          </a:xfrm>
          <a:prstGeom prst="roundRect">
            <a:avLst>
              <a:gd fmla="val 4904"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Sources</a:t>
            </a:r>
            <a:endParaRPr sz="1100">
              <a:solidFill>
                <a:srgbClr val="FFFFFF"/>
              </a:solidFill>
              <a:latin typeface="Montserrat ExtraBold"/>
              <a:ea typeface="Montserrat ExtraBold"/>
              <a:cs typeface="Montserrat ExtraBold"/>
              <a:sym typeface="Montserrat ExtraBold"/>
            </a:endParaRPr>
          </a:p>
        </p:txBody>
      </p:sp>
      <p:sp>
        <p:nvSpPr>
          <p:cNvPr id="205" name="Google Shape;205;p21"/>
          <p:cNvSpPr/>
          <p:nvPr/>
        </p:nvSpPr>
        <p:spPr>
          <a:xfrm>
            <a:off x="3470045" y="1021555"/>
            <a:ext cx="2592000" cy="664800"/>
          </a:xfrm>
          <a:prstGeom prst="roundRect">
            <a:avLst>
              <a:gd fmla="val 4318"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Dependencies</a:t>
            </a:r>
            <a:endParaRPr sz="1100">
              <a:solidFill>
                <a:srgbClr val="FFFFFF"/>
              </a:solidFill>
              <a:latin typeface="Montserrat ExtraBold"/>
              <a:ea typeface="Montserrat ExtraBold"/>
              <a:cs typeface="Montserrat ExtraBold"/>
              <a:sym typeface="Montserrat ExtraBold"/>
            </a:endParaRPr>
          </a:p>
        </p:txBody>
      </p:sp>
      <p:sp>
        <p:nvSpPr>
          <p:cNvPr id="206" name="Google Shape;206;p21"/>
          <p:cNvSpPr/>
          <p:nvPr/>
        </p:nvSpPr>
        <p:spPr>
          <a:xfrm>
            <a:off x="6239500" y="1021548"/>
            <a:ext cx="2592000" cy="664800"/>
          </a:xfrm>
          <a:prstGeom prst="roundRect">
            <a:avLst>
              <a:gd fmla="val 1594"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Artifacts</a:t>
            </a:r>
            <a:endParaRPr sz="11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p:nvPr/>
        </p:nvSpPr>
        <p:spPr>
          <a:xfrm>
            <a:off x="164339" y="2038057"/>
            <a:ext cx="1390800" cy="1200300"/>
          </a:xfrm>
          <a:prstGeom prst="roundRect">
            <a:avLst>
              <a:gd fmla="val 10571"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Trusted Contributor &amp; </a:t>
            </a:r>
            <a:r>
              <a:rPr lang="en-CA">
                <a:solidFill>
                  <a:srgbClr val="FFFFFF"/>
                </a:solidFill>
                <a:latin typeface="Montserrat Medium"/>
                <a:ea typeface="Montserrat Medium"/>
                <a:cs typeface="Montserrat Medium"/>
                <a:sym typeface="Montserrat Medium"/>
              </a:rPr>
              <a:t>Ensure Signed Commits</a:t>
            </a:r>
            <a:endParaRPr>
              <a:solidFill>
                <a:srgbClr val="FFFFFF"/>
              </a:solidFill>
              <a:latin typeface="Montserrat Medium"/>
              <a:ea typeface="Montserrat Medium"/>
              <a:cs typeface="Montserrat Medium"/>
              <a:sym typeface="Montserrat Medium"/>
            </a:endParaRPr>
          </a:p>
        </p:txBody>
      </p:sp>
      <p:sp>
        <p:nvSpPr>
          <p:cNvPr id="212" name="Google Shape;212;p22"/>
          <p:cNvSpPr/>
          <p:nvPr/>
        </p:nvSpPr>
        <p:spPr>
          <a:xfrm>
            <a:off x="2094139" y="103482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Lint &amp; Unit Test</a:t>
            </a:r>
            <a:endParaRPr>
              <a:solidFill>
                <a:srgbClr val="FFFFFF"/>
              </a:solidFill>
              <a:latin typeface="Montserrat Medium"/>
              <a:ea typeface="Montserrat Medium"/>
              <a:cs typeface="Montserrat Medium"/>
              <a:sym typeface="Montserrat Medium"/>
            </a:endParaRPr>
          </a:p>
        </p:txBody>
      </p:sp>
      <p:sp>
        <p:nvSpPr>
          <p:cNvPr id="213" name="Google Shape;213;p22"/>
          <p:cNvSpPr/>
          <p:nvPr/>
        </p:nvSpPr>
        <p:spPr>
          <a:xfrm>
            <a:off x="2094139" y="218579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CI Tests</a:t>
            </a:r>
            <a:endParaRPr>
              <a:solidFill>
                <a:srgbClr val="FFFFFF"/>
              </a:solidFill>
              <a:latin typeface="Montserrat Medium"/>
              <a:ea typeface="Montserrat Medium"/>
              <a:cs typeface="Montserrat Medium"/>
              <a:sym typeface="Montserrat Medium"/>
            </a:endParaRPr>
          </a:p>
        </p:txBody>
      </p:sp>
      <p:sp>
        <p:nvSpPr>
          <p:cNvPr id="214" name="Google Shape;214;p22"/>
          <p:cNvSpPr/>
          <p:nvPr/>
        </p:nvSpPr>
        <p:spPr>
          <a:xfrm>
            <a:off x="4110489" y="2186104"/>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Upgrade Tests</a:t>
            </a:r>
            <a:endParaRPr sz="1300">
              <a:solidFill>
                <a:srgbClr val="FFFFFF"/>
              </a:solidFill>
              <a:latin typeface="Montserrat Medium"/>
              <a:ea typeface="Montserrat Medium"/>
              <a:cs typeface="Montserrat Medium"/>
              <a:sym typeface="Montserrat Medium"/>
            </a:endParaRPr>
          </a:p>
        </p:txBody>
      </p:sp>
      <p:sp>
        <p:nvSpPr>
          <p:cNvPr id="215" name="Google Shape;215;p22"/>
          <p:cNvSpPr/>
          <p:nvPr/>
        </p:nvSpPr>
        <p:spPr>
          <a:xfrm>
            <a:off x="4110489" y="1034829"/>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Code Coverage</a:t>
            </a:r>
            <a:endParaRPr sz="1300">
              <a:solidFill>
                <a:srgbClr val="FFFFFF"/>
              </a:solidFill>
              <a:latin typeface="Montserrat Medium"/>
              <a:ea typeface="Montserrat Medium"/>
              <a:cs typeface="Montserrat Medium"/>
              <a:sym typeface="Montserrat Medium"/>
            </a:endParaRPr>
          </a:p>
        </p:txBody>
      </p:sp>
      <p:sp>
        <p:nvSpPr>
          <p:cNvPr id="216" name="Google Shape;216;p22"/>
          <p:cNvSpPr/>
          <p:nvPr/>
        </p:nvSpPr>
        <p:spPr>
          <a:xfrm>
            <a:off x="2094139" y="352312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CodeQL</a:t>
            </a:r>
            <a:endParaRPr>
              <a:solidFill>
                <a:srgbClr val="FFFFFF"/>
              </a:solidFill>
              <a:latin typeface="Montserrat Medium"/>
              <a:ea typeface="Montserrat Medium"/>
              <a:cs typeface="Montserrat Medium"/>
              <a:sym typeface="Montserrat Medium"/>
            </a:endParaRPr>
          </a:p>
        </p:txBody>
      </p:sp>
      <p:sp>
        <p:nvSpPr>
          <p:cNvPr id="217" name="Google Shape;217;p22"/>
          <p:cNvSpPr/>
          <p:nvPr/>
        </p:nvSpPr>
        <p:spPr>
          <a:xfrm>
            <a:off x="4110490" y="3523129"/>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Dependency &amp; </a:t>
            </a:r>
            <a:endParaRPr sz="1300">
              <a:solidFill>
                <a:srgbClr val="FFFFFF"/>
              </a:solidFill>
              <a:latin typeface="Montserrat Medium"/>
              <a:ea typeface="Montserrat Medium"/>
              <a:cs typeface="Montserrat Medium"/>
              <a:sym typeface="Montserrat Medium"/>
            </a:endParaRPr>
          </a:p>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Secrets Scan</a:t>
            </a:r>
            <a:endParaRPr sz="1300">
              <a:solidFill>
                <a:srgbClr val="FFFFFF"/>
              </a:solidFill>
              <a:latin typeface="Montserrat Medium"/>
              <a:ea typeface="Montserrat Medium"/>
              <a:cs typeface="Montserrat Medium"/>
              <a:sym typeface="Montserrat Medium"/>
            </a:endParaRPr>
          </a:p>
        </p:txBody>
      </p:sp>
      <p:sp>
        <p:nvSpPr>
          <p:cNvPr id="218" name="Google Shape;218;p22"/>
          <p:cNvSpPr/>
          <p:nvPr/>
        </p:nvSpPr>
        <p:spPr>
          <a:xfrm>
            <a:off x="6137114" y="2322454"/>
            <a:ext cx="1131600" cy="6321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Reviews</a:t>
            </a:r>
            <a:endParaRPr>
              <a:solidFill>
                <a:srgbClr val="FFFFFF"/>
              </a:solidFill>
              <a:latin typeface="Montserrat Medium"/>
              <a:ea typeface="Montserrat Medium"/>
              <a:cs typeface="Montserrat Medium"/>
              <a:sym typeface="Montserrat Medium"/>
            </a:endParaRPr>
          </a:p>
        </p:txBody>
      </p:sp>
      <p:sp>
        <p:nvSpPr>
          <p:cNvPr id="219" name="Google Shape;219;p22"/>
          <p:cNvSpPr/>
          <p:nvPr/>
        </p:nvSpPr>
        <p:spPr>
          <a:xfrm>
            <a:off x="7759339" y="1127379"/>
            <a:ext cx="1223700" cy="720300"/>
          </a:xfrm>
          <a:prstGeom prst="roundRect">
            <a:avLst>
              <a:gd fmla="val 8769" name="adj"/>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OpenSSF Scorecard Scans</a:t>
            </a:r>
            <a:endParaRPr>
              <a:solidFill>
                <a:srgbClr val="FFFFFF"/>
              </a:solidFill>
              <a:latin typeface="Montserrat Medium"/>
              <a:ea typeface="Montserrat Medium"/>
              <a:cs typeface="Montserrat Medium"/>
              <a:sym typeface="Montserrat Medium"/>
            </a:endParaRPr>
          </a:p>
        </p:txBody>
      </p:sp>
      <p:sp>
        <p:nvSpPr>
          <p:cNvPr id="220" name="Google Shape;220;p22"/>
          <p:cNvSpPr/>
          <p:nvPr/>
        </p:nvSpPr>
        <p:spPr>
          <a:xfrm>
            <a:off x="7904539" y="3043804"/>
            <a:ext cx="933300" cy="720300"/>
          </a:xfrm>
          <a:prstGeom prst="snip1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Fission</a:t>
            </a:r>
            <a:endParaRPr>
              <a:solidFill>
                <a:srgbClr val="FFFFFF"/>
              </a:solidFill>
              <a:latin typeface="Montserrat Medium"/>
              <a:ea typeface="Montserrat Medium"/>
              <a:cs typeface="Montserrat Medium"/>
              <a:sym typeface="Montserrat Medium"/>
            </a:endParaRPr>
          </a:p>
        </p:txBody>
      </p:sp>
      <p:sp>
        <p:nvSpPr>
          <p:cNvPr id="221" name="Google Shape;221;p22"/>
          <p:cNvSpPr/>
          <p:nvPr/>
        </p:nvSpPr>
        <p:spPr>
          <a:xfrm>
            <a:off x="621539" y="1454154"/>
            <a:ext cx="476400" cy="4752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2" name="Google Shape;222;p22"/>
          <p:cNvCxnSpPr>
            <a:stCxn id="211" idx="3"/>
            <a:endCxn id="212" idx="1"/>
          </p:cNvCxnSpPr>
          <p:nvPr/>
        </p:nvCxnSpPr>
        <p:spPr>
          <a:xfrm flipH="1" rot="10800000">
            <a:off x="1555139" y="1487107"/>
            <a:ext cx="539100" cy="11511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3" name="Google Shape;223;p22"/>
          <p:cNvCxnSpPr>
            <a:stCxn id="211" idx="3"/>
            <a:endCxn id="213" idx="1"/>
          </p:cNvCxnSpPr>
          <p:nvPr/>
        </p:nvCxnSpPr>
        <p:spPr>
          <a:xfrm>
            <a:off x="1555139" y="2638207"/>
            <a:ext cx="539100" cy="6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4" name="Google Shape;224;p22"/>
          <p:cNvCxnSpPr>
            <a:stCxn id="211" idx="3"/>
            <a:endCxn id="216" idx="1"/>
          </p:cNvCxnSpPr>
          <p:nvPr/>
        </p:nvCxnSpPr>
        <p:spPr>
          <a:xfrm>
            <a:off x="1555139" y="2638207"/>
            <a:ext cx="539100" cy="13374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5" name="Google Shape;225;p22"/>
          <p:cNvCxnSpPr>
            <a:stCxn id="212" idx="3"/>
            <a:endCxn id="215" idx="1"/>
          </p:cNvCxnSpPr>
          <p:nvPr/>
        </p:nvCxnSpPr>
        <p:spPr>
          <a:xfrm>
            <a:off x="3484939" y="1487229"/>
            <a:ext cx="625500" cy="600"/>
          </a:xfrm>
          <a:prstGeom prst="bentConnector3">
            <a:avLst>
              <a:gd fmla="val 50004" name="adj1"/>
            </a:avLst>
          </a:prstGeom>
          <a:noFill/>
          <a:ln cap="flat" cmpd="sng" w="19050">
            <a:solidFill>
              <a:srgbClr val="1155CC"/>
            </a:solidFill>
            <a:prstDash val="dash"/>
            <a:round/>
            <a:headEnd len="med" w="med" type="none"/>
            <a:tailEnd len="med" w="med" type="triangle"/>
          </a:ln>
        </p:spPr>
      </p:cxnSp>
      <p:cxnSp>
        <p:nvCxnSpPr>
          <p:cNvPr id="226" name="Google Shape;226;p22"/>
          <p:cNvCxnSpPr>
            <a:stCxn id="213" idx="3"/>
            <a:endCxn id="214" idx="1"/>
          </p:cNvCxnSpPr>
          <p:nvPr/>
        </p:nvCxnSpPr>
        <p:spPr>
          <a:xfrm>
            <a:off x="3484939" y="2638199"/>
            <a:ext cx="625500" cy="300"/>
          </a:xfrm>
          <a:prstGeom prst="straightConnector1">
            <a:avLst/>
          </a:prstGeom>
          <a:noFill/>
          <a:ln cap="flat" cmpd="sng" w="19050">
            <a:solidFill>
              <a:srgbClr val="1155CC"/>
            </a:solidFill>
            <a:prstDash val="dash"/>
            <a:round/>
            <a:headEnd len="med" w="med" type="none"/>
            <a:tailEnd len="med" w="med" type="triangle"/>
          </a:ln>
        </p:spPr>
      </p:cxnSp>
      <p:cxnSp>
        <p:nvCxnSpPr>
          <p:cNvPr id="227" name="Google Shape;227;p22"/>
          <p:cNvCxnSpPr>
            <a:stCxn id="216" idx="3"/>
            <a:endCxn id="217" idx="1"/>
          </p:cNvCxnSpPr>
          <p:nvPr/>
        </p:nvCxnSpPr>
        <p:spPr>
          <a:xfrm>
            <a:off x="3484939" y="3975529"/>
            <a:ext cx="625500" cy="0"/>
          </a:xfrm>
          <a:prstGeom prst="straightConnector1">
            <a:avLst/>
          </a:prstGeom>
          <a:noFill/>
          <a:ln cap="flat" cmpd="sng" w="19050">
            <a:solidFill>
              <a:srgbClr val="1155CC"/>
            </a:solidFill>
            <a:prstDash val="dash"/>
            <a:round/>
            <a:headEnd len="med" w="med" type="none"/>
            <a:tailEnd len="med" w="med" type="triangle"/>
          </a:ln>
        </p:spPr>
      </p:cxnSp>
      <p:cxnSp>
        <p:nvCxnSpPr>
          <p:cNvPr id="228" name="Google Shape;228;p22"/>
          <p:cNvCxnSpPr>
            <a:stCxn id="215" idx="3"/>
            <a:endCxn id="218" idx="1"/>
          </p:cNvCxnSpPr>
          <p:nvPr/>
        </p:nvCxnSpPr>
        <p:spPr>
          <a:xfrm>
            <a:off x="5565789" y="1487229"/>
            <a:ext cx="571200" cy="1151400"/>
          </a:xfrm>
          <a:prstGeom prst="bentConnector3">
            <a:avLst>
              <a:gd fmla="val 50011" name="adj1"/>
            </a:avLst>
          </a:prstGeom>
          <a:noFill/>
          <a:ln cap="flat" cmpd="sng" w="19050">
            <a:solidFill>
              <a:srgbClr val="1155CC"/>
            </a:solidFill>
            <a:prstDash val="dash"/>
            <a:round/>
            <a:headEnd len="med" w="med" type="none"/>
            <a:tailEnd len="med" w="med" type="triangle"/>
          </a:ln>
        </p:spPr>
      </p:cxnSp>
      <p:cxnSp>
        <p:nvCxnSpPr>
          <p:cNvPr id="229" name="Google Shape;229;p22"/>
          <p:cNvCxnSpPr>
            <a:stCxn id="214" idx="3"/>
            <a:endCxn id="218" idx="1"/>
          </p:cNvCxnSpPr>
          <p:nvPr/>
        </p:nvCxnSpPr>
        <p:spPr>
          <a:xfrm>
            <a:off x="5565789" y="2638504"/>
            <a:ext cx="571200" cy="0"/>
          </a:xfrm>
          <a:prstGeom prst="straightConnector1">
            <a:avLst/>
          </a:prstGeom>
          <a:noFill/>
          <a:ln cap="flat" cmpd="sng" w="19050">
            <a:solidFill>
              <a:srgbClr val="1155CC"/>
            </a:solidFill>
            <a:prstDash val="dash"/>
            <a:round/>
            <a:headEnd len="med" w="med" type="none"/>
            <a:tailEnd len="med" w="med" type="triangle"/>
          </a:ln>
        </p:spPr>
      </p:cxnSp>
      <p:cxnSp>
        <p:nvCxnSpPr>
          <p:cNvPr id="230" name="Google Shape;230;p22"/>
          <p:cNvCxnSpPr>
            <a:stCxn id="217" idx="3"/>
            <a:endCxn id="218" idx="1"/>
          </p:cNvCxnSpPr>
          <p:nvPr/>
        </p:nvCxnSpPr>
        <p:spPr>
          <a:xfrm flipH="1" rot="10800000">
            <a:off x="5565790" y="2638429"/>
            <a:ext cx="571200" cy="1337100"/>
          </a:xfrm>
          <a:prstGeom prst="bentConnector3">
            <a:avLst>
              <a:gd fmla="val 50011" name="adj1"/>
            </a:avLst>
          </a:prstGeom>
          <a:noFill/>
          <a:ln cap="flat" cmpd="sng" w="19050">
            <a:solidFill>
              <a:srgbClr val="1155CC"/>
            </a:solidFill>
            <a:prstDash val="dash"/>
            <a:round/>
            <a:headEnd len="med" w="med" type="none"/>
            <a:tailEnd len="med" w="med" type="none"/>
          </a:ln>
        </p:spPr>
      </p:cxnSp>
      <p:sp>
        <p:nvSpPr>
          <p:cNvPr id="231" name="Google Shape;231;p22"/>
          <p:cNvSpPr/>
          <p:nvPr/>
        </p:nvSpPr>
        <p:spPr>
          <a:xfrm>
            <a:off x="5817089" y="3853429"/>
            <a:ext cx="1771650" cy="790500"/>
          </a:xfrm>
          <a:prstGeom prst="flowChartDecision">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solidFill>
                  <a:srgbClr val="FFFFFF"/>
                </a:solidFill>
                <a:latin typeface="Montserrat Medium"/>
                <a:ea typeface="Montserrat Medium"/>
                <a:cs typeface="Montserrat Medium"/>
                <a:sym typeface="Montserrat Medium"/>
              </a:rPr>
              <a:t>Approved</a:t>
            </a:r>
            <a:endParaRPr sz="1100">
              <a:solidFill>
                <a:srgbClr val="FFFFFF"/>
              </a:solidFill>
              <a:latin typeface="Montserrat Medium"/>
              <a:ea typeface="Montserrat Medium"/>
              <a:cs typeface="Montserrat Medium"/>
              <a:sym typeface="Montserrat Medium"/>
            </a:endParaRPr>
          </a:p>
        </p:txBody>
      </p:sp>
      <p:cxnSp>
        <p:nvCxnSpPr>
          <p:cNvPr id="232" name="Google Shape;232;p22"/>
          <p:cNvCxnSpPr>
            <a:stCxn id="220" idx="3"/>
            <a:endCxn id="219" idx="2"/>
          </p:cNvCxnSpPr>
          <p:nvPr/>
        </p:nvCxnSpPr>
        <p:spPr>
          <a:xfrm rot="10800000">
            <a:off x="8371189" y="1847704"/>
            <a:ext cx="0" cy="1196100"/>
          </a:xfrm>
          <a:prstGeom prst="straightConnector1">
            <a:avLst/>
          </a:prstGeom>
          <a:noFill/>
          <a:ln cap="flat" cmpd="sng" w="19050">
            <a:solidFill>
              <a:srgbClr val="1155CC"/>
            </a:solidFill>
            <a:prstDash val="solid"/>
            <a:round/>
            <a:headEnd len="med" w="med" type="none"/>
            <a:tailEnd len="med" w="med" type="triangle"/>
          </a:ln>
        </p:spPr>
      </p:cxnSp>
      <p:cxnSp>
        <p:nvCxnSpPr>
          <p:cNvPr id="233" name="Google Shape;233;p22"/>
          <p:cNvCxnSpPr>
            <a:stCxn id="218" idx="2"/>
            <a:endCxn id="231" idx="0"/>
          </p:cNvCxnSpPr>
          <p:nvPr/>
        </p:nvCxnSpPr>
        <p:spPr>
          <a:xfrm flipH="1" rot="-5400000">
            <a:off x="6253814" y="3403654"/>
            <a:ext cx="898800" cy="600"/>
          </a:xfrm>
          <a:prstGeom prst="bentConnector3">
            <a:avLst>
              <a:gd fmla="val 50004" name="adj1"/>
            </a:avLst>
          </a:prstGeom>
          <a:noFill/>
          <a:ln cap="flat" cmpd="sng" w="19050">
            <a:solidFill>
              <a:srgbClr val="1155CC"/>
            </a:solidFill>
            <a:prstDash val="solid"/>
            <a:round/>
            <a:headEnd len="med" w="med" type="none"/>
            <a:tailEnd len="med" w="med" type="triangle"/>
          </a:ln>
        </p:spPr>
      </p:cxnSp>
      <p:cxnSp>
        <p:nvCxnSpPr>
          <p:cNvPr id="234" name="Google Shape;234;p22"/>
          <p:cNvCxnSpPr>
            <a:stCxn id="231" idx="3"/>
            <a:endCxn id="220" idx="1"/>
          </p:cNvCxnSpPr>
          <p:nvPr/>
        </p:nvCxnSpPr>
        <p:spPr>
          <a:xfrm flipH="1" rot="10800000">
            <a:off x="7588739" y="3764179"/>
            <a:ext cx="782400" cy="484500"/>
          </a:xfrm>
          <a:prstGeom prst="bentConnector2">
            <a:avLst/>
          </a:prstGeom>
          <a:noFill/>
          <a:ln cap="flat" cmpd="sng" w="19050">
            <a:solidFill>
              <a:srgbClr val="1155CC"/>
            </a:solidFill>
            <a:prstDash val="solid"/>
            <a:round/>
            <a:headEnd len="med" w="med" type="none"/>
            <a:tailEnd len="med" w="med" type="triangle"/>
          </a:ln>
        </p:spPr>
      </p:cxnSp>
      <p:sp>
        <p:nvSpPr>
          <p:cNvPr id="235" name="Google Shape;235;p22"/>
          <p:cNvSpPr txBox="1"/>
          <p:nvPr>
            <p:ph type="title"/>
          </p:nvPr>
        </p:nvSpPr>
        <p:spPr>
          <a:xfrm>
            <a:off x="628650" y="38070"/>
            <a:ext cx="7886700" cy="790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100">
                <a:solidFill>
                  <a:srgbClr val="1C4587"/>
                </a:solidFill>
                <a:latin typeface="Montserrat"/>
                <a:ea typeface="Montserrat"/>
                <a:cs typeface="Montserrat"/>
                <a:sym typeface="Montserrat"/>
              </a:rPr>
              <a:t>Source - </a:t>
            </a:r>
            <a:r>
              <a:rPr b="1" lang="en-CA" sz="3100">
                <a:solidFill>
                  <a:srgbClr val="1C4587"/>
                </a:solidFill>
                <a:latin typeface="Montserrat"/>
                <a:ea typeface="Montserrat"/>
                <a:cs typeface="Montserrat"/>
                <a:sym typeface="Montserrat"/>
              </a:rPr>
              <a:t>Life of PR</a:t>
            </a:r>
            <a:endParaRPr b="1" sz="3100">
              <a:solidFill>
                <a:srgbClr val="1C4587"/>
              </a:solidFill>
              <a:latin typeface="Montserrat"/>
              <a:ea typeface="Montserrat"/>
              <a:cs typeface="Montserrat"/>
              <a:sym typeface="Montserrat"/>
            </a:endParaRPr>
          </a:p>
        </p:txBody>
      </p:sp>
      <p:sp>
        <p:nvSpPr>
          <p:cNvPr id="236" name="Google Shape;236;p22"/>
          <p:cNvSpPr/>
          <p:nvPr/>
        </p:nvSpPr>
        <p:spPr>
          <a:xfrm>
            <a:off x="3590115" y="382057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7" name="Google Shape;237;p22"/>
          <p:cNvSpPr/>
          <p:nvPr/>
        </p:nvSpPr>
        <p:spPr>
          <a:xfrm>
            <a:off x="3590115" y="130002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8" name="Google Shape;238;p22"/>
          <p:cNvSpPr/>
          <p:nvPr/>
        </p:nvSpPr>
        <p:spPr>
          <a:xfrm>
            <a:off x="3590115" y="2487004"/>
            <a:ext cx="302400" cy="302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9" name="Google Shape;239;p22"/>
          <p:cNvSpPr/>
          <p:nvPr/>
        </p:nvSpPr>
        <p:spPr>
          <a:xfrm>
            <a:off x="5621364" y="248700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240" name="Google Shape;240;p22"/>
          <p:cNvSpPr/>
          <p:nvPr/>
        </p:nvSpPr>
        <p:spPr>
          <a:xfrm>
            <a:off x="6550214" y="318480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4</a:t>
            </a:r>
            <a:endParaRPr>
              <a:solidFill>
                <a:srgbClr val="FFFFFF"/>
              </a:solidFill>
              <a:latin typeface="Montserrat Medium"/>
              <a:ea typeface="Montserrat Medium"/>
              <a:cs typeface="Montserrat Medium"/>
              <a:sym typeface="Montserrat Medium"/>
            </a:endParaRPr>
          </a:p>
        </p:txBody>
      </p:sp>
      <p:sp>
        <p:nvSpPr>
          <p:cNvPr id="241" name="Google Shape;241;p22"/>
          <p:cNvSpPr/>
          <p:nvPr/>
        </p:nvSpPr>
        <p:spPr>
          <a:xfrm>
            <a:off x="7791839" y="409567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242" name="Google Shape;242;p22"/>
          <p:cNvSpPr/>
          <p:nvPr/>
        </p:nvSpPr>
        <p:spPr>
          <a:xfrm>
            <a:off x="8217839" y="2076342"/>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
        <p:nvSpPr>
          <p:cNvPr id="243" name="Google Shape;243;p22"/>
          <p:cNvSpPr/>
          <p:nvPr/>
        </p:nvSpPr>
        <p:spPr>
          <a:xfrm>
            <a:off x="1624188" y="248552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1</a:t>
            </a:r>
            <a:endParaRPr>
              <a:solidFill>
                <a:srgbClr val="FFFFFF"/>
              </a:solidFill>
              <a:latin typeface="Montserrat Medium"/>
              <a:ea typeface="Montserrat Medium"/>
              <a:cs typeface="Montserrat Medium"/>
              <a:sym typeface="Montserrat Medium"/>
            </a:endParaRPr>
          </a:p>
        </p:txBody>
      </p:sp>
      <p:sp>
        <p:nvSpPr>
          <p:cNvPr id="244" name="Google Shape;244;p22"/>
          <p:cNvSpPr/>
          <p:nvPr/>
        </p:nvSpPr>
        <p:spPr>
          <a:xfrm>
            <a:off x="8717150" y="3043793"/>
            <a:ext cx="120600" cy="1206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p:nvPr/>
        </p:nvSpPr>
        <p:spPr>
          <a:xfrm>
            <a:off x="6124750" y="2094869"/>
            <a:ext cx="2001600" cy="9543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Github Actions</a:t>
            </a:r>
            <a:endParaRPr sz="1600">
              <a:solidFill>
                <a:schemeClr val="lt1"/>
              </a:solidFill>
              <a:latin typeface="Montserrat ExtraBold"/>
              <a:ea typeface="Montserrat ExtraBold"/>
              <a:cs typeface="Montserrat ExtraBold"/>
              <a:sym typeface="Montserrat ExtraBold"/>
            </a:endParaRPr>
          </a:p>
        </p:txBody>
      </p:sp>
      <p:sp>
        <p:nvSpPr>
          <p:cNvPr id="250" name="Google Shape;250;p23"/>
          <p:cNvSpPr/>
          <p:nvPr/>
        </p:nvSpPr>
        <p:spPr>
          <a:xfrm>
            <a:off x="6124750" y="926281"/>
            <a:ext cx="2001600" cy="8655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Go Modules</a:t>
            </a:r>
            <a:endParaRPr sz="1600">
              <a:solidFill>
                <a:schemeClr val="lt1"/>
              </a:solidFill>
              <a:latin typeface="Montserrat ExtraBold"/>
              <a:ea typeface="Montserrat ExtraBold"/>
              <a:cs typeface="Montserrat ExtraBold"/>
              <a:sym typeface="Montserrat ExtraBold"/>
            </a:endParaRPr>
          </a:p>
        </p:txBody>
      </p:sp>
      <p:sp>
        <p:nvSpPr>
          <p:cNvPr id="251" name="Google Shape;251;p23"/>
          <p:cNvSpPr/>
          <p:nvPr/>
        </p:nvSpPr>
        <p:spPr>
          <a:xfrm>
            <a:off x="6148450" y="3352256"/>
            <a:ext cx="2001600" cy="10221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Container Base Images</a:t>
            </a:r>
            <a:endParaRPr sz="1600">
              <a:solidFill>
                <a:schemeClr val="lt1"/>
              </a:solidFill>
              <a:latin typeface="Montserrat ExtraBold"/>
              <a:ea typeface="Montserrat ExtraBold"/>
              <a:cs typeface="Montserrat ExtraBold"/>
              <a:sym typeface="Montserrat ExtraBold"/>
            </a:endParaRPr>
          </a:p>
        </p:txBody>
      </p:sp>
      <p:sp>
        <p:nvSpPr>
          <p:cNvPr id="252" name="Google Shape;252;p23"/>
          <p:cNvSpPr txBox="1"/>
          <p:nvPr/>
        </p:nvSpPr>
        <p:spPr>
          <a:xfrm>
            <a:off x="628650" y="1008331"/>
            <a:ext cx="4804800" cy="3448200"/>
          </a:xfrm>
          <a:prstGeom prst="rect">
            <a:avLst/>
          </a:prstGeom>
          <a:noFill/>
          <a:ln>
            <a:noFill/>
          </a:ln>
        </p:spPr>
        <p:txBody>
          <a:bodyPr anchorCtr="0" anchor="t" bIns="68575" lIns="68575" spcFirstLastPara="1" rIns="68575" wrap="square" tIns="6857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Scans</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Daily</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Each PR</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Pinning</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 Runs on Dependency Changes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Dependabot for keeping deps upto update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Ensure known vulnerabilities are fixed quickly</a:t>
            </a:r>
            <a:endParaRPr sz="2000">
              <a:solidFill>
                <a:schemeClr val="dk1"/>
              </a:solidFill>
              <a:latin typeface="Montserrat Medium"/>
              <a:ea typeface="Montserrat Medium"/>
              <a:cs typeface="Montserrat Medium"/>
              <a:sym typeface="Montserrat Medium"/>
            </a:endParaRPr>
          </a:p>
        </p:txBody>
      </p:sp>
      <p:sp>
        <p:nvSpPr>
          <p:cNvPr id="253" name="Google Shape;253;p23"/>
          <p:cNvSpPr txBox="1"/>
          <p:nvPr>
            <p:ph type="title"/>
          </p:nvPr>
        </p:nvSpPr>
        <p:spPr>
          <a:xfrm>
            <a:off x="628650" y="3833"/>
            <a:ext cx="7886700" cy="853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Dependencies</a:t>
            </a:r>
            <a:endParaRPr b="1" sz="3200">
              <a:solidFill>
                <a:srgbClr val="1C4587"/>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txBox="1"/>
          <p:nvPr/>
        </p:nvSpPr>
        <p:spPr>
          <a:xfrm>
            <a:off x="1885950" y="4168487"/>
            <a:ext cx="5372100" cy="5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100">
                <a:solidFill>
                  <a:srgbClr val="595959"/>
                </a:solidFill>
                <a:latin typeface="Montserrat SemiBold"/>
                <a:ea typeface="Montserrat SemiBold"/>
                <a:cs typeface="Montserrat SemiBold"/>
                <a:sym typeface="Montserrat SemiBold"/>
              </a:rPr>
              <a:t>Github Action Pinned Dependencies</a:t>
            </a:r>
            <a:endParaRPr sz="2100">
              <a:solidFill>
                <a:srgbClr val="595959"/>
              </a:solidFill>
              <a:latin typeface="Montserrat SemiBold"/>
              <a:ea typeface="Montserrat SemiBold"/>
              <a:cs typeface="Montserrat SemiBold"/>
              <a:sym typeface="Montserrat SemiBold"/>
            </a:endParaRPr>
          </a:p>
        </p:txBody>
      </p:sp>
      <p:cxnSp>
        <p:nvCxnSpPr>
          <p:cNvPr id="259" name="Google Shape;259;p24"/>
          <p:cNvCxnSpPr/>
          <p:nvPr/>
        </p:nvCxnSpPr>
        <p:spPr>
          <a:xfrm>
            <a:off x="776700" y="4006337"/>
            <a:ext cx="7590600" cy="0"/>
          </a:xfrm>
          <a:prstGeom prst="straightConnector1">
            <a:avLst/>
          </a:prstGeom>
          <a:noFill/>
          <a:ln cap="flat" cmpd="sng" w="28575">
            <a:solidFill>
              <a:srgbClr val="1C4587"/>
            </a:solidFill>
            <a:prstDash val="solid"/>
            <a:round/>
            <a:headEnd len="med" w="med" type="none"/>
            <a:tailEnd len="med" w="med" type="none"/>
          </a:ln>
        </p:spPr>
      </p:cxnSp>
      <p:sp>
        <p:nvSpPr>
          <p:cNvPr id="260" name="Google Shape;260;p24"/>
          <p:cNvSpPr/>
          <p:nvPr/>
        </p:nvSpPr>
        <p:spPr>
          <a:xfrm>
            <a:off x="4448425" y="876587"/>
            <a:ext cx="59400" cy="31149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261" name="Google Shape;261;p24"/>
          <p:cNvSpPr txBox="1"/>
          <p:nvPr/>
        </p:nvSpPr>
        <p:spPr>
          <a:xfrm>
            <a:off x="1931881" y="3410267"/>
            <a:ext cx="1031700" cy="4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rgbClr val="1155CC"/>
                </a:solidFill>
                <a:latin typeface="Montserrat SemiBold"/>
                <a:ea typeface="Montserrat SemiBold"/>
                <a:cs typeface="Montserrat SemiBold"/>
                <a:sym typeface="Montserrat SemiBold"/>
              </a:rPr>
              <a:t>Earlier</a:t>
            </a:r>
            <a:endParaRPr sz="2000">
              <a:solidFill>
                <a:srgbClr val="1155CC"/>
              </a:solidFill>
              <a:latin typeface="Montserrat SemiBold"/>
              <a:ea typeface="Montserrat SemiBold"/>
              <a:cs typeface="Montserrat SemiBold"/>
              <a:sym typeface="Montserrat SemiBold"/>
            </a:endParaRPr>
          </a:p>
        </p:txBody>
      </p:sp>
      <p:sp>
        <p:nvSpPr>
          <p:cNvPr id="262" name="Google Shape;262;p24"/>
          <p:cNvSpPr txBox="1"/>
          <p:nvPr/>
        </p:nvSpPr>
        <p:spPr>
          <a:xfrm>
            <a:off x="5983219" y="3410267"/>
            <a:ext cx="1238400" cy="4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rgbClr val="1155CC"/>
                </a:solidFill>
                <a:latin typeface="Montserrat SemiBold"/>
                <a:ea typeface="Montserrat SemiBold"/>
                <a:cs typeface="Montserrat SemiBold"/>
                <a:sym typeface="Montserrat SemiBold"/>
              </a:rPr>
              <a:t>Current</a:t>
            </a:r>
            <a:endParaRPr sz="2000">
              <a:solidFill>
                <a:srgbClr val="1155CC"/>
              </a:solidFill>
              <a:latin typeface="Montserrat SemiBold"/>
              <a:ea typeface="Montserrat SemiBold"/>
              <a:cs typeface="Montserrat SemiBold"/>
              <a:sym typeface="Montserrat SemiBold"/>
            </a:endParaRPr>
          </a:p>
        </p:txBody>
      </p:sp>
      <p:sp>
        <p:nvSpPr>
          <p:cNvPr id="263" name="Google Shape;263;p24"/>
          <p:cNvSpPr/>
          <p:nvPr/>
        </p:nvSpPr>
        <p:spPr>
          <a:xfrm rot="5400000">
            <a:off x="2946469" y="-273938"/>
            <a:ext cx="59400" cy="29445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pic>
        <p:nvPicPr>
          <p:cNvPr id="264" name="Google Shape;264;p24"/>
          <p:cNvPicPr preferRelativeResize="0"/>
          <p:nvPr/>
        </p:nvPicPr>
        <p:blipFill>
          <a:blip r:embed="rId3">
            <a:alphaModFix/>
          </a:blip>
          <a:stretch>
            <a:fillRect/>
          </a:stretch>
        </p:blipFill>
        <p:spPr>
          <a:xfrm>
            <a:off x="687169" y="857312"/>
            <a:ext cx="3521100" cy="2429400"/>
          </a:xfrm>
          <a:prstGeom prst="roundRect">
            <a:avLst>
              <a:gd fmla="val 2731" name="adj"/>
            </a:avLst>
          </a:prstGeom>
          <a:noFill/>
          <a:ln>
            <a:noFill/>
          </a:ln>
        </p:spPr>
      </p:pic>
      <p:sp>
        <p:nvSpPr>
          <p:cNvPr id="265" name="Google Shape;265;p24"/>
          <p:cNvSpPr/>
          <p:nvPr/>
        </p:nvSpPr>
        <p:spPr>
          <a:xfrm flipH="1" rot="-5400000">
            <a:off x="5890969" y="310762"/>
            <a:ext cx="59400" cy="2944500"/>
          </a:xfrm>
          <a:prstGeom prst="roundRect">
            <a:avLst>
              <a:gd fmla="val 7129" name="adj"/>
            </a:avLst>
          </a:prstGeom>
          <a:solidFill>
            <a:srgbClr val="BFD4F5"/>
          </a:soli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pic>
        <p:nvPicPr>
          <p:cNvPr id="266" name="Google Shape;266;p24"/>
          <p:cNvPicPr preferRelativeResize="0"/>
          <p:nvPr/>
        </p:nvPicPr>
        <p:blipFill>
          <a:blip r:embed="rId4">
            <a:alphaModFix/>
          </a:blip>
          <a:stretch>
            <a:fillRect/>
          </a:stretch>
        </p:blipFill>
        <p:spPr>
          <a:xfrm>
            <a:off x="4747931" y="857312"/>
            <a:ext cx="3708900" cy="2429400"/>
          </a:xfrm>
          <a:prstGeom prst="roundRect">
            <a:avLst>
              <a:gd fmla="val 2914" name="adj"/>
            </a:avLst>
          </a:prstGeom>
          <a:noFill/>
          <a:ln>
            <a:noFill/>
          </a:ln>
        </p:spPr>
      </p:pic>
      <p:sp>
        <p:nvSpPr>
          <p:cNvPr id="267" name="Google Shape;267;p24"/>
          <p:cNvSpPr txBox="1"/>
          <p:nvPr>
            <p:ph type="title"/>
          </p:nvPr>
        </p:nvSpPr>
        <p:spPr>
          <a:xfrm>
            <a:off x="628650" y="3833"/>
            <a:ext cx="7886700" cy="853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Dependencies</a:t>
            </a:r>
            <a:endParaRPr b="1" sz="3200">
              <a:solidFill>
                <a:srgbClr val="1C4587"/>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5"/>
          <p:cNvPicPr preferRelativeResize="0"/>
          <p:nvPr/>
        </p:nvPicPr>
        <p:blipFill>
          <a:blip r:embed="rId3">
            <a:alphaModFix/>
          </a:blip>
          <a:stretch>
            <a:fillRect/>
          </a:stretch>
        </p:blipFill>
        <p:spPr>
          <a:xfrm>
            <a:off x="141418" y="222696"/>
            <a:ext cx="3581281" cy="1296000"/>
          </a:xfrm>
          <a:prstGeom prst="rect">
            <a:avLst/>
          </a:prstGeom>
          <a:noFill/>
          <a:ln>
            <a:noFill/>
          </a:ln>
        </p:spPr>
      </p:pic>
      <p:pic>
        <p:nvPicPr>
          <p:cNvPr id="273" name="Google Shape;273;p25"/>
          <p:cNvPicPr preferRelativeResize="0"/>
          <p:nvPr/>
        </p:nvPicPr>
        <p:blipFill>
          <a:blip r:embed="rId4">
            <a:alphaModFix/>
          </a:blip>
          <a:stretch>
            <a:fillRect/>
          </a:stretch>
        </p:blipFill>
        <p:spPr>
          <a:xfrm>
            <a:off x="5078518" y="222696"/>
            <a:ext cx="3913920" cy="1296000"/>
          </a:xfrm>
          <a:prstGeom prst="rect">
            <a:avLst/>
          </a:prstGeom>
          <a:noFill/>
          <a:ln>
            <a:noFill/>
          </a:ln>
        </p:spPr>
      </p:pic>
      <p:pic>
        <p:nvPicPr>
          <p:cNvPr id="274" name="Google Shape;274;p25"/>
          <p:cNvPicPr preferRelativeResize="0"/>
          <p:nvPr/>
        </p:nvPicPr>
        <p:blipFill>
          <a:blip r:embed="rId5">
            <a:alphaModFix/>
          </a:blip>
          <a:stretch>
            <a:fillRect/>
          </a:stretch>
        </p:blipFill>
        <p:spPr>
          <a:xfrm>
            <a:off x="486543" y="2513159"/>
            <a:ext cx="6146126" cy="1296000"/>
          </a:xfrm>
          <a:prstGeom prst="rect">
            <a:avLst/>
          </a:prstGeom>
          <a:noFill/>
          <a:ln>
            <a:noFill/>
          </a:ln>
        </p:spPr>
      </p:pic>
      <p:cxnSp>
        <p:nvCxnSpPr>
          <p:cNvPr id="275" name="Google Shape;275;p25"/>
          <p:cNvCxnSpPr>
            <a:stCxn id="272" idx="3"/>
            <a:endCxn id="273" idx="1"/>
          </p:cNvCxnSpPr>
          <p:nvPr/>
        </p:nvCxnSpPr>
        <p:spPr>
          <a:xfrm>
            <a:off x="3722698" y="870697"/>
            <a:ext cx="1355700" cy="600"/>
          </a:xfrm>
          <a:prstGeom prst="bentConnector3">
            <a:avLst>
              <a:gd fmla="val 50004" name="adj1"/>
            </a:avLst>
          </a:prstGeom>
          <a:noFill/>
          <a:ln cap="flat" cmpd="sng" w="19050">
            <a:solidFill>
              <a:srgbClr val="3C78D8"/>
            </a:solidFill>
            <a:prstDash val="solid"/>
            <a:round/>
            <a:headEnd len="med" w="med" type="none"/>
            <a:tailEnd len="med" w="med" type="triangle"/>
          </a:ln>
        </p:spPr>
      </p:cxnSp>
      <p:cxnSp>
        <p:nvCxnSpPr>
          <p:cNvPr id="276" name="Google Shape;276;p25"/>
          <p:cNvCxnSpPr>
            <a:stCxn id="273" idx="2"/>
            <a:endCxn id="274" idx="0"/>
          </p:cNvCxnSpPr>
          <p:nvPr/>
        </p:nvCxnSpPr>
        <p:spPr>
          <a:xfrm rot="5400000">
            <a:off x="4800328" y="278047"/>
            <a:ext cx="994500" cy="3475800"/>
          </a:xfrm>
          <a:prstGeom prst="bentConnector3">
            <a:avLst>
              <a:gd fmla="val 49998" name="adj1"/>
            </a:avLst>
          </a:prstGeom>
          <a:noFill/>
          <a:ln cap="flat" cmpd="sng" w="19050">
            <a:solidFill>
              <a:srgbClr val="3C78D8"/>
            </a:solidFill>
            <a:prstDash val="solid"/>
            <a:round/>
            <a:headEnd len="med" w="med" type="none"/>
            <a:tailEnd len="med" w="med" type="triangle"/>
          </a:ln>
        </p:spPr>
      </p:cxnSp>
      <p:sp>
        <p:nvSpPr>
          <p:cNvPr id="277" name="Google Shape;277;p25"/>
          <p:cNvSpPr txBox="1"/>
          <p:nvPr>
            <p:ph type="title"/>
          </p:nvPr>
        </p:nvSpPr>
        <p:spPr>
          <a:xfrm>
            <a:off x="1490700" y="4125950"/>
            <a:ext cx="6162600" cy="411900"/>
          </a:xfrm>
          <a:prstGeom prst="rect">
            <a:avLst/>
          </a:prstGeom>
        </p:spPr>
        <p:txBody>
          <a:bodyPr anchorCtr="0" anchor="ctr" bIns="34275" lIns="68575" spcFirstLastPara="1" rIns="68575" wrap="square" tIns="34275">
            <a:normAutofit fontScale="90000"/>
          </a:bodyPr>
          <a:lstStyle/>
          <a:p>
            <a:pPr indent="0" lvl="0" marL="0" rtl="0" algn="l">
              <a:lnSpc>
                <a:spcPct val="100000"/>
              </a:lnSpc>
              <a:spcBef>
                <a:spcPts val="0"/>
              </a:spcBef>
              <a:spcAft>
                <a:spcPts val="0"/>
              </a:spcAft>
              <a:buNone/>
            </a:pPr>
            <a:r>
              <a:rPr b="1" lang="en-CA" sz="2200">
                <a:solidFill>
                  <a:srgbClr val="1C4587"/>
                </a:solidFill>
                <a:latin typeface="Montserrat"/>
                <a:ea typeface="Montserrat"/>
                <a:cs typeface="Montserrat"/>
                <a:sym typeface="Montserrat"/>
              </a:rPr>
              <a:t>Container Base Image Pinned Dependencies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26"/>
          <p:cNvPicPr preferRelativeResize="0"/>
          <p:nvPr/>
        </p:nvPicPr>
        <p:blipFill>
          <a:blip r:embed="rId3">
            <a:alphaModFix/>
          </a:blip>
          <a:stretch>
            <a:fillRect/>
          </a:stretch>
        </p:blipFill>
        <p:spPr>
          <a:xfrm>
            <a:off x="234512" y="173718"/>
            <a:ext cx="4338124" cy="2555976"/>
          </a:xfrm>
          <a:prstGeom prst="rect">
            <a:avLst/>
          </a:prstGeom>
          <a:noFill/>
          <a:ln>
            <a:noFill/>
          </a:ln>
        </p:spPr>
      </p:pic>
      <p:pic>
        <p:nvPicPr>
          <p:cNvPr id="283" name="Google Shape;283;p26"/>
          <p:cNvPicPr preferRelativeResize="0"/>
          <p:nvPr/>
        </p:nvPicPr>
        <p:blipFill>
          <a:blip r:embed="rId4">
            <a:alphaModFix/>
          </a:blip>
          <a:stretch>
            <a:fillRect/>
          </a:stretch>
        </p:blipFill>
        <p:spPr>
          <a:xfrm>
            <a:off x="4590337" y="447058"/>
            <a:ext cx="4338124" cy="3663966"/>
          </a:xfrm>
          <a:prstGeom prst="rect">
            <a:avLst/>
          </a:prstGeom>
          <a:noFill/>
          <a:ln>
            <a:noFill/>
          </a:ln>
        </p:spPr>
      </p:pic>
      <p:sp>
        <p:nvSpPr>
          <p:cNvPr id="284" name="Google Shape;284;p26"/>
          <p:cNvSpPr txBox="1"/>
          <p:nvPr>
            <p:ph type="title"/>
          </p:nvPr>
        </p:nvSpPr>
        <p:spPr>
          <a:xfrm>
            <a:off x="1490700" y="426279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Go Modules Pinned Dependencies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p:nvPr/>
        </p:nvSpPr>
        <p:spPr>
          <a:xfrm>
            <a:off x="512051" y="1977419"/>
            <a:ext cx="1390800" cy="1200300"/>
          </a:xfrm>
          <a:prstGeom prst="roundRect">
            <a:avLst>
              <a:gd fmla="val 9566"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Git Tag</a:t>
            </a:r>
            <a:endParaRPr>
              <a:solidFill>
                <a:srgbClr val="FFFFFF"/>
              </a:solidFill>
              <a:latin typeface="Montserrat Medium"/>
              <a:ea typeface="Montserrat Medium"/>
              <a:cs typeface="Montserrat Medium"/>
              <a:sym typeface="Montserrat Medium"/>
            </a:endParaRPr>
          </a:p>
        </p:txBody>
      </p:sp>
      <p:sp>
        <p:nvSpPr>
          <p:cNvPr id="290" name="Google Shape;290;p27"/>
          <p:cNvSpPr/>
          <p:nvPr/>
        </p:nvSpPr>
        <p:spPr>
          <a:xfrm>
            <a:off x="2664701" y="97419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Go Binaries for Arch + OS</a:t>
            </a:r>
            <a:endParaRPr>
              <a:solidFill>
                <a:srgbClr val="FFFFFF"/>
              </a:solidFill>
              <a:latin typeface="Montserrat Medium"/>
              <a:ea typeface="Montserrat Medium"/>
              <a:cs typeface="Montserrat Medium"/>
              <a:sym typeface="Montserrat Medium"/>
            </a:endParaRPr>
          </a:p>
        </p:txBody>
      </p:sp>
      <p:sp>
        <p:nvSpPr>
          <p:cNvPr id="291" name="Google Shape;291;p27"/>
          <p:cNvSpPr/>
          <p:nvPr/>
        </p:nvSpPr>
        <p:spPr>
          <a:xfrm>
            <a:off x="2657563" y="2404074"/>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Container Images</a:t>
            </a:r>
            <a:endParaRPr>
              <a:solidFill>
                <a:srgbClr val="FFFFFF"/>
              </a:solidFill>
              <a:latin typeface="Montserrat Medium"/>
              <a:ea typeface="Montserrat Medium"/>
              <a:cs typeface="Montserrat Medium"/>
              <a:sym typeface="Montserrat Medium"/>
            </a:endParaRPr>
          </a:p>
        </p:txBody>
      </p:sp>
      <p:sp>
        <p:nvSpPr>
          <p:cNvPr id="292" name="Google Shape;292;p27"/>
          <p:cNvSpPr/>
          <p:nvPr/>
        </p:nvSpPr>
        <p:spPr>
          <a:xfrm>
            <a:off x="4764963" y="2404074"/>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Sign Image with Cosign</a:t>
            </a:r>
            <a:endParaRPr>
              <a:solidFill>
                <a:srgbClr val="FFFFFF"/>
              </a:solidFill>
              <a:latin typeface="Montserrat Medium"/>
              <a:ea typeface="Montserrat Medium"/>
              <a:cs typeface="Montserrat Medium"/>
              <a:sym typeface="Montserrat Medium"/>
            </a:endParaRPr>
          </a:p>
        </p:txBody>
      </p:sp>
      <p:sp>
        <p:nvSpPr>
          <p:cNvPr id="293" name="Google Shape;293;p27"/>
          <p:cNvSpPr/>
          <p:nvPr/>
        </p:nvSpPr>
        <p:spPr>
          <a:xfrm>
            <a:off x="4762576" y="97419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Sign Binaries With Cosign</a:t>
            </a:r>
            <a:endParaRPr>
              <a:solidFill>
                <a:srgbClr val="FFFFFF"/>
              </a:solidFill>
              <a:latin typeface="Montserrat Medium"/>
              <a:ea typeface="Montserrat Medium"/>
              <a:cs typeface="Montserrat Medium"/>
              <a:sym typeface="Montserrat Medium"/>
            </a:endParaRPr>
          </a:p>
        </p:txBody>
      </p:sp>
      <p:sp>
        <p:nvSpPr>
          <p:cNvPr id="294" name="Google Shape;294;p27"/>
          <p:cNvSpPr/>
          <p:nvPr/>
        </p:nvSpPr>
        <p:spPr>
          <a:xfrm>
            <a:off x="2657576" y="367204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Helm Manifests</a:t>
            </a:r>
            <a:endParaRPr>
              <a:solidFill>
                <a:srgbClr val="FFFFFF"/>
              </a:solidFill>
              <a:latin typeface="Montserrat Medium"/>
              <a:ea typeface="Montserrat Medium"/>
              <a:cs typeface="Montserrat Medium"/>
              <a:sym typeface="Montserrat Medium"/>
            </a:endParaRPr>
          </a:p>
        </p:txBody>
      </p:sp>
      <p:sp>
        <p:nvSpPr>
          <p:cNvPr id="295" name="Google Shape;295;p27"/>
          <p:cNvSpPr/>
          <p:nvPr/>
        </p:nvSpPr>
        <p:spPr>
          <a:xfrm>
            <a:off x="969251" y="1371106"/>
            <a:ext cx="476400" cy="4752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6" name="Google Shape;296;p27"/>
          <p:cNvCxnSpPr>
            <a:stCxn id="289" idx="3"/>
            <a:endCxn id="290" idx="1"/>
          </p:cNvCxnSpPr>
          <p:nvPr/>
        </p:nvCxnSpPr>
        <p:spPr>
          <a:xfrm flipH="1" rot="10800000">
            <a:off x="1902851" y="1426469"/>
            <a:ext cx="762000" cy="1151100"/>
          </a:xfrm>
          <a:prstGeom prst="bentConnector3">
            <a:avLst>
              <a:gd fmla="val 49990" name="adj1"/>
            </a:avLst>
          </a:prstGeom>
          <a:noFill/>
          <a:ln cap="flat" cmpd="sng" w="19050">
            <a:solidFill>
              <a:srgbClr val="1155CC"/>
            </a:solidFill>
            <a:prstDash val="dash"/>
            <a:round/>
            <a:headEnd len="med" w="med" type="none"/>
            <a:tailEnd len="med" w="med" type="triangle"/>
          </a:ln>
        </p:spPr>
      </p:cxnSp>
      <p:cxnSp>
        <p:nvCxnSpPr>
          <p:cNvPr id="297" name="Google Shape;297;p27"/>
          <p:cNvCxnSpPr>
            <a:stCxn id="289" idx="3"/>
            <a:endCxn id="294" idx="1"/>
          </p:cNvCxnSpPr>
          <p:nvPr/>
        </p:nvCxnSpPr>
        <p:spPr>
          <a:xfrm>
            <a:off x="1902851" y="2577569"/>
            <a:ext cx="754800" cy="1546800"/>
          </a:xfrm>
          <a:prstGeom prst="bentConnector3">
            <a:avLst>
              <a:gd fmla="val 49995" name="adj1"/>
            </a:avLst>
          </a:prstGeom>
          <a:noFill/>
          <a:ln cap="flat" cmpd="sng" w="19050">
            <a:solidFill>
              <a:srgbClr val="1155CC"/>
            </a:solidFill>
            <a:prstDash val="dash"/>
            <a:round/>
            <a:headEnd len="med" w="med" type="none"/>
            <a:tailEnd len="med" w="med" type="triangle"/>
          </a:ln>
        </p:spPr>
      </p:cxnSp>
      <p:cxnSp>
        <p:nvCxnSpPr>
          <p:cNvPr id="298" name="Google Shape;298;p27"/>
          <p:cNvCxnSpPr>
            <a:stCxn id="290" idx="3"/>
            <a:endCxn id="293" idx="1"/>
          </p:cNvCxnSpPr>
          <p:nvPr/>
        </p:nvCxnSpPr>
        <p:spPr>
          <a:xfrm>
            <a:off x="4055501" y="1426591"/>
            <a:ext cx="707100" cy="600"/>
          </a:xfrm>
          <a:prstGeom prst="bentConnector3">
            <a:avLst>
              <a:gd fmla="val 49998" name="adj1"/>
            </a:avLst>
          </a:prstGeom>
          <a:noFill/>
          <a:ln cap="flat" cmpd="sng" w="19050">
            <a:solidFill>
              <a:srgbClr val="1155CC"/>
            </a:solidFill>
            <a:prstDash val="dash"/>
            <a:round/>
            <a:headEnd len="med" w="med" type="none"/>
            <a:tailEnd len="med" w="med" type="triangle"/>
          </a:ln>
        </p:spPr>
      </p:cxnSp>
      <p:cxnSp>
        <p:nvCxnSpPr>
          <p:cNvPr id="299" name="Google Shape;299;p27"/>
          <p:cNvCxnSpPr>
            <a:stCxn id="291" idx="3"/>
            <a:endCxn id="292" idx="1"/>
          </p:cNvCxnSpPr>
          <p:nvPr/>
        </p:nvCxnSpPr>
        <p:spPr>
          <a:xfrm>
            <a:off x="4048363" y="2856474"/>
            <a:ext cx="716700" cy="0"/>
          </a:xfrm>
          <a:prstGeom prst="straightConnector1">
            <a:avLst/>
          </a:prstGeom>
          <a:noFill/>
          <a:ln cap="flat" cmpd="sng" w="19050">
            <a:solidFill>
              <a:srgbClr val="1155CC"/>
            </a:solidFill>
            <a:prstDash val="dash"/>
            <a:round/>
            <a:headEnd len="med" w="med" type="none"/>
            <a:tailEnd len="med" w="med" type="triangle"/>
          </a:ln>
        </p:spPr>
      </p:cxnSp>
      <p:cxnSp>
        <p:nvCxnSpPr>
          <p:cNvPr id="300" name="Google Shape;300;p27"/>
          <p:cNvCxnSpPr>
            <a:stCxn id="294" idx="3"/>
            <a:endCxn id="301" idx="1"/>
          </p:cNvCxnSpPr>
          <p:nvPr/>
        </p:nvCxnSpPr>
        <p:spPr>
          <a:xfrm>
            <a:off x="4048376" y="4124441"/>
            <a:ext cx="716700" cy="24600"/>
          </a:xfrm>
          <a:prstGeom prst="straightConnector1">
            <a:avLst/>
          </a:prstGeom>
          <a:noFill/>
          <a:ln cap="flat" cmpd="sng" w="19050">
            <a:solidFill>
              <a:srgbClr val="1155CC"/>
            </a:solidFill>
            <a:prstDash val="dash"/>
            <a:round/>
            <a:headEnd len="med" w="med" type="none"/>
            <a:tailEnd len="med" w="med" type="triangle"/>
          </a:ln>
        </p:spPr>
      </p:cxnSp>
      <p:sp>
        <p:nvSpPr>
          <p:cNvPr id="302" name="Google Shape;302;p27"/>
          <p:cNvSpPr txBox="1"/>
          <p:nvPr>
            <p:ph type="title"/>
          </p:nvPr>
        </p:nvSpPr>
        <p:spPr>
          <a:xfrm>
            <a:off x="628650" y="-71213"/>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Release Workflow</a:t>
            </a:r>
            <a:endParaRPr b="1" sz="3200">
              <a:solidFill>
                <a:srgbClr val="1C4587"/>
              </a:solidFill>
              <a:latin typeface="Montserrat"/>
              <a:ea typeface="Montserrat"/>
              <a:cs typeface="Montserrat"/>
              <a:sym typeface="Montserrat"/>
            </a:endParaRPr>
          </a:p>
        </p:txBody>
      </p:sp>
      <p:sp>
        <p:nvSpPr>
          <p:cNvPr id="303" name="Google Shape;303;p27"/>
          <p:cNvSpPr/>
          <p:nvPr/>
        </p:nvSpPr>
        <p:spPr>
          <a:xfrm>
            <a:off x="7051126" y="974191"/>
            <a:ext cx="1390800" cy="904800"/>
          </a:xfrm>
          <a:prstGeom prst="roundRect">
            <a:avLst>
              <a:gd fmla="val 16667" name="adj"/>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SLSA</a:t>
            </a:r>
            <a:r>
              <a:rPr lang="en-CA">
                <a:solidFill>
                  <a:srgbClr val="FFFFFF"/>
                </a:solidFill>
                <a:latin typeface="Montserrat Medium"/>
                <a:ea typeface="Montserrat Medium"/>
                <a:cs typeface="Montserrat Medium"/>
                <a:sym typeface="Montserrat Medium"/>
              </a:rPr>
              <a:t> Provenance </a:t>
            </a:r>
            <a:endParaRPr>
              <a:solidFill>
                <a:srgbClr val="FFFFFF"/>
              </a:solidFill>
              <a:latin typeface="Montserrat Medium"/>
              <a:ea typeface="Montserrat Medium"/>
              <a:cs typeface="Montserrat Medium"/>
              <a:sym typeface="Montserrat Medium"/>
            </a:endParaRPr>
          </a:p>
        </p:txBody>
      </p:sp>
      <p:sp>
        <p:nvSpPr>
          <p:cNvPr id="301" name="Google Shape;301;p27"/>
          <p:cNvSpPr/>
          <p:nvPr/>
        </p:nvSpPr>
        <p:spPr>
          <a:xfrm>
            <a:off x="4764963" y="369663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Publish in Helm Repo</a:t>
            </a:r>
            <a:endParaRPr>
              <a:solidFill>
                <a:srgbClr val="FFFFFF"/>
              </a:solidFill>
              <a:latin typeface="Montserrat Medium"/>
              <a:ea typeface="Montserrat Medium"/>
              <a:cs typeface="Montserrat Medium"/>
              <a:sym typeface="Montserrat Medium"/>
            </a:endParaRPr>
          </a:p>
        </p:txBody>
      </p:sp>
      <p:cxnSp>
        <p:nvCxnSpPr>
          <p:cNvPr id="304" name="Google Shape;304;p27"/>
          <p:cNvCxnSpPr>
            <a:stCxn id="293" idx="3"/>
            <a:endCxn id="303" idx="1"/>
          </p:cNvCxnSpPr>
          <p:nvPr/>
        </p:nvCxnSpPr>
        <p:spPr>
          <a:xfrm>
            <a:off x="6153376" y="1426591"/>
            <a:ext cx="897900" cy="600"/>
          </a:xfrm>
          <a:prstGeom prst="bentConnector3">
            <a:avLst>
              <a:gd fmla="val 49992" name="adj1"/>
            </a:avLst>
          </a:prstGeom>
          <a:noFill/>
          <a:ln cap="flat" cmpd="sng" w="19050">
            <a:solidFill>
              <a:srgbClr val="1155CC"/>
            </a:solidFill>
            <a:prstDash val="dash"/>
            <a:round/>
            <a:headEnd len="med" w="med" type="none"/>
            <a:tailEnd len="med" w="med" type="triangle"/>
          </a:ln>
        </p:spPr>
      </p:cxnSp>
      <p:cxnSp>
        <p:nvCxnSpPr>
          <p:cNvPr id="305" name="Google Shape;305;p27"/>
          <p:cNvCxnSpPr>
            <a:stCxn id="292" idx="3"/>
            <a:endCxn id="303" idx="1"/>
          </p:cNvCxnSpPr>
          <p:nvPr/>
        </p:nvCxnSpPr>
        <p:spPr>
          <a:xfrm flipH="1" rot="10800000">
            <a:off x="6155763" y="1426674"/>
            <a:ext cx="895500" cy="1429800"/>
          </a:xfrm>
          <a:prstGeom prst="bentConnector3">
            <a:avLst>
              <a:gd fmla="val 49992" name="adj1"/>
            </a:avLst>
          </a:prstGeom>
          <a:noFill/>
          <a:ln cap="flat" cmpd="sng" w="19050">
            <a:solidFill>
              <a:srgbClr val="1155CC"/>
            </a:solidFill>
            <a:prstDash val="dash"/>
            <a:round/>
            <a:headEnd len="med" w="med" type="none"/>
            <a:tailEnd len="med" w="med" type="triangle"/>
          </a:ln>
        </p:spPr>
      </p:cxnSp>
      <p:sp>
        <p:nvSpPr>
          <p:cNvPr id="306" name="Google Shape;306;p27"/>
          <p:cNvSpPr/>
          <p:nvPr/>
        </p:nvSpPr>
        <p:spPr>
          <a:xfrm>
            <a:off x="7098826" y="3896839"/>
            <a:ext cx="1295400" cy="7413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Publish </a:t>
            </a:r>
            <a:r>
              <a:rPr lang="en-CA">
                <a:solidFill>
                  <a:srgbClr val="FFFFFF"/>
                </a:solidFill>
                <a:latin typeface="Montserrat Medium"/>
                <a:ea typeface="Montserrat Medium"/>
                <a:cs typeface="Montserrat Medium"/>
                <a:sym typeface="Montserrat Medium"/>
              </a:rPr>
              <a:t>Release</a:t>
            </a:r>
            <a:r>
              <a:rPr lang="en-CA">
                <a:solidFill>
                  <a:srgbClr val="FFFFFF"/>
                </a:solidFill>
                <a:latin typeface="Montserrat Medium"/>
                <a:ea typeface="Montserrat Medium"/>
                <a:cs typeface="Montserrat Medium"/>
                <a:sym typeface="Montserrat Medium"/>
              </a:rPr>
              <a:t> Artifacts</a:t>
            </a:r>
            <a:endParaRPr>
              <a:solidFill>
                <a:srgbClr val="FFFFFF"/>
              </a:solidFill>
              <a:latin typeface="Montserrat Medium"/>
              <a:ea typeface="Montserrat Medium"/>
              <a:cs typeface="Montserrat Medium"/>
              <a:sym typeface="Montserrat Medium"/>
            </a:endParaRPr>
          </a:p>
        </p:txBody>
      </p:sp>
      <p:sp>
        <p:nvSpPr>
          <p:cNvPr id="307" name="Google Shape;307;p27"/>
          <p:cNvSpPr/>
          <p:nvPr/>
        </p:nvSpPr>
        <p:spPr>
          <a:xfrm>
            <a:off x="7098826" y="2517266"/>
            <a:ext cx="1295400" cy="7413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Changelog</a:t>
            </a:r>
            <a:endParaRPr>
              <a:solidFill>
                <a:srgbClr val="FFFFFF"/>
              </a:solidFill>
              <a:latin typeface="Montserrat Medium"/>
              <a:ea typeface="Montserrat Medium"/>
              <a:cs typeface="Montserrat Medium"/>
              <a:sym typeface="Montserrat Medium"/>
            </a:endParaRPr>
          </a:p>
        </p:txBody>
      </p:sp>
      <p:cxnSp>
        <p:nvCxnSpPr>
          <p:cNvPr id="308" name="Google Shape;308;p27"/>
          <p:cNvCxnSpPr>
            <a:stCxn id="301" idx="3"/>
            <a:endCxn id="303" idx="1"/>
          </p:cNvCxnSpPr>
          <p:nvPr/>
        </p:nvCxnSpPr>
        <p:spPr>
          <a:xfrm flipH="1" rot="10800000">
            <a:off x="6155763" y="1426539"/>
            <a:ext cx="895500" cy="2722500"/>
          </a:xfrm>
          <a:prstGeom prst="bentConnector3">
            <a:avLst>
              <a:gd fmla="val 49992" name="adj1"/>
            </a:avLst>
          </a:prstGeom>
          <a:noFill/>
          <a:ln cap="flat" cmpd="sng" w="19050">
            <a:solidFill>
              <a:srgbClr val="1155CC"/>
            </a:solidFill>
            <a:prstDash val="dash"/>
            <a:round/>
            <a:headEnd len="med" w="med" type="none"/>
            <a:tailEnd len="med" w="med" type="triangle"/>
          </a:ln>
        </p:spPr>
      </p:cxnSp>
      <p:cxnSp>
        <p:nvCxnSpPr>
          <p:cNvPr id="309" name="Google Shape;309;p27"/>
          <p:cNvCxnSpPr>
            <a:stCxn id="290" idx="2"/>
            <a:endCxn id="291" idx="0"/>
          </p:cNvCxnSpPr>
          <p:nvPr/>
        </p:nvCxnSpPr>
        <p:spPr>
          <a:xfrm flipH="1">
            <a:off x="3352901" y="1878991"/>
            <a:ext cx="7200" cy="525000"/>
          </a:xfrm>
          <a:prstGeom prst="straightConnector1">
            <a:avLst/>
          </a:prstGeom>
          <a:noFill/>
          <a:ln cap="flat" cmpd="sng" w="19050">
            <a:solidFill>
              <a:srgbClr val="1255CC"/>
            </a:solidFill>
            <a:prstDash val="solid"/>
            <a:round/>
            <a:headEnd len="med" w="med" type="none"/>
            <a:tailEnd len="med" w="med" type="triangle"/>
          </a:ln>
        </p:spPr>
      </p:cxnSp>
      <p:cxnSp>
        <p:nvCxnSpPr>
          <p:cNvPr id="310" name="Google Shape;310;p27"/>
          <p:cNvCxnSpPr>
            <a:stCxn id="303" idx="2"/>
            <a:endCxn id="307" idx="0"/>
          </p:cNvCxnSpPr>
          <p:nvPr/>
        </p:nvCxnSpPr>
        <p:spPr>
          <a:xfrm>
            <a:off x="7746526" y="1878991"/>
            <a:ext cx="0" cy="638400"/>
          </a:xfrm>
          <a:prstGeom prst="straightConnector1">
            <a:avLst/>
          </a:prstGeom>
          <a:noFill/>
          <a:ln cap="flat" cmpd="sng" w="19050">
            <a:solidFill>
              <a:srgbClr val="1155CC"/>
            </a:solidFill>
            <a:prstDash val="dash"/>
            <a:round/>
            <a:headEnd len="med" w="med" type="none"/>
            <a:tailEnd len="med" w="med" type="triangle"/>
          </a:ln>
        </p:spPr>
      </p:cxnSp>
      <p:cxnSp>
        <p:nvCxnSpPr>
          <p:cNvPr id="311" name="Google Shape;311;p27"/>
          <p:cNvCxnSpPr>
            <a:stCxn id="307" idx="2"/>
            <a:endCxn id="306" idx="0"/>
          </p:cNvCxnSpPr>
          <p:nvPr/>
        </p:nvCxnSpPr>
        <p:spPr>
          <a:xfrm>
            <a:off x="7746526" y="3258566"/>
            <a:ext cx="0" cy="638400"/>
          </a:xfrm>
          <a:prstGeom prst="straightConnector1">
            <a:avLst/>
          </a:prstGeom>
          <a:noFill/>
          <a:ln cap="flat" cmpd="sng" w="19050">
            <a:solidFill>
              <a:srgbClr val="1155CC"/>
            </a:solidFill>
            <a:prstDash val="dash"/>
            <a:round/>
            <a:headEnd len="med" w="med" type="none"/>
            <a:tailEnd len="med" w="med" type="triangle"/>
          </a:ln>
        </p:spPr>
      </p:cxnSp>
      <p:sp>
        <p:nvSpPr>
          <p:cNvPr id="312" name="Google Shape;312;p27"/>
          <p:cNvSpPr/>
          <p:nvPr/>
        </p:nvSpPr>
        <p:spPr>
          <a:xfrm>
            <a:off x="3201765" y="1922902"/>
            <a:ext cx="302400" cy="302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313" name="Google Shape;313;p27"/>
          <p:cNvSpPr/>
          <p:nvPr/>
        </p:nvSpPr>
        <p:spPr>
          <a:xfrm>
            <a:off x="2127214" y="1950427"/>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1</a:t>
            </a:r>
            <a:endParaRPr>
              <a:solidFill>
                <a:srgbClr val="FFFFFF"/>
              </a:solidFill>
              <a:latin typeface="Montserrat Medium"/>
              <a:ea typeface="Montserrat Medium"/>
              <a:cs typeface="Montserrat Medium"/>
              <a:sym typeface="Montserrat Medium"/>
            </a:endParaRPr>
          </a:p>
        </p:txBody>
      </p:sp>
      <p:sp>
        <p:nvSpPr>
          <p:cNvPr id="314" name="Google Shape;314;p27"/>
          <p:cNvSpPr/>
          <p:nvPr/>
        </p:nvSpPr>
        <p:spPr>
          <a:xfrm>
            <a:off x="2127214" y="3258577"/>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315" name="Google Shape;315;p27"/>
          <p:cNvSpPr/>
          <p:nvPr/>
        </p:nvSpPr>
        <p:spPr>
          <a:xfrm>
            <a:off x="4158415" y="1273578"/>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316" name="Google Shape;316;p27"/>
          <p:cNvSpPr/>
          <p:nvPr/>
        </p:nvSpPr>
        <p:spPr>
          <a:xfrm>
            <a:off x="4158415" y="2699003"/>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317" name="Google Shape;317;p27"/>
          <p:cNvSpPr/>
          <p:nvPr/>
        </p:nvSpPr>
        <p:spPr>
          <a:xfrm>
            <a:off x="4158415" y="397143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
        <p:nvSpPr>
          <p:cNvPr id="318" name="Google Shape;318;p27"/>
          <p:cNvSpPr/>
          <p:nvPr/>
        </p:nvSpPr>
        <p:spPr>
          <a:xfrm>
            <a:off x="6449240" y="1273578"/>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4</a:t>
            </a:r>
            <a:endParaRPr>
              <a:solidFill>
                <a:srgbClr val="FFFFFF"/>
              </a:solidFill>
              <a:latin typeface="Montserrat Medium"/>
              <a:ea typeface="Montserrat Medium"/>
              <a:cs typeface="Montserrat Medium"/>
              <a:sym typeface="Montserrat Medium"/>
            </a:endParaRPr>
          </a:p>
        </p:txBody>
      </p:sp>
      <p:sp>
        <p:nvSpPr>
          <p:cNvPr id="319" name="Google Shape;319;p27"/>
          <p:cNvSpPr/>
          <p:nvPr/>
        </p:nvSpPr>
        <p:spPr>
          <a:xfrm>
            <a:off x="7593515" y="1988502"/>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320" name="Google Shape;320;p27"/>
          <p:cNvSpPr/>
          <p:nvPr/>
        </p:nvSpPr>
        <p:spPr>
          <a:xfrm>
            <a:off x="7593515" y="330886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28"/>
          <p:cNvPicPr preferRelativeResize="0"/>
          <p:nvPr/>
        </p:nvPicPr>
        <p:blipFill>
          <a:blip r:embed="rId3">
            <a:alphaModFix/>
          </a:blip>
          <a:stretch>
            <a:fillRect/>
          </a:stretch>
        </p:blipFill>
        <p:spPr>
          <a:xfrm>
            <a:off x="775325" y="150932"/>
            <a:ext cx="7593349" cy="4124300"/>
          </a:xfrm>
          <a:prstGeom prst="rect">
            <a:avLst/>
          </a:prstGeom>
          <a:noFill/>
          <a:ln>
            <a:noFill/>
          </a:ln>
        </p:spPr>
      </p:pic>
      <p:sp>
        <p:nvSpPr>
          <p:cNvPr id="326" name="Google Shape;326;p28"/>
          <p:cNvSpPr txBox="1"/>
          <p:nvPr>
            <p:ph type="title"/>
          </p:nvPr>
        </p:nvSpPr>
        <p:spPr>
          <a:xfrm>
            <a:off x="1490700" y="433607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Generating Provenance for Binaries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29"/>
          <p:cNvCxnSpPr>
            <a:endCxn id="332" idx="1"/>
          </p:cNvCxnSpPr>
          <p:nvPr/>
        </p:nvCxnSpPr>
        <p:spPr>
          <a:xfrm>
            <a:off x="819050" y="2885195"/>
            <a:ext cx="1034100" cy="602700"/>
          </a:xfrm>
          <a:prstGeom prst="bentConnector3">
            <a:avLst>
              <a:gd fmla="val 97" name="adj1"/>
            </a:avLst>
          </a:prstGeom>
          <a:noFill/>
          <a:ln cap="flat" cmpd="sng" w="19050">
            <a:solidFill>
              <a:srgbClr val="1255CC"/>
            </a:solidFill>
            <a:prstDash val="solid"/>
            <a:round/>
            <a:headEnd len="med" w="med" type="none"/>
            <a:tailEnd len="med" w="med" type="triangle"/>
          </a:ln>
        </p:spPr>
      </p:cxnSp>
      <p:pic>
        <p:nvPicPr>
          <p:cNvPr id="333" name="Google Shape;333;p29"/>
          <p:cNvPicPr preferRelativeResize="0"/>
          <p:nvPr/>
        </p:nvPicPr>
        <p:blipFill>
          <a:blip r:embed="rId3">
            <a:alphaModFix/>
          </a:blip>
          <a:stretch>
            <a:fillRect/>
          </a:stretch>
        </p:blipFill>
        <p:spPr>
          <a:xfrm>
            <a:off x="182656" y="141545"/>
            <a:ext cx="6386550" cy="2759850"/>
          </a:xfrm>
          <a:prstGeom prst="rect">
            <a:avLst/>
          </a:prstGeom>
          <a:noFill/>
          <a:ln>
            <a:noFill/>
          </a:ln>
        </p:spPr>
      </p:pic>
      <p:pic>
        <p:nvPicPr>
          <p:cNvPr id="332" name="Google Shape;332;p29"/>
          <p:cNvPicPr preferRelativeResize="0"/>
          <p:nvPr/>
        </p:nvPicPr>
        <p:blipFill>
          <a:blip r:embed="rId4">
            <a:alphaModFix/>
          </a:blip>
          <a:stretch>
            <a:fillRect/>
          </a:stretch>
        </p:blipFill>
        <p:spPr>
          <a:xfrm>
            <a:off x="1853150" y="2711794"/>
            <a:ext cx="7127649" cy="1552200"/>
          </a:xfrm>
          <a:prstGeom prst="rect">
            <a:avLst/>
          </a:prstGeom>
          <a:noFill/>
          <a:ln cap="flat" cmpd="sng" w="1905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sp>
        <p:nvSpPr>
          <p:cNvPr id="334" name="Google Shape;334;p29"/>
          <p:cNvSpPr txBox="1"/>
          <p:nvPr>
            <p:ph type="title"/>
          </p:nvPr>
        </p:nvSpPr>
        <p:spPr>
          <a:xfrm>
            <a:off x="1490700" y="436559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Provenance Generation &amp; Verification</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0"/>
          <p:cNvSpPr txBox="1"/>
          <p:nvPr/>
        </p:nvSpPr>
        <p:spPr>
          <a:xfrm>
            <a:off x="628650" y="1176500"/>
            <a:ext cx="6296100" cy="3448200"/>
          </a:xfrm>
          <a:prstGeom prst="rect">
            <a:avLst/>
          </a:prstGeom>
          <a:noFill/>
          <a:ln>
            <a:noFill/>
          </a:ln>
        </p:spPr>
        <p:txBody>
          <a:bodyPr anchorCtr="0" anchor="t" bIns="68575" lIns="68575" spcFirstLastPara="1" rIns="68575" wrap="square" tIns="6857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CII Best Practices Gold Batch</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SLSA L3 Level Completion</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Image Provenance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Better Response on Known/Unknown Vulnerabilities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Improvements on OpenSSF score</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800"/>
              </a:spcBef>
              <a:spcAft>
                <a:spcPts val="500"/>
              </a:spcAft>
              <a:buClr>
                <a:schemeClr val="dk1"/>
              </a:buClr>
              <a:buSzPts val="2000"/>
              <a:buFont typeface="Montserrat Medium"/>
              <a:buChar char="○"/>
            </a:pPr>
            <a:r>
              <a:rPr lang="en-CA" sz="2000">
                <a:solidFill>
                  <a:schemeClr val="dk1"/>
                </a:solidFill>
                <a:latin typeface="Montserrat Medium"/>
                <a:ea typeface="Montserrat Medium"/>
                <a:cs typeface="Montserrat Medium"/>
                <a:sym typeface="Montserrat Medium"/>
              </a:rPr>
              <a:t>Enable Fuzzing</a:t>
            </a:r>
            <a:endParaRPr sz="2000">
              <a:solidFill>
                <a:schemeClr val="dk1"/>
              </a:solidFill>
              <a:latin typeface="Montserrat Medium"/>
              <a:ea typeface="Montserrat Medium"/>
              <a:cs typeface="Montserrat Medium"/>
              <a:sym typeface="Montserrat Medium"/>
            </a:endParaRPr>
          </a:p>
        </p:txBody>
      </p:sp>
      <p:sp>
        <p:nvSpPr>
          <p:cNvPr id="340" name="Google Shape;340;p30"/>
          <p:cNvSpPr txBox="1"/>
          <p:nvPr>
            <p:ph type="title"/>
          </p:nvPr>
        </p:nvSpPr>
        <p:spPr>
          <a:xfrm>
            <a:off x="741525" y="209176"/>
            <a:ext cx="7984800" cy="7848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Next Steps</a:t>
            </a:r>
            <a:endParaRPr b="1" sz="3200">
              <a:solidFill>
                <a:srgbClr val="1C4587"/>
              </a:solidFill>
              <a:latin typeface="Montserrat"/>
              <a:ea typeface="Montserrat"/>
              <a:cs typeface="Montserrat"/>
              <a:sym typeface="Montserrat"/>
            </a:endParaRPr>
          </a:p>
        </p:txBody>
      </p:sp>
      <p:sp>
        <p:nvSpPr>
          <p:cNvPr id="341" name="Google Shape;341;p30"/>
          <p:cNvSpPr/>
          <p:nvPr/>
        </p:nvSpPr>
        <p:spPr>
          <a:xfrm>
            <a:off x="718628" y="1335850"/>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0"/>
          <p:cNvSpPr/>
          <p:nvPr/>
        </p:nvSpPr>
        <p:spPr>
          <a:xfrm>
            <a:off x="718628" y="1787175"/>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30"/>
          <p:cNvSpPr/>
          <p:nvPr/>
        </p:nvSpPr>
        <p:spPr>
          <a:xfrm>
            <a:off x="718628" y="2241524"/>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30"/>
          <p:cNvSpPr/>
          <p:nvPr/>
        </p:nvSpPr>
        <p:spPr>
          <a:xfrm>
            <a:off x="718628" y="2692849"/>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0"/>
          <p:cNvSpPr/>
          <p:nvPr/>
        </p:nvSpPr>
        <p:spPr>
          <a:xfrm>
            <a:off x="718628" y="3494874"/>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30"/>
          <p:cNvSpPr/>
          <p:nvPr/>
        </p:nvSpPr>
        <p:spPr>
          <a:xfrm>
            <a:off x="796928" y="1500550"/>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30"/>
          <p:cNvSpPr/>
          <p:nvPr/>
        </p:nvSpPr>
        <p:spPr>
          <a:xfrm>
            <a:off x="796928" y="1951938"/>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30"/>
          <p:cNvSpPr/>
          <p:nvPr/>
        </p:nvSpPr>
        <p:spPr>
          <a:xfrm>
            <a:off x="796928" y="2403338"/>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30"/>
          <p:cNvSpPr/>
          <p:nvPr/>
        </p:nvSpPr>
        <p:spPr>
          <a:xfrm>
            <a:off x="796925" y="2854765"/>
            <a:ext cx="8100" cy="6372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1"/>
          <p:cNvSpPr txBox="1"/>
          <p:nvPr>
            <p:ph type="title"/>
          </p:nvPr>
        </p:nvSpPr>
        <p:spPr>
          <a:xfrm>
            <a:off x="2604150" y="2123700"/>
            <a:ext cx="3935700" cy="8961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b="1" lang="en-CA" sz="5000">
                <a:latin typeface="Montserrat"/>
                <a:ea typeface="Montserrat"/>
                <a:cs typeface="Montserrat"/>
                <a:sym typeface="Montserrat"/>
              </a:rPr>
              <a:t>Thank You</a:t>
            </a:r>
            <a:endParaRPr b="1" sz="5000">
              <a:latin typeface="Montserrat"/>
              <a:ea typeface="Montserrat"/>
              <a:cs typeface="Montserrat"/>
              <a:sym typeface="Montserrat"/>
            </a:endParaRPr>
          </a:p>
        </p:txBody>
      </p:sp>
      <p:sp>
        <p:nvSpPr>
          <p:cNvPr id="355" name="Google Shape;355;p31"/>
          <p:cNvSpPr txBox="1"/>
          <p:nvPr/>
        </p:nvSpPr>
        <p:spPr>
          <a:xfrm>
            <a:off x="6446550" y="4281075"/>
            <a:ext cx="22092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CA" sz="2000">
                <a:solidFill>
                  <a:schemeClr val="lt1"/>
                </a:solidFill>
                <a:latin typeface="Montserrat"/>
                <a:ea typeface="Montserrat"/>
                <a:cs typeface="Montserrat"/>
                <a:sym typeface="Montserrat"/>
              </a:rPr>
              <a:t>Sanket Sudake</a:t>
            </a:r>
            <a:endParaRPr b="1" sz="2000">
              <a:solidFill>
                <a:schemeClr val="lt1"/>
              </a:solidFill>
              <a:latin typeface="Montserrat"/>
              <a:ea typeface="Montserrat"/>
              <a:cs typeface="Montserrat"/>
              <a:sym typeface="Montserrat"/>
            </a:endParaRPr>
          </a:p>
          <a:p>
            <a:pPr indent="0" lvl="0" marL="0" rtl="0" algn="l">
              <a:lnSpc>
                <a:spcPct val="90000"/>
              </a:lnSpc>
              <a:spcBef>
                <a:spcPts val="0"/>
              </a:spcBef>
              <a:spcAft>
                <a:spcPts val="0"/>
              </a:spcAft>
              <a:buNone/>
            </a:pPr>
            <a:r>
              <a:rPr lang="en-CA" sz="1600">
                <a:solidFill>
                  <a:schemeClr val="lt1"/>
                </a:solidFill>
                <a:latin typeface="Montserrat Medium"/>
                <a:ea typeface="Montserrat Medium"/>
                <a:cs typeface="Montserrat Medium"/>
                <a:sym typeface="Montserrat Medium"/>
              </a:rPr>
              <a:t>10th Dec, 2024</a:t>
            </a:r>
            <a:endParaRPr sz="1600">
              <a:solidFill>
                <a:schemeClr val="lt1"/>
              </a:solidFill>
              <a:latin typeface="Montserrat Medium"/>
              <a:ea typeface="Montserrat Medium"/>
              <a:cs typeface="Montserrat Medium"/>
              <a:sym typeface="Montserrat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