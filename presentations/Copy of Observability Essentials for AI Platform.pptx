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Economica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Fira Code"/>
      <p:regular r:id="rId42"/>
      <p:bold r:id="rId43"/>
    </p:embeddedFont>
    <p:embeddedFont>
      <p:font typeface="Inter Medium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C55D4C-1461-45B5-A0F7-9CC12DFAE424}">
  <a:tblStyle styleId="{D8C55D4C-1461-45B5-A0F7-9CC12DFAE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42" Type="http://schemas.openxmlformats.org/officeDocument/2006/relationships/font" Target="fonts/FiraCode-regular.fntdata"/><Relationship Id="rId41" Type="http://schemas.openxmlformats.org/officeDocument/2006/relationships/font" Target="fonts/Lato-boldItalic.fntdata"/><Relationship Id="rId44" Type="http://schemas.openxmlformats.org/officeDocument/2006/relationships/font" Target="fonts/InterMedium-regular.fntdata"/><Relationship Id="rId43" Type="http://schemas.openxmlformats.org/officeDocument/2006/relationships/font" Target="fonts/FiraCode-bold.fntdata"/><Relationship Id="rId46" Type="http://schemas.openxmlformats.org/officeDocument/2006/relationships/font" Target="fonts/InterMedium-italic.fntdata"/><Relationship Id="rId45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regular.fntdata"/><Relationship Id="rId47" Type="http://schemas.openxmlformats.org/officeDocument/2006/relationships/font" Target="fonts/InterMedium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33" Type="http://schemas.openxmlformats.org/officeDocument/2006/relationships/font" Target="fonts/Economica-boldItalic.fntdata"/><Relationship Id="rId32" Type="http://schemas.openxmlformats.org/officeDocument/2006/relationships/font" Target="fonts/Economica-italic.fntdata"/><Relationship Id="rId35" Type="http://schemas.openxmlformats.org/officeDocument/2006/relationships/font" Target="fonts/Inter-bold.fntdata"/><Relationship Id="rId34" Type="http://schemas.openxmlformats.org/officeDocument/2006/relationships/font" Target="fonts/Inter-regular.fntdata"/><Relationship Id="rId37" Type="http://schemas.openxmlformats.org/officeDocument/2006/relationships/font" Target="fonts/Inter-boldItalic.fntdata"/><Relationship Id="rId36" Type="http://schemas.openxmlformats.org/officeDocument/2006/relationships/font" Target="fonts/Inter-italic.fntdata"/><Relationship Id="rId39" Type="http://schemas.openxmlformats.org/officeDocument/2006/relationships/font" Target="fonts/Lato-bold.fntdata"/><Relationship Id="rId38" Type="http://schemas.openxmlformats.org/officeDocument/2006/relationships/font" Target="fonts/Lato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buildkite.com/vllm/performance-benchmark/builds/4068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dee7c4c1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cdee7c4c1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443ae6dd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2443ae6dd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2443ae6dd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2443ae6dd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 Apps are becoming integral part of our workflows now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ChatGPT, Claude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Copilot, Cursor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Perplexity, Fireflies.ai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Sovereign AI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Private and secure data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Control over platform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Consider pharma, security, fintech use cases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Enterprise AI use cases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Performance is crucial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Specialized hardware utilization and observability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Insights into model performance, AI services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Adapting new models and  innovations in a measurable way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Latency Sensitive workloads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443ae6dd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443ae6dd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2443ae6dd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2443ae6dd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different layers from bottom to 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2443ae6dd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2443ae6dd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Layer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Traditional Monitoring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AI Platform Monitoring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Workloads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Monitors static, predefined workloads with predictable resource usage.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Requires real-time monitoring of dynamic workloads with fluctuating resource demands and performance.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ML Lifecycle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Focuses on system health, uptime, and static performance metrics.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Continuously tracks model accuracy, drift, and data integrity across the ML lifecycle to ensure reliability.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Platform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Monitors a relatively uniform tech stack with limited variability.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Observes diverse, evolving AI frameworks and tools, requiring scalable and flexible monitoring solutions.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Infrastructure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Focuses on maintaining steady resource usage and system performance.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Monitors resource-intensive operations, optimizing GPU/TPU utilization and managing high-throughput AI processing.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Hardware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Tracks general-purpose hardware with basic performance metrics.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Requires specialized monitoring for AI-specific hardware, including GPUs and TPUs, with focus on utilization, temperature, and performance.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443ae6dd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443ae6dd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443ae6dd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2443ae6dd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Critical services and expanding bucket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Generation(Text, Image, Video, Speech)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Embeddings  (RAG use cases)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Reranker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 Guard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Vector databases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Works very differently from traditional microservices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Requests are batched and passed to a model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Processing Limited by GPU memory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Vector databases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443ae6dd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443ae6dd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Batching from inference serving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7daaf375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f7daaf375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requirements for LLMA 3.1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dee7c4c1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cdee7c4c1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dee7c4c1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cdee7c4c1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https://buildkite.com/vllm/performance-benchmark/builds/4068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Inference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Throughput (Token/sec, higher the better) 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TTFT (time to first token, lower the better)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ITL (inter-token latency, lower the better)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Request Prompt Length/ Generation Length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Cache utilization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GPU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Framebuffer memory (free vs used)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GPU to Memory and Memory to GPU copy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GPU to GPU communication (In/Out metrics)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Utilization (higher the better)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Temperature 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Clock frequency 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Power Consumption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443ae6dd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2443ae6dd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GPU stack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Containerd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GPU driver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Device Plugin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Container Toolkit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Node feature discovery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NCCL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Services logs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Inference servers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2" marL="137160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■"/>
            </a:pPr>
            <a:r>
              <a:rPr lang="en" sz="1000">
                <a:solidFill>
                  <a:srgbClr val="2A2E3A"/>
                </a:solidFill>
                <a:latin typeface="Fira Code"/>
                <a:ea typeface="Fira Code"/>
                <a:cs typeface="Fira Code"/>
                <a:sym typeface="Fira Code"/>
              </a:rPr>
              <a:t>Request ID = 12345, Response Time = 85ms, Status = 200 OK</a:t>
            </a:r>
            <a:endParaRPr sz="10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Vector db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Long Running Jobs - Troubleshooting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Training jobs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processing/Pipeline jobs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Fine tuning jobs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443ae6dd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2443ae6dd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 Applications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Agent Apps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RAG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LLM Calling chains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RLHF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User Query =&gt; Model Prediction =&gt;  User Feedback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Resource allocation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Jobs/Pods =&gt; GPU profile matching =&gt; Allocations/Usage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 Execution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Preprocessing =&gt; Batching =&gt; Post processing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Flow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ingestion =&gt; Transformation =&gt; Input/Usage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2443ae6dd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2443ae6dd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Prometheus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Grafana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Nvidia DCGM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Tensorflow profiler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Kube-prometheus-stack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AI/ML jobs specific (W&amp;B or similar)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Hyperparameter tuning tracking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Pretraining/Fine tuning jobs 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 Pipelines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443ae6dd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2443ae6dd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ELK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Loki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Fluend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Filebeat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Tensor Board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2443ae6dd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2443ae6dd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Opentelemetry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Collectors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Jager 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Zipkin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LLM Gateway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443ae6dd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2443ae6dd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443ae6ddf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2443ae6ddf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443ae6dd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2443ae6dd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443ae6ddf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443ae6ddf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Kubernetes Cluster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 master, 4 worker nodes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GPU workers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Intel i9 14000KS 3.2GHz/24C/32MB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 TB NVME SSD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Nvidia 24 GB Card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 TB HDD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1/10 Gbps interconnect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Font typeface="Open Sans"/>
              <a:buChar char="❖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NFS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Intel Nucs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➢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 Registry, Docker images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cdd0b762a7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cdd0b762a7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0"/>
            <a:ext cx="34092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Observability Essentials for AI Platform 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Sanket Sudake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   					@sanketsudake</a:t>
            </a:r>
            <a:endParaRPr/>
          </a:p>
        </p:txBody>
      </p:sp>
      <p:sp>
        <p:nvSpPr>
          <p:cNvPr id="69" name="Google Shape;69;p14"/>
          <p:cNvSpPr txBox="1"/>
          <p:nvPr>
            <p:ph idx="2" type="body"/>
          </p:nvPr>
        </p:nvSpPr>
        <p:spPr>
          <a:xfrm>
            <a:off x="3437925" y="1278800"/>
            <a:ext cx="5072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Principal Engineer, InfraCloud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Interest Areas: AI, Cloud Native Platforms, Distributed Systems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Past: Started as Kernel Engineer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Worked as Go developer, Openstack developer, SRE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Maintainer Fission - Serverless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❖"/>
            </a:pPr>
            <a:r>
              <a:rPr lang="en"/>
              <a:t>Recent AI projects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➢"/>
            </a:pPr>
            <a:r>
              <a:rPr lang="en" sz="1400"/>
              <a:t>Agentic analysis of Source code repository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➢"/>
            </a:pPr>
            <a:r>
              <a:rPr lang="en" sz="1400"/>
              <a:t>Multitenant large scale RAG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400"/>
              <a:buChar char="➢"/>
            </a:pPr>
            <a:r>
              <a:rPr lang="en" sz="1400"/>
              <a:t>Building Large Scale AI Cloud</a:t>
            </a:r>
            <a:endParaRPr sz="1400"/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0" l="12725" r="12732" t="0"/>
          <a:stretch/>
        </p:blipFill>
        <p:spPr>
          <a:xfrm>
            <a:off x="654900" y="1278799"/>
            <a:ext cx="2076699" cy="249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Observability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AI Apps are becoming </a:t>
            </a:r>
            <a:r>
              <a:rPr lang="en"/>
              <a:t>integral</a:t>
            </a:r>
            <a:r>
              <a:rPr lang="en"/>
              <a:t> part of our workflows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ChatGPT, Claude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Copilot, Cursor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Perplexity, </a:t>
            </a:r>
            <a:r>
              <a:rPr lang="en"/>
              <a:t>Fireflies.ai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Sovereign AI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Private and secure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Control over platform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Consider pharma, security, fintech use 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Enterprise AI use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Performance is crucial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Specialized hardware utilization and observability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Insights into model performance, AI services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Adapting new models and  innovations in a measurable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Latency Sensitive workloads</a:t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for AI Observability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Platforms 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1494108" y="578644"/>
            <a:ext cx="6155785" cy="3986213"/>
          </a:xfrm>
          <a:custGeom>
            <a:rect b="b" l="l" r="r" t="t"/>
            <a:pathLst>
              <a:path extrusionOk="0" h="10287000" w="10943617">
                <a:moveTo>
                  <a:pt x="0" y="0"/>
                </a:moveTo>
                <a:lnTo>
                  <a:pt x="10943617" y="0"/>
                </a:lnTo>
                <a:lnTo>
                  <a:pt x="109436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Generalist</a:t>
            </a:r>
            <a:r>
              <a:rPr lang="en"/>
              <a:t> 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19"/>
          <p:cNvGraphicFramePr/>
          <p:nvPr/>
        </p:nvGraphicFramePr>
        <p:xfrm>
          <a:off x="742275" y="104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{D8C55D4C-1461-45B5-A0F7-9CC12DFAE424}</a:tableStyleId>
              </a:tblPr>
              <a:tblGrid>
                <a:gridCol w="1690300"/>
                <a:gridCol w="3083300"/>
                <a:gridCol w="3191900"/>
              </a:tblGrid>
              <a:tr h="35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Layer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Traditional Monitoring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AI Platform Monitoring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B26B"/>
                    </a:solidFill>
                  </a:tcPr>
                </a:tc>
              </a:tr>
              <a:tr h="80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Workloads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Monitors static, predefined workloads with predictable resource usage.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Requires real-time monitoring of dynamic workloads with fluctuating resource demands and performance.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ML Lifecycle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Focuses on system health, uptime, and static performance metrics.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Continuously tracks model accuracy, drift, and data integrity across the ML lifecycle to ensure reliability.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Platform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Monitors a relatively uniform tech stack with limited variability.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Observes diverse, evolving AI frameworks and tools, requiring scalable and flexible monitoring solutions.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Infrastructure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Focuses on maintaining steady resource usage and system performance.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Monitors resource-intensive operations, optimizing GPU/TPU utilization and managing high-throughput AI processing.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Hardware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Tracks general-purpose hardware with basic performance metrics.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Requires specialized monitoring for AI-specific hardware, including GPUs and TPUs, with focus on utilization, temperature, and performance.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DBF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3502850" y="3105942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GPU Instances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03" name="Google Shape;103;p20"/>
          <p:cNvGraphicFramePr/>
          <p:nvPr/>
        </p:nvGraphicFramePr>
        <p:xfrm>
          <a:off x="107321" y="3632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{D8C55D4C-1461-45B5-A0F7-9CC12DFAE424}</a:tableStyleId>
              </a:tblPr>
              <a:tblGrid>
                <a:gridCol w="1315625"/>
                <a:gridCol w="1957250"/>
                <a:gridCol w="1895150"/>
                <a:gridCol w="1895175"/>
                <a:gridCol w="1843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Service</a:t>
                      </a:r>
                      <a:endParaRPr b="1" sz="12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5E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Machines</a:t>
                      </a:r>
                      <a:endParaRPr b="1" sz="12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5E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Deployments</a:t>
                      </a:r>
                      <a:endParaRPr b="1" sz="12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5E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 Spaces</a:t>
                      </a:r>
                      <a:endParaRPr b="1" sz="12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5E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LLM API</a:t>
                      </a:r>
                      <a:endParaRPr b="1" sz="120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85EC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Target User</a:t>
                      </a:r>
                      <a:endParaRPr sz="1100"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Sysadmin, DevOps</a:t>
                      </a:r>
                      <a:endParaRPr sz="1100"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Data Scientists, Developers</a:t>
                      </a:r>
                      <a:endParaRPr sz="1100"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Data Scientist</a:t>
                      </a:r>
                      <a:r>
                        <a:rPr lang="en" sz="1100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, Developer </a:t>
                      </a:r>
                      <a:endParaRPr sz="1100"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Developers</a:t>
                      </a:r>
                      <a:endParaRPr sz="1100"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BFC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34D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B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20"/>
          <p:cNvSpPr txBox="1"/>
          <p:nvPr/>
        </p:nvSpPr>
        <p:spPr>
          <a:xfrm>
            <a:off x="197771" y="123925"/>
            <a:ext cx="3670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FA6400"/>
                </a:solidFill>
                <a:latin typeface="Lato"/>
                <a:ea typeface="Lato"/>
                <a:cs typeface="Lato"/>
                <a:sym typeface="Lato"/>
              </a:rPr>
              <a:t>Platform vs </a:t>
            </a:r>
            <a:r>
              <a:rPr b="1" lang="en" sz="2700">
                <a:solidFill>
                  <a:srgbClr val="534DA4"/>
                </a:solidFill>
                <a:latin typeface="Lato"/>
                <a:ea typeface="Lato"/>
                <a:cs typeface="Lato"/>
                <a:sym typeface="Lato"/>
              </a:rPr>
              <a:t>Consumer</a:t>
            </a:r>
            <a:endParaRPr b="1" sz="2700">
              <a:solidFill>
                <a:srgbClr val="534DA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5418199" y="3105942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GPU Instances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1597850" y="3105942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GPU Instances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7333546" y="3105942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GPU Instances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3502850" y="2648742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Orchestration Layer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5418199" y="2644040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Orchestration Layer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7333546" y="2639338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Orchestration Layer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5418199" y="2182138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AI Notebooks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7333546" y="2172735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Model Catalog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5418199" y="1720236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AI Frameworks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(Tensorflow, Pytorch)</a:t>
            </a:r>
            <a:endParaRPr b="1" sz="8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7343896" y="1706131"/>
            <a:ext cx="1634400" cy="3987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Inference Servers</a:t>
            </a:r>
            <a:endParaRPr b="1" sz="11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FCFD"/>
                </a:solidFill>
                <a:latin typeface="Inter"/>
                <a:ea typeface="Inter"/>
                <a:cs typeface="Inter"/>
                <a:sym typeface="Inter"/>
              </a:rPr>
              <a:t>(Triton, KServe)</a:t>
            </a:r>
            <a:endParaRPr b="1" sz="800">
              <a:solidFill>
                <a:srgbClr val="FB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1597850" y="2642149"/>
            <a:ext cx="1634400" cy="3987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Operating System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(SSH access)</a:t>
            </a:r>
            <a:endParaRPr b="1"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3502846" y="2178358"/>
            <a:ext cx="785100" cy="3987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Containers</a:t>
            </a:r>
            <a:endParaRPr b="1"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4351243" y="2178358"/>
            <a:ext cx="785100" cy="3987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Containers</a:t>
            </a:r>
            <a:endParaRPr b="1" sz="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5418198" y="1259274"/>
            <a:ext cx="1634400" cy="3987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Code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7343896" y="1251780"/>
            <a:ext cx="1634400" cy="3987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Client</a:t>
            </a:r>
            <a:endParaRPr b="1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127552" y="2743484"/>
            <a:ext cx="314700" cy="214500"/>
          </a:xfrm>
          <a:prstGeom prst="rect">
            <a:avLst/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137901" y="3155531"/>
            <a:ext cx="314700" cy="214500"/>
          </a:xfrm>
          <a:prstGeom prst="rect">
            <a:avLst/>
          </a:prstGeom>
          <a:gradFill>
            <a:gsLst>
              <a:gs pos="0">
                <a:srgbClr val="D1B9FF"/>
              </a:gs>
              <a:gs pos="100000">
                <a:srgbClr val="703CD5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431898" y="2617683"/>
            <a:ext cx="106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Consumed by Platform User</a:t>
            </a:r>
            <a:endParaRPr sz="1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431898" y="3009032"/>
            <a:ext cx="106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Platform </a:t>
            </a:r>
            <a:endParaRPr sz="1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provider</a:t>
            </a:r>
            <a:endParaRPr sz="1000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Critical services and expanding bucket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Generation(Text, Image, Video, Speech)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Embeddings  (RAG use cases)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Reranker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Prompt Guard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Vector databases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Works very differently from traditional microservices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Requests are batched and passed to a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Processing Limited by GPU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Vector databases </a:t>
            </a:r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Inferencing Observability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825" y="-36125"/>
            <a:ext cx="7283074" cy="43592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Inference Serving</a:t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4609075" y="4127807"/>
            <a:ext cx="1115100" cy="722700"/>
          </a:xfrm>
          <a:prstGeom prst="smileyFace">
            <a:avLst>
              <a:gd fmla="val 4653" name="adj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</a:t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6750921" y="4101650"/>
            <a:ext cx="996300" cy="775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</a:t>
            </a:r>
            <a:endParaRPr/>
          </a:p>
        </p:txBody>
      </p:sp>
      <p:cxnSp>
        <p:nvCxnSpPr>
          <p:cNvPr id="138" name="Google Shape;138;p22"/>
          <p:cNvCxnSpPr/>
          <p:nvPr/>
        </p:nvCxnSpPr>
        <p:spPr>
          <a:xfrm flipH="1" rot="10800000">
            <a:off x="5712317" y="4378035"/>
            <a:ext cx="1038600" cy="13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22"/>
          <p:cNvCxnSpPr/>
          <p:nvPr/>
        </p:nvCxnSpPr>
        <p:spPr>
          <a:xfrm flipH="1" rot="10800000">
            <a:off x="5724175" y="4593083"/>
            <a:ext cx="10269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 Memory (LLAMA 3.1 Models)</a:t>
            </a:r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25" y="89525"/>
            <a:ext cx="8305800" cy="2133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146" name="Google Shape;14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250" y="2375525"/>
            <a:ext cx="6795314" cy="16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550" y="1450675"/>
            <a:ext cx="4868900" cy="339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Inference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Throughput (Token/sec, higher the better)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TTFT (time to first token, lower the better)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ITL (inter-token latency, lower the better)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Request Prompt Length/ Generation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Cache utilization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GPU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Framebuffer memory (free vs used)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GPU to Memory and Memory to GPU copy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GPU to GPU communication (In/Out metrics)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Utilization (higher the better)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Temperature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Clock frequency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Power Consumption</a:t>
            </a:r>
            <a:endParaRPr/>
          </a:p>
        </p:txBody>
      </p:sp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ct val="100000"/>
              <a:buChar char="❖"/>
            </a:pPr>
            <a:r>
              <a:rPr lang="en"/>
              <a:t>GPU stack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Containerd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GPU driver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Device Plugin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Container Toolkit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Node feature discovery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NCCL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ct val="100000"/>
              <a:buChar char="❖"/>
            </a:pPr>
            <a:r>
              <a:rPr lang="en"/>
              <a:t>Services logs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Inference servers</a:t>
            </a:r>
            <a:endParaRPr/>
          </a:p>
          <a:p>
            <a:pPr indent="-287337" lvl="2" marL="137160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1000">
                <a:solidFill>
                  <a:srgbClr val="2A2E3A"/>
                </a:solidFill>
                <a:latin typeface="Fira Code"/>
                <a:ea typeface="Fira Code"/>
                <a:cs typeface="Fira Code"/>
                <a:sym typeface="Fira Code"/>
              </a:rPr>
              <a:t>Request ID = 12345, Response Time = 85ms, Status = 200 OK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Vector db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ct val="100000"/>
              <a:buChar char="❖"/>
            </a:pPr>
            <a:r>
              <a:rPr lang="en"/>
              <a:t>Long Running Jobs - Troubleshooting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Training jobs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/>
              <a:t>Data processing/Pipeline jobs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12000"/>
              <a:buChar char="➢"/>
            </a:pPr>
            <a:r>
              <a:rPr lang="en"/>
              <a:t>Fine tuning</a:t>
            </a:r>
            <a:r>
              <a:rPr lang="en"/>
              <a:t> jobs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AI Applications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Agent Apps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RAG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LLM Calling chains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RLHF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User Query =&gt; Model Prediction =&gt;  User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Resource allocation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Jobs/Pods =&gt; GPU profile matching</a:t>
            </a:r>
            <a:r>
              <a:rPr lang="en"/>
              <a:t> =&gt; Allocations/Usage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Model Execution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Preprocessing =&gt; Batching =&gt; Post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Data 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Data ingestion =&gt; Transformation =&gt; Input/Usage</a:t>
            </a:r>
            <a:endParaRPr/>
          </a:p>
        </p:txBody>
      </p:sp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Prometheus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Grafana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Nvidia DCGM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Tensorflow profiler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Kube-prometheus-stack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AI/ML jobs specific (W&amp;B or similar)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Hyperparameter </a:t>
            </a:r>
            <a:r>
              <a:rPr lang="en"/>
              <a:t>tuning</a:t>
            </a:r>
            <a:r>
              <a:rPr lang="en"/>
              <a:t> tracking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Pretraining/Fine tuning</a:t>
            </a:r>
            <a:r>
              <a:rPr lang="en"/>
              <a:t> jobs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Data Pipelines</a:t>
            </a:r>
            <a:endParaRPr/>
          </a:p>
        </p:txBody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(Metrics)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ELK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Loki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Fluend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Filebeat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Tensor 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(Logs)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Opentelemetry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Collectors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Jager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Zipkin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LLM Gateway</a:t>
            </a:r>
            <a:endParaRPr/>
          </a:p>
        </p:txBody>
      </p:sp>
      <p:sp>
        <p:nvSpPr>
          <p:cNvPr id="187" name="Google Shape;18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(Tracing)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Stack (HF Services)</a:t>
            </a:r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700" y="-144350"/>
            <a:ext cx="5621599" cy="455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650" y="114625"/>
            <a:ext cx="7048200" cy="448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Stack(NIMs)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Kubernetes Cluster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1 master, 4 worker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GPU workers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Intel i9 14000KS 3.2GHz/24C/32MB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1 TB NVME SSD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Nvidia 24 GB Card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2 TB HDD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1/10 Gbps interconnect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65202"/>
              </a:buClr>
              <a:buSzPts val="1800"/>
              <a:buChar char="❖"/>
            </a:pPr>
            <a:r>
              <a:rPr lang="en"/>
              <a:t>NFS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Intel Nucs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Model Registry, Docker images</a:t>
            </a:r>
            <a:endParaRPr/>
          </a:p>
        </p:txBody>
      </p:sp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:-)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@SanketSudake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5"/>
          <p:cNvSpPr/>
          <p:nvPr/>
        </p:nvSpPr>
        <p:spPr>
          <a:xfrm>
            <a:off x="4997859" y="2351320"/>
            <a:ext cx="440861" cy="440861"/>
          </a:xfrm>
          <a:custGeom>
            <a:rect b="b" l="l" r="r" t="t"/>
            <a:pathLst>
              <a:path extrusionOk="0" h="440861" w="440861">
                <a:moveTo>
                  <a:pt x="0" y="0"/>
                </a:moveTo>
                <a:lnTo>
                  <a:pt x="440860" y="0"/>
                </a:lnTo>
                <a:lnTo>
                  <a:pt x="440860" y="440860"/>
                </a:lnTo>
                <a:lnTo>
                  <a:pt x="0" y="440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35"/>
          <p:cNvSpPr/>
          <p:nvPr/>
        </p:nvSpPr>
        <p:spPr>
          <a:xfrm>
            <a:off x="3705280" y="2313642"/>
            <a:ext cx="590268" cy="516216"/>
          </a:xfrm>
          <a:custGeom>
            <a:rect b="b" l="l" r="r" t="t"/>
            <a:pathLst>
              <a:path extrusionOk="0" h="516216" w="590268">
                <a:moveTo>
                  <a:pt x="0" y="0"/>
                </a:moveTo>
                <a:lnTo>
                  <a:pt x="590268" y="0"/>
                </a:lnTo>
                <a:lnTo>
                  <a:pt x="590268" y="516217"/>
                </a:lnTo>
                <a:lnTo>
                  <a:pt x="0" y="516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35"/>
          <p:cNvSpPr/>
          <p:nvPr/>
        </p:nvSpPr>
        <p:spPr>
          <a:xfrm>
            <a:off x="4418372" y="2373202"/>
            <a:ext cx="456655" cy="456655"/>
          </a:xfrm>
          <a:custGeom>
            <a:rect b="b" l="l" r="r" t="t"/>
            <a:pathLst>
              <a:path extrusionOk="0" h="456655" w="456655">
                <a:moveTo>
                  <a:pt x="0" y="0"/>
                </a:moveTo>
                <a:lnTo>
                  <a:pt x="456655" y="0"/>
                </a:lnTo>
                <a:lnTo>
                  <a:pt x="456655" y="456655"/>
                </a:lnTo>
                <a:lnTo>
                  <a:pt x="0" y="456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35"/>
          <p:cNvSpPr txBox="1"/>
          <p:nvPr/>
        </p:nvSpPr>
        <p:spPr>
          <a:xfrm>
            <a:off x="2224080" y="3368898"/>
            <a:ext cx="814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5"/>
          <p:cNvSpPr txBox="1"/>
          <p:nvPr/>
        </p:nvSpPr>
        <p:spPr>
          <a:xfrm>
            <a:off x="3127318" y="4895850"/>
            <a:ext cx="581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27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